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7a36e3c64f4156" /><Relationship Type="http://schemas.openxmlformats.org/officeDocument/2006/relationships/extended-properties" Target="/docProps/app.xml" Id="Rd226f0d61b9d4807" /><Relationship Type="http://schemas.openxmlformats.org/officeDocument/2006/relationships/officeDocument" Target="/ppt/presentation.xml" Id="R3f9dffddc8494658" /></Relationships>
</file>

<file path=ppt/presentation.xml><?xml version="1.0" encoding="utf-8"?>
<p:presentation xmlns:p="http://schemas.openxmlformats.org/presentationml/2006/main">
  <p:sldMasterIdLst>
    <p:sldMasterId xmlns:r="http://schemas.openxmlformats.org/officeDocument/2006/relationships" id="2147483648" r:id="R9819d6362f5c4d25"/>
  </p:sldMasterIdLst>
  <p:notesMasterIdLst>
    <p:notesMasterId xmlns:r="http://schemas.openxmlformats.org/officeDocument/2006/relationships" r:id="Rad790cfde74248a5"/>
  </p:notesMasterIdLst>
  <p:sldIdLst>
    <p:sldId xmlns:r="http://schemas.openxmlformats.org/officeDocument/2006/relationships" id="256" r:id="Rc623d68e86764884"/>
    <p:sldId xmlns:r="http://schemas.openxmlformats.org/officeDocument/2006/relationships" id="257" r:id="Rb05f7d94fa6749f6"/>
    <p:sldId xmlns:r="http://schemas.openxmlformats.org/officeDocument/2006/relationships" id="258" r:id="R8b18fe1f342447e4"/>
    <p:sldId xmlns:r="http://schemas.openxmlformats.org/officeDocument/2006/relationships" id="259" r:id="Rf5af7525b1714add"/>
    <p:sldId xmlns:r="http://schemas.openxmlformats.org/officeDocument/2006/relationships" id="260" r:id="R154ba1bc9a2747ca"/>
    <p:sldId xmlns:r="http://schemas.openxmlformats.org/officeDocument/2006/relationships" id="261" r:id="Rfaabace80d3945c0"/>
    <p:sldId xmlns:r="http://schemas.openxmlformats.org/officeDocument/2006/relationships" id="262" r:id="R8ba41311a5e44eae"/>
    <p:sldId xmlns:r="http://schemas.openxmlformats.org/officeDocument/2006/relationships" id="263" r:id="R584ed9483fa643be"/>
    <p:sldId xmlns:r="http://schemas.openxmlformats.org/officeDocument/2006/relationships" id="264" r:id="Rb1ea099f7ba340fb"/>
    <p:sldId xmlns:r="http://schemas.openxmlformats.org/officeDocument/2006/relationships" id="265" r:id="Rd6eacca4fcb04f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f5344409b64c45" /><Relationship Type="http://schemas.openxmlformats.org/officeDocument/2006/relationships/slideMaster" Target="/ppt/slideMasters/slideMaster1.xml" Id="R9819d6362f5c4d25" /><Relationship Type="http://schemas.openxmlformats.org/officeDocument/2006/relationships/notesMaster" Target="/ppt/notesMasters/notesMaster1.xml" Id="Rad790cfde74248a5" /><Relationship Type="http://schemas.openxmlformats.org/officeDocument/2006/relationships/presProps" Target="/ppt/presProps.xml" Id="Rba4fb833fb1245b5" /><Relationship Type="http://schemas.openxmlformats.org/officeDocument/2006/relationships/tableStyles" Target="/ppt/tableStyles.xml" Id="R9875cb9714db47ff" /><Relationship Type="http://schemas.openxmlformats.org/officeDocument/2006/relationships/slide" Target="/ppt/slides/slide1.xml" Id="Rc623d68e86764884" /><Relationship Type="http://schemas.openxmlformats.org/officeDocument/2006/relationships/slide" Target="/ppt/slides/slide2.xml" Id="Rb05f7d94fa6749f6" /><Relationship Type="http://schemas.openxmlformats.org/officeDocument/2006/relationships/slide" Target="/ppt/slides/slide3.xml" Id="R8b18fe1f342447e4" /><Relationship Type="http://schemas.openxmlformats.org/officeDocument/2006/relationships/slide" Target="/ppt/slides/slide4.xml" Id="Rf5af7525b1714add" /><Relationship Type="http://schemas.openxmlformats.org/officeDocument/2006/relationships/slide" Target="/ppt/slides/slide5.xml" Id="R154ba1bc9a2747ca" /><Relationship Type="http://schemas.openxmlformats.org/officeDocument/2006/relationships/slide" Target="/ppt/slides/slide6.xml" Id="Rfaabace80d3945c0" /><Relationship Type="http://schemas.openxmlformats.org/officeDocument/2006/relationships/slide" Target="/ppt/slides/slide7.xml" Id="R8ba41311a5e44eae" /><Relationship Type="http://schemas.openxmlformats.org/officeDocument/2006/relationships/slide" Target="/ppt/slides/slide8.xml" Id="R584ed9483fa643be" /><Relationship Type="http://schemas.openxmlformats.org/officeDocument/2006/relationships/slide" Target="/ppt/slides/slide9.xml" Id="Rb1ea099f7ba340fb" /><Relationship Type="http://schemas.openxmlformats.org/officeDocument/2006/relationships/slide" Target="/ppt/slides/slide10.xml" Id="Rd6eacca4fcb04f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82d7cac83548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c19d1254f64483" /><Relationship Type="http://schemas.openxmlformats.org/officeDocument/2006/relationships/notesMaster" Target="/ppt/notesMasters/notesMaster1.xml" Id="Rcece3b785cbc42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01932857804546" /><Relationship Type="http://schemas.openxmlformats.org/officeDocument/2006/relationships/notesMaster" Target="/ppt/notesMasters/notesMaster1.xml" Id="R83ee4442e67440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8eacbae50c4bc3" /><Relationship Type="http://schemas.openxmlformats.org/officeDocument/2006/relationships/notesMaster" Target="/ppt/notesMasters/notesMaster1.xml" Id="R583a2838233e4b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be881325e045e2" /><Relationship Type="http://schemas.openxmlformats.org/officeDocument/2006/relationships/notesMaster" Target="/ppt/notesMasters/notesMaster1.xml" Id="Rb6188d46495640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39d4063df04b8f" /><Relationship Type="http://schemas.openxmlformats.org/officeDocument/2006/relationships/notesMaster" Target="/ppt/notesMasters/notesMaster1.xml" Id="R88c8c2fc41e240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4100427cfa4d07" /><Relationship Type="http://schemas.openxmlformats.org/officeDocument/2006/relationships/notesMaster" Target="/ppt/notesMasters/notesMaster1.xml" Id="R170952e3bb4a41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83000b6044781" /><Relationship Type="http://schemas.openxmlformats.org/officeDocument/2006/relationships/notesMaster" Target="/ppt/notesMasters/notesMaster1.xml" Id="Rd9d5263481eb4e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9237d8984a4dfb" /><Relationship Type="http://schemas.openxmlformats.org/officeDocument/2006/relationships/notesMaster" Target="/ppt/notesMasters/notesMaster1.xml" Id="R828e0ef1c3944f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7678fe027843bf" /><Relationship Type="http://schemas.openxmlformats.org/officeDocument/2006/relationships/notesMaster" Target="/ppt/notesMasters/notesMaster1.xml" Id="R2d7293cee0e043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9319b92d7c4645" /><Relationship Type="http://schemas.openxmlformats.org/officeDocument/2006/relationships/notesMaster" Target="/ppt/notesMasters/notesMaster1.xml" Id="R172f364d4d0142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scope: this is a compiler for a documented integer-oriented subset, not arbitrary Python. The project demonstrates the full path from source through custom bytecode to execution, plus one controlled process-parallel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Python frontend uses Python's AST parser and emits the project's three-address IR. Optimization is optional. Code generation translates the IR to a fixed instruction set. The custom stack VM executes it. The CFG is used by optimizer analysis; code generation consumes the transformed linear 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this is still not arbitrary Python. Booleans lower to integer 0/1, and tuple support is restricted to fixed-size integer tuples assigned to local names and accessed with constant in-range indexes. Lists, mutation, and dynamic indexing are rejected with line-numbered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source-level range loop lowers into explicit IR. The condition block has two successors: the loop body and the exit. The body increments i and jumps back to the condition. Use `python3 main.py examples/sum.ir --opt --demo --stats` to show the actual optimized IR, CFG, bytecode, and result. This slide's Python example is a readable summary of the IR example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optimizer solves a forward dataflow problem to a fixed point. The entry gives n the value 10. The loop body changes i but does not change n. At the loop header, the incoming value of n agrees across the entry and back-edge, so n can be replaced by 10. The induction variable differs across iterations and remains unknown. This is intentionally a focused constant-propagation pass, not a full SSA or liveness optimizer.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`python3 main.py examples/python_optimization_workload.py --compare`. Both programs produce [17220], and the CLI reports equivalent outputs. Baseline: 60 static bytecode instructions and 693 executed VM instructions. Optimized: 34 static bytecode and 477 executed VM instructions. The optimizer propagates the loop-invariant multiplier, simplifies +0, and removes unused calculations. This is a measured result for this workload, not a guarantee for all input programs. The chart is editable in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independent tasks run in separate processes. The worker accepts one integer and returns an integer; the parent combines results using one of 15 operations shown on the next slide. On this machine the sum example dispatches 1,000 inputs across up to 8 processes, and both versions output 332833500. Workers cannot print, call other functions, or start nested reductions.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fifteen runtime reduction operations are sum, product, min, max, nonzero count, any, all, bitwise AND/OR/XOR, GCD, LCM, integer floor average, argmin, and argmax. Argmin/argmax return the input that produced the extreme worker result, with ties choosing the lowest input. Empty range identities: sum/count/any/OR/XOR/GCD return zero; product/all/LCM return one; bitwise AND returns minus one. Min/max/average/argmin/argmax raise an error on empty ranges. Run `python3 main.py examples/python_parallel_reductions.py --stats` to demonstrate all fifteen in one example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20-iteration optimization workload preserves output 17220 and reduces executed instructions from 693 to 477. The separate CFG loop example preserves 55 and changes 169 to 167 executed instructions. For the sum-of-squares demonstration, the sequential program runs 19,019 VM instructions, while the process-parallel run reports 13 in the parent and 10,000 across worker VMs, 10,013 total. These are interpreter instruction counts, not CPU instruction counts. Repeated local runs at 1,000 inputs produced the same output and showed process-parallel execution slower than sequential; exact timings varied across runs. Process startup and scheduling can dominate small workloads. Re-run `python3 performance_study.py --sizes 1000 5000 --runs 5` on the presentation machine; report local results, not a general speed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distinguishing the additions completed for this version from future scope. Implemented: boolean truth values, restricted fixed tuples, CFG liveness cleanup, fifteen integer reductions with batched process dispatch, repeated sequential/parallel measurements, and a versioned bytecode decoder that reads the earlier format. Still future work: arbitrary Python, mutable/dynamic containers, more dataflow passes such as SSA, automatic parallelization, benchmark suites across multiple machines, and migration tools for future bytecode changes. The 46-test suite checks the new and existing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f95d74976047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32852f247345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d0a8cd79474c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8eb5e85ede4d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fb5295a4ee4f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4d16e587054f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FC7879-F4B9-421F-949A-84CD32663B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E1C16E-1EB5-4C68-B619-5D3670AEFC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B1BF35-55A5-4D2B-A540-5DE59BE59F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CA1819-AE50-4352-9513-4A048BC2B7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9C58CA-7104-4CE6-A1AB-CB3C709DC91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7208F5-F828-4D3E-842A-8935D7911C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D4D92A-FE48-46A0-89A4-72468ED03B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C788F6-851D-45FF-88F7-ED0899C22B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7FB831-9298-47AE-B1EA-ECA699E917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4CE18B-655E-4B44-801E-FA1DE37E7C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bc27e56a38448f" /><Relationship Type="http://schemas.openxmlformats.org/officeDocument/2006/relationships/slideLayout" Target="/ppt/slideLayouts/slideLayout1.xml" Id="Rbb832b94206f492b" /><Relationship Type="http://schemas.openxmlformats.org/officeDocument/2006/relationships/slideLayout" Target="/ppt/slideLayouts/slideLayout2.xml" Id="R7a91ef2016af41f7" /><Relationship Type="http://schemas.openxmlformats.org/officeDocument/2006/relationships/slideLayout" Target="/ppt/slideLayouts/slideLayout3.xml" Id="Rfad463f42c2646a1" /><Relationship Type="http://schemas.openxmlformats.org/officeDocument/2006/relationships/slideLayout" Target="/ppt/slideLayouts/slideLayout4.xml" Id="Rcfff6b2ddc434e55" /><Relationship Type="http://schemas.openxmlformats.org/officeDocument/2006/relationships/slideLayout" Target="/ppt/slideLayouts/slideLayout5.xml" Id="R4e88a7b722494b15" /><Relationship Type="http://schemas.openxmlformats.org/officeDocument/2006/relationships/slideLayout" Target="/ppt/slideLayouts/slideLayout6.xml" Id="R7710eedfd41644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832b94206f492b"/>
    <p:sldLayoutId xmlns:r="http://schemas.openxmlformats.org/officeDocument/2006/relationships" id="2147483650" r:id="R7a91ef2016af41f7"/>
    <p:sldLayoutId xmlns:r="http://schemas.openxmlformats.org/officeDocument/2006/relationships" id="2147483651" r:id="Rfad463f42c2646a1"/>
    <p:sldLayoutId xmlns:r="http://schemas.openxmlformats.org/officeDocument/2006/relationships" id="2147483652" r:id="Rcfff6b2ddc434e55"/>
    <p:sldLayoutId xmlns:r="http://schemas.openxmlformats.org/officeDocument/2006/relationships" id="2147483653" r:id="R4e88a7b722494b15"/>
    <p:sldLayoutId xmlns:r="http://schemas.openxmlformats.org/officeDocument/2006/relationships" id="2147483654" r:id="R7710eedfd41644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5887842ce44aca" /><Relationship Type="http://schemas.openxmlformats.org/officeDocument/2006/relationships/notesSlide" Target="/ppt/notesSlides/notesSlide1.xml" Id="R4da00bbf8e524f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83a559ce1f47c2" /><Relationship Type="http://schemas.openxmlformats.org/officeDocument/2006/relationships/notesSlide" Target="/ppt/notesSlides/notesSlide2.xml" Id="R61720f13d8bf41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d4e6955105440e" /><Relationship Type="http://schemas.openxmlformats.org/officeDocument/2006/relationships/notesSlide" Target="/ppt/notesSlides/notesSlide3.xml" Id="R091e88b3591246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38beb756184b06" /><Relationship Type="http://schemas.openxmlformats.org/officeDocument/2006/relationships/notesSlide" Target="/ppt/notesSlides/notesSlide4.xml" Id="R216070c2e35b4f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feb917b85034da9" /><Relationship Type="http://schemas.openxmlformats.org/officeDocument/2006/relationships/notesSlide" Target="/ppt/notesSlides/notesSlide5.xml" Id="R4edc442dd1304c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9217ca79934c53" /><Relationship Type="http://schemas.openxmlformats.org/officeDocument/2006/relationships/chart" Target="/ppt/slides/charts/chart1.xml" Id="R442e4de196a0463b" /><Relationship Type="http://schemas.openxmlformats.org/officeDocument/2006/relationships/notesSlide" Target="/ppt/notesSlides/notesSlide6.xml" Id="R0de7e8a3952f4e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f913a582024a18" /><Relationship Type="http://schemas.openxmlformats.org/officeDocument/2006/relationships/notesSlide" Target="/ppt/notesSlides/notesSlide7.xml" Id="R2a7cd189a54d40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685f9fbc1a4a02" /><Relationship Type="http://schemas.openxmlformats.org/officeDocument/2006/relationships/notesSlide" Target="/ppt/notesSlides/notesSlide8.xml" Id="R09e41ac58c294e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a84d2120d14afa" /><Relationship Type="http://schemas.openxmlformats.org/officeDocument/2006/relationships/notesSlide" Target="/ppt/notesSlides/notesSlide9.xml" Id="R3763eb8a87cc4c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2b636bd6ee4dd1" /><Relationship Type="http://schemas.openxmlformats.org/officeDocument/2006/relationships/notesSlide" Target="/ppt/notesSlides/notesSlide10.xml" Id="R7be9fb68cced480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Executed VM instructions</c:v>
          </c:tx>
          <c:spPr>
            <a:solidFill xmlns:a="http://schemas.openxmlformats.org/drawingml/2006/main">
              <a:srgbClr val="5AD6E6"/>
            </a:solidFill>
          </c:spPr>
          <c:invertIfNegative val="0"/>
          <c:dPt>
            <c:idx val="0"/>
            <c:invertIfNegative val="0"/>
            <c:spPr>
              <a:solidFill xmlns:a="http://schemas.openxmlformats.org/drawingml/2006/main">
                <a:srgbClr val="90A2B5"/>
              </a:solidFill>
            </c:spPr>
          </c:dPt>
          <c:dPt>
            <c:idx val="1"/>
            <c:invertIfNegative val="0"/>
            <c:spPr>
              <a:solidFill xmlns:a="http://schemas.openxmlformats.org/drawingml/2006/main">
                <a:srgbClr val="5AD6E6"/>
              </a:solidFill>
            </c:spPr>
          </c:dPt>
          <c:cat>
            <c:strRef>
              <c:f>'Chart Data'!$A$2:$A$3</c:f>
              <c:strCache>
                <c:ptCount val="2"/>
                <c:pt idx="0">
                  <c:v>Baseline</c:v>
                </c:pt>
                <c:pt idx="1">
                  <c:v>Optimized</c:v>
                </c:pt>
              </c:strCache>
            </c:strRef>
          </c:cat>
          <c:val>
            <c:numRef>
              <c:f>'Chart Data'!$B$2:$B$3</c:f>
              <c:numCache>
                <c:formatCode>General</c:formatCode>
                <c:ptCount val="2"/>
                <c:pt idx="0">
                  <c:v>693</c:v>
                </c:pt>
                <c:pt idx="1">
                  <c:v>477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4F7FB"/>
                  </a:solidFill>
                  <a:latin typeface="Avenir"/>
                  <a:ea typeface="Avenir"/>
                  <a:cs typeface="Aveni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a:ea typeface="Avenir"/>
                <a:cs typeface="Aveni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476078"/>
            </a:solidFill>
            <a:prstDash val="solid"/>
          </a:ln>
        </c:spPr>
        <c:txPr>
          <a:bodyPr xmlns:a="http://schemas.openxmlformats.org/drawingml/2006/main" anchorCtr="1"/>
          <a:lstStyle xmlns:a="http://schemas.openxmlformats.org/drawingml/2006/main"/>
          <a:p xmlns:a="http://schemas.openxmlformats.org/drawingml/2006/main">
            <a:pPr>
              <a:defRPr sz="1650">
                <a:solidFill>
                  <a:srgbClr val="F4F7FB"/>
                </a:solidFill>
                <a:latin typeface="Avenir"/>
                <a:ea typeface="Avenir"/>
                <a:cs typeface="Avenir"/>
              </a:defRPr>
            </a:pPr>
          </a:p>
        </c:txPr>
        <c:crossAx val="48650112"/>
        <c:crossBetween val="between"/>
      </c:valAx>
      <c:spPr>
        <a:solidFill xmlns:a="http://schemas.openxmlformats.org/drawingml/2006/main">
          <a:srgbClr val="101A2A"/>
        </a:solidFill>
        <a:ln xmlns:a="http://schemas.openxmlformats.org/drawingml/2006/main" w="0">
          <a:noFill/>
          <a:prstDash val="solid"/>
        </a:ln>
      </c:spPr>
    </c:plotArea>
    <c:plotVisOnly val="1"/>
  </c:chart>
  <c:spPr>
    <a:solidFill xmlns:a="http://schemas.openxmlformats.org/drawingml/2006/main">
      <a:srgbClr val="101A2A"/>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68ECA0-C9CE-4136-B17D-D8235916D0F7}"/>
              </a:ext>
            </a:extLst>
          </p:cNvPr>
          <p:cNvSpPr>
            <a:spLocks xmlns:a="http://schemas.openxmlformats.org/drawingml/2006/main" noGrp="1"/>
          </p:cNvSpPr>
          <p:nvPr/>
        </p:nvSpPr>
        <p:spPr>
          <a:xfrm xmlns:a="http://schemas.openxmlformats.org/drawingml/2006/main">
            <a:off x="685800" y="1200150"/>
            <a:ext cx="85725" cy="41910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97DF4C-24AF-4A48-95E6-5478F3006972}"/>
              </a:ext>
            </a:extLst>
          </p:cNvPr>
          <p:cNvSpPr>
            <a:spLocks xmlns:a="http://schemas.openxmlformats.org/drawingml/2006/main" noGrp="1"/>
          </p:cNvSpPr>
          <p:nvPr/>
        </p:nvSpPr>
        <p:spPr>
          <a:xfrm xmlns:a="http://schemas.openxmlformats.org/drawingml/2006/main">
            <a:off x="1066800" y="14478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E3BD"/>
                </a:solidFill>
                <a:latin typeface="Avenir"/>
                <a:ea typeface="Avenir"/>
                <a:cs typeface="Avenir"/>
              </a:defRPr>
            </a:defPPr>
            <a:lvl1pPr algn="l">
              <a:defRPr sz="1350" b="1">
                <a:solidFill>
                  <a:srgbClr val="9BE3BD"/>
                </a:solidFill>
                <a:latin typeface="Avenir"/>
                <a:ea typeface="Avenir"/>
                <a:cs typeface="Avenir"/>
              </a:defRPr>
            </a:lvl1pPr>
            <a:lvl2pPr algn="l">
              <a:defRPr sz="1350" b="1">
                <a:solidFill>
                  <a:srgbClr val="9BE3BD"/>
                </a:solidFill>
                <a:latin typeface="Avenir"/>
                <a:ea typeface="Avenir"/>
                <a:cs typeface="Avenir"/>
              </a:defRPr>
            </a:lvl2pPr>
            <a:lvl3pPr algn="l">
              <a:defRPr sz="1350" b="1">
                <a:solidFill>
                  <a:srgbClr val="9BE3BD"/>
                </a:solidFill>
                <a:latin typeface="Avenir"/>
                <a:ea typeface="Avenir"/>
                <a:cs typeface="Avenir"/>
              </a:defRPr>
            </a:lvl3pPr>
            <a:lvl4pPr algn="l">
              <a:defRPr sz="1350" b="1">
                <a:solidFill>
                  <a:srgbClr val="9BE3BD"/>
                </a:solidFill>
                <a:latin typeface="Avenir"/>
                <a:ea typeface="Avenir"/>
                <a:cs typeface="Avenir"/>
              </a:defRPr>
            </a:lvl4pPr>
            <a:lvl5pPr algn="l">
              <a:defRPr sz="1350" b="1">
                <a:solidFill>
                  <a:srgbClr val="9BE3BD"/>
                </a:solidFill>
                <a:latin typeface="Avenir"/>
                <a:ea typeface="Avenir"/>
                <a:cs typeface="Avenir"/>
              </a:defRPr>
            </a:lvl5pPr>
            <a:lvl6pPr algn="l">
              <a:defRPr sz="1350" b="1">
                <a:solidFill>
                  <a:srgbClr val="9BE3BD"/>
                </a:solidFill>
                <a:latin typeface="Avenir"/>
                <a:ea typeface="Avenir"/>
                <a:cs typeface="Avenir"/>
              </a:defRPr>
            </a:lvl6pPr>
            <a:lvl7pPr algn="l">
              <a:defRPr sz="1350" b="1">
                <a:solidFill>
                  <a:srgbClr val="9BE3BD"/>
                </a:solidFill>
                <a:latin typeface="Avenir"/>
                <a:ea typeface="Avenir"/>
                <a:cs typeface="Avenir"/>
              </a:defRPr>
            </a:lvl7pPr>
            <a:lvl8pPr algn="l">
              <a:defRPr sz="1350" b="1">
                <a:solidFill>
                  <a:srgbClr val="9BE3BD"/>
                </a:solidFill>
                <a:latin typeface="Avenir"/>
                <a:ea typeface="Avenir"/>
                <a:cs typeface="Avenir"/>
              </a:defRPr>
            </a:lvl8pPr>
            <a:lvl9pPr algn="l">
              <a:defRPr sz="1350" b="1">
                <a:solidFill>
                  <a:srgbClr val="9BE3BD"/>
                </a:solidFill>
                <a:latin typeface="Avenir"/>
                <a:ea typeface="Avenir"/>
                <a:cs typeface="Avenir"/>
              </a:defRPr>
            </a:lvl9pPr>
          </a:lstStyle>
          <a:p xmlns:a="http://schemas.openxmlformats.org/drawingml/2006/main">
            <a:pPr algn="l">
              <a:lnSpc>
                <a:spcPct val="105000"/>
              </a:lnSpc>
              <a:buNone/>
              <a:defRPr sz="1350" b="1">
                <a:solidFill>
                  <a:srgbClr val="9BE3BD"/>
                </a:solidFill>
                <a:latin typeface="Avenir"/>
                <a:ea typeface="Avenir"/>
                <a:cs typeface="Avenir"/>
              </a:defRPr>
            </a:pPr>
            <a:r>
              <a:rPr sz="1350" b="1">
                <a:solidFill>
                  <a:srgbClr val="9BE3BD"/>
                </a:solidFill>
                <a:latin typeface="Avenir"/>
                <a:ea typeface="Avenir"/>
                <a:cs typeface="Avenir"/>
              </a:rPr>
              <a:t>COMPILER DESIGN PROJECT</a:t>
            </a:r>
          </a:p>
        </p:txBody>
      </p:sp>
      <p:sp>
        <p:nvSpPr>
          <p:cNvPr id="3" name="">
            <a:extLst xmlns:a="http://schemas.openxmlformats.org/drawingml/2006/main">
              <a:ext uri="{FF2B5EF4-FFF2-40B4-BE49-F238E27FC236}">
                <a16:creationId xmlns:a16="http://schemas.microsoft.com/office/drawing/2014/main" id="{D0A79021-B03A-4277-924A-12F5F60F1C7A}"/>
              </a:ext>
            </a:extLst>
          </p:cNvPr>
          <p:cNvSpPr>
            <a:spLocks xmlns:a="http://schemas.openxmlformats.org/drawingml/2006/main" noGrp="1"/>
          </p:cNvSpPr>
          <p:nvPr/>
        </p:nvSpPr>
        <p:spPr>
          <a:xfrm xmlns:a="http://schemas.openxmlformats.org/drawingml/2006/main">
            <a:off x="1066800" y="2000250"/>
            <a:ext cx="9715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4F7FB"/>
                </a:solidFill>
                <a:latin typeface="Avenir"/>
                <a:ea typeface="Avenir"/>
                <a:cs typeface="Avenir"/>
              </a:defRPr>
            </a:defPPr>
            <a:lvl1pPr algn="l">
              <a:defRPr sz="4350" b="1">
                <a:solidFill>
                  <a:srgbClr val="F4F7FB"/>
                </a:solidFill>
                <a:latin typeface="Avenir"/>
                <a:ea typeface="Avenir"/>
                <a:cs typeface="Avenir"/>
              </a:defRPr>
            </a:lvl1pPr>
            <a:lvl2pPr algn="l">
              <a:defRPr sz="4350" b="1">
                <a:solidFill>
                  <a:srgbClr val="F4F7FB"/>
                </a:solidFill>
                <a:latin typeface="Avenir"/>
                <a:ea typeface="Avenir"/>
                <a:cs typeface="Avenir"/>
              </a:defRPr>
            </a:lvl2pPr>
            <a:lvl3pPr algn="l">
              <a:defRPr sz="4350" b="1">
                <a:solidFill>
                  <a:srgbClr val="F4F7FB"/>
                </a:solidFill>
                <a:latin typeface="Avenir"/>
                <a:ea typeface="Avenir"/>
                <a:cs typeface="Avenir"/>
              </a:defRPr>
            </a:lvl3pPr>
            <a:lvl4pPr algn="l">
              <a:defRPr sz="4350" b="1">
                <a:solidFill>
                  <a:srgbClr val="F4F7FB"/>
                </a:solidFill>
                <a:latin typeface="Avenir"/>
                <a:ea typeface="Avenir"/>
                <a:cs typeface="Avenir"/>
              </a:defRPr>
            </a:lvl4pPr>
            <a:lvl5pPr algn="l">
              <a:defRPr sz="4350" b="1">
                <a:solidFill>
                  <a:srgbClr val="F4F7FB"/>
                </a:solidFill>
                <a:latin typeface="Avenir"/>
                <a:ea typeface="Avenir"/>
                <a:cs typeface="Avenir"/>
              </a:defRPr>
            </a:lvl5pPr>
            <a:lvl6pPr algn="l">
              <a:defRPr sz="4350" b="1">
                <a:solidFill>
                  <a:srgbClr val="F4F7FB"/>
                </a:solidFill>
                <a:latin typeface="Avenir"/>
                <a:ea typeface="Avenir"/>
                <a:cs typeface="Avenir"/>
              </a:defRPr>
            </a:lvl6pPr>
            <a:lvl7pPr algn="l">
              <a:defRPr sz="4350" b="1">
                <a:solidFill>
                  <a:srgbClr val="F4F7FB"/>
                </a:solidFill>
                <a:latin typeface="Avenir"/>
                <a:ea typeface="Avenir"/>
                <a:cs typeface="Avenir"/>
              </a:defRPr>
            </a:lvl7pPr>
            <a:lvl8pPr algn="l">
              <a:defRPr sz="4350" b="1">
                <a:solidFill>
                  <a:srgbClr val="F4F7FB"/>
                </a:solidFill>
                <a:latin typeface="Avenir"/>
                <a:ea typeface="Avenir"/>
                <a:cs typeface="Avenir"/>
              </a:defRPr>
            </a:lvl8pPr>
            <a:lvl9pPr algn="l">
              <a:defRPr sz="4350" b="1">
                <a:solidFill>
                  <a:srgbClr val="F4F7FB"/>
                </a:solidFill>
                <a:latin typeface="Avenir"/>
                <a:ea typeface="Avenir"/>
                <a:cs typeface="Avenir"/>
              </a:defRPr>
            </a:lvl9pPr>
          </a:lstStyle>
          <a:p xmlns:a="http://schemas.openxmlformats.org/drawingml/2006/main">
            <a:pPr algn="l">
              <a:lnSpc>
                <a:spcPct val="98000"/>
              </a:lnSpc>
              <a:buNone/>
              <a:defRPr sz="4350" b="1">
                <a:solidFill>
                  <a:srgbClr val="F4F7FB"/>
                </a:solidFill>
                <a:latin typeface="Avenir"/>
                <a:ea typeface="Avenir"/>
                <a:cs typeface="Avenir"/>
              </a:defRPr>
            </a:pPr>
            <a:r>
              <a:rPr sz="4350" b="1">
                <a:solidFill>
                  <a:srgbClr val="F4F7FB"/>
                </a:solidFill>
                <a:latin typeface="Avenir"/>
                <a:ea typeface="Avenir"/>
                <a:cs typeface="Avenir"/>
              </a:rPr>
              <a:t>A compiler for a</a:t>
            </a:r>
          </a:p>
          <a:p xmlns:a="http://schemas.openxmlformats.org/drawingml/2006/main">
            <a:pPr algn="l">
              <a:lnSpc>
                <a:spcPct val="98000"/>
              </a:lnSpc>
              <a:buNone/>
              <a:defRPr sz="4350" b="1">
                <a:solidFill>
                  <a:srgbClr val="F4F7FB"/>
                </a:solidFill>
                <a:latin typeface="Avenir"/>
                <a:ea typeface="Avenir"/>
                <a:cs typeface="Avenir"/>
              </a:defRPr>
            </a:pPr>
            <a:r>
              <a:rPr sz="4350" b="1">
                <a:solidFill>
                  <a:srgbClr val="F4F7FB"/>
                </a:solidFill>
                <a:latin typeface="Avenir"/>
                <a:ea typeface="Avenir"/>
                <a:cs typeface="Avenir"/>
              </a:rPr>
              <a:t>focused Python subset</a:t>
            </a:r>
          </a:p>
        </p:txBody>
      </p:sp>
      <p:sp>
        <p:nvSpPr>
          <p:cNvPr id="4" name="">
            <a:extLst xmlns:a="http://schemas.openxmlformats.org/drawingml/2006/main">
              <a:ext uri="{FF2B5EF4-FFF2-40B4-BE49-F238E27FC236}">
                <a16:creationId xmlns:a16="http://schemas.microsoft.com/office/drawing/2014/main" id="{44B820B9-3A1B-45BB-994A-A7987F502DE4}"/>
              </a:ext>
            </a:extLst>
          </p:cNvPr>
          <p:cNvSpPr>
            <a:spLocks xmlns:a="http://schemas.openxmlformats.org/drawingml/2006/main" noGrp="1"/>
          </p:cNvSpPr>
          <p:nvPr/>
        </p:nvSpPr>
        <p:spPr>
          <a:xfrm xmlns:a="http://schemas.openxmlformats.org/drawingml/2006/main">
            <a:off x="1085850" y="4057650"/>
            <a:ext cx="9858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B4C1D1"/>
                </a:solidFill>
                <a:latin typeface="Avenir"/>
                <a:ea typeface="Avenir"/>
                <a:cs typeface="Avenir"/>
              </a:defRPr>
            </a:defPPr>
            <a:lvl1pPr algn="l">
              <a:defRPr sz="1875" b="0">
                <a:solidFill>
                  <a:srgbClr val="B4C1D1"/>
                </a:solidFill>
                <a:latin typeface="Avenir"/>
                <a:ea typeface="Avenir"/>
                <a:cs typeface="Avenir"/>
              </a:defRPr>
            </a:lvl1pPr>
            <a:lvl2pPr algn="l">
              <a:defRPr sz="1875" b="0">
                <a:solidFill>
                  <a:srgbClr val="B4C1D1"/>
                </a:solidFill>
                <a:latin typeface="Avenir"/>
                <a:ea typeface="Avenir"/>
                <a:cs typeface="Avenir"/>
              </a:defRPr>
            </a:lvl2pPr>
            <a:lvl3pPr algn="l">
              <a:defRPr sz="1875" b="0">
                <a:solidFill>
                  <a:srgbClr val="B4C1D1"/>
                </a:solidFill>
                <a:latin typeface="Avenir"/>
                <a:ea typeface="Avenir"/>
                <a:cs typeface="Avenir"/>
              </a:defRPr>
            </a:lvl3pPr>
            <a:lvl4pPr algn="l">
              <a:defRPr sz="1875" b="0">
                <a:solidFill>
                  <a:srgbClr val="B4C1D1"/>
                </a:solidFill>
                <a:latin typeface="Avenir"/>
                <a:ea typeface="Avenir"/>
                <a:cs typeface="Avenir"/>
              </a:defRPr>
            </a:lvl4pPr>
            <a:lvl5pPr algn="l">
              <a:defRPr sz="1875" b="0">
                <a:solidFill>
                  <a:srgbClr val="B4C1D1"/>
                </a:solidFill>
                <a:latin typeface="Avenir"/>
                <a:ea typeface="Avenir"/>
                <a:cs typeface="Avenir"/>
              </a:defRPr>
            </a:lvl5pPr>
            <a:lvl6pPr algn="l">
              <a:defRPr sz="1875" b="0">
                <a:solidFill>
                  <a:srgbClr val="B4C1D1"/>
                </a:solidFill>
                <a:latin typeface="Avenir"/>
                <a:ea typeface="Avenir"/>
                <a:cs typeface="Avenir"/>
              </a:defRPr>
            </a:lvl6pPr>
            <a:lvl7pPr algn="l">
              <a:defRPr sz="1875" b="0">
                <a:solidFill>
                  <a:srgbClr val="B4C1D1"/>
                </a:solidFill>
                <a:latin typeface="Avenir"/>
                <a:ea typeface="Avenir"/>
                <a:cs typeface="Avenir"/>
              </a:defRPr>
            </a:lvl7pPr>
            <a:lvl8pPr algn="l">
              <a:defRPr sz="1875" b="0">
                <a:solidFill>
                  <a:srgbClr val="B4C1D1"/>
                </a:solidFill>
                <a:latin typeface="Avenir"/>
                <a:ea typeface="Avenir"/>
                <a:cs typeface="Avenir"/>
              </a:defRPr>
            </a:lvl8pPr>
            <a:lvl9pPr algn="l">
              <a:defRPr sz="1875" b="0">
                <a:solidFill>
                  <a:srgbClr val="B4C1D1"/>
                </a:solidFill>
                <a:latin typeface="Avenir"/>
                <a:ea typeface="Avenir"/>
                <a:cs typeface="Avenir"/>
              </a:defRPr>
            </a:lvl9pPr>
          </a:lstStyle>
          <a:p xmlns:a="http://schemas.openxmlformats.org/drawingml/2006/main">
            <a:pPr algn="l">
              <a:lnSpc>
                <a:spcPct val="105000"/>
              </a:lnSpc>
              <a:buNone/>
              <a:defRPr sz="1875" b="0">
                <a:solidFill>
                  <a:srgbClr val="B4C1D1"/>
                </a:solidFill>
                <a:latin typeface="Avenir"/>
                <a:ea typeface="Avenir"/>
                <a:cs typeface="Avenir"/>
              </a:defRPr>
            </a:pPr>
            <a:r>
              <a:rPr sz="1875" b="0">
                <a:solidFill>
                  <a:srgbClr val="B4C1D1"/>
                </a:solidFill>
                <a:latin typeface="Avenir"/>
                <a:ea typeface="Avenir"/>
                <a:cs typeface="Avenir"/>
              </a:rPr>
              <a:t>Python AST  →  IR  →  CFG-aware optimization  →  bytecode  →  custom VM</a:t>
            </a:r>
          </a:p>
        </p:txBody>
      </p:sp>
      <p:sp>
        <p:nvSpPr>
          <p:cNvPr id="5" name="">
            <a:extLst xmlns:a="http://schemas.openxmlformats.org/drawingml/2006/main">
              <a:ext uri="{FF2B5EF4-FFF2-40B4-BE49-F238E27FC236}">
                <a16:creationId xmlns:a16="http://schemas.microsoft.com/office/drawing/2014/main" id="{4625A304-963F-4008-AF02-17953E716748}"/>
              </a:ext>
            </a:extLst>
          </p:cNvPr>
          <p:cNvSpPr>
            <a:spLocks xmlns:a="http://schemas.openxmlformats.org/drawingml/2006/main" noGrp="1"/>
          </p:cNvSpPr>
          <p:nvPr/>
        </p:nvSpPr>
        <p:spPr>
          <a:xfrm xmlns:a="http://schemas.openxmlformats.org/drawingml/2006/main">
            <a:off x="1085850" y="5067300"/>
            <a:ext cx="985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AD6E6"/>
                </a:solidFill>
                <a:latin typeface="Avenir"/>
                <a:ea typeface="Avenir"/>
                <a:cs typeface="Avenir"/>
              </a:defRPr>
            </a:defPPr>
            <a:lvl1pPr algn="l">
              <a:defRPr sz="1575" b="0">
                <a:solidFill>
                  <a:srgbClr val="5AD6E6"/>
                </a:solidFill>
                <a:latin typeface="Avenir"/>
                <a:ea typeface="Avenir"/>
                <a:cs typeface="Avenir"/>
              </a:defRPr>
            </a:lvl1pPr>
            <a:lvl2pPr algn="l">
              <a:defRPr sz="1575" b="0">
                <a:solidFill>
                  <a:srgbClr val="5AD6E6"/>
                </a:solidFill>
                <a:latin typeface="Avenir"/>
                <a:ea typeface="Avenir"/>
                <a:cs typeface="Avenir"/>
              </a:defRPr>
            </a:lvl2pPr>
            <a:lvl3pPr algn="l">
              <a:defRPr sz="1575" b="0">
                <a:solidFill>
                  <a:srgbClr val="5AD6E6"/>
                </a:solidFill>
                <a:latin typeface="Avenir"/>
                <a:ea typeface="Avenir"/>
                <a:cs typeface="Avenir"/>
              </a:defRPr>
            </a:lvl3pPr>
            <a:lvl4pPr algn="l">
              <a:defRPr sz="1575" b="0">
                <a:solidFill>
                  <a:srgbClr val="5AD6E6"/>
                </a:solidFill>
                <a:latin typeface="Avenir"/>
                <a:ea typeface="Avenir"/>
                <a:cs typeface="Avenir"/>
              </a:defRPr>
            </a:lvl4pPr>
            <a:lvl5pPr algn="l">
              <a:defRPr sz="1575" b="0">
                <a:solidFill>
                  <a:srgbClr val="5AD6E6"/>
                </a:solidFill>
                <a:latin typeface="Avenir"/>
                <a:ea typeface="Avenir"/>
                <a:cs typeface="Avenir"/>
              </a:defRPr>
            </a:lvl5pPr>
            <a:lvl6pPr algn="l">
              <a:defRPr sz="1575" b="0">
                <a:solidFill>
                  <a:srgbClr val="5AD6E6"/>
                </a:solidFill>
                <a:latin typeface="Avenir"/>
                <a:ea typeface="Avenir"/>
                <a:cs typeface="Avenir"/>
              </a:defRPr>
            </a:lvl6pPr>
            <a:lvl7pPr algn="l">
              <a:defRPr sz="1575" b="0">
                <a:solidFill>
                  <a:srgbClr val="5AD6E6"/>
                </a:solidFill>
                <a:latin typeface="Avenir"/>
                <a:ea typeface="Avenir"/>
                <a:cs typeface="Avenir"/>
              </a:defRPr>
            </a:lvl7pPr>
            <a:lvl8pPr algn="l">
              <a:defRPr sz="1575" b="0">
                <a:solidFill>
                  <a:srgbClr val="5AD6E6"/>
                </a:solidFill>
                <a:latin typeface="Avenir"/>
                <a:ea typeface="Avenir"/>
                <a:cs typeface="Avenir"/>
              </a:defRPr>
            </a:lvl8pPr>
            <a:lvl9pPr algn="l">
              <a:defRPr sz="1575" b="0">
                <a:solidFill>
                  <a:srgbClr val="5AD6E6"/>
                </a:solidFill>
                <a:latin typeface="Avenir"/>
                <a:ea typeface="Avenir"/>
                <a:cs typeface="Avenir"/>
              </a:defRPr>
            </a:lvl9pPr>
          </a:lstStyle>
          <a:p xmlns:a="http://schemas.openxmlformats.org/drawingml/2006/main">
            <a:pPr algn="l">
              <a:lnSpc>
                <a:spcPct val="105000"/>
              </a:lnSpc>
              <a:buNone/>
              <a:defRPr sz="1575" b="0">
                <a:solidFill>
                  <a:srgbClr val="5AD6E6"/>
                </a:solidFill>
                <a:latin typeface="Avenir"/>
                <a:ea typeface="Avenir"/>
                <a:cs typeface="Avenir"/>
              </a:defRPr>
            </a:pPr>
            <a:r>
              <a:rPr sz="1575" b="0">
                <a:solidFill>
                  <a:srgbClr val="5AD6E6"/>
                </a:solidFill>
                <a:latin typeface="Avenir"/>
                <a:ea typeface="Avenir"/>
                <a:cs typeface="Avenir"/>
              </a:rPr>
              <a:t>With CFG liveness, tuple values, and parallel reductions</a:t>
            </a:r>
          </a:p>
        </p:txBody>
      </p:sp>
    </p:spTree>
    <p:extLst>
      <p:ext uri="{BB962C8B-B14F-4D97-AF65-F5344CB8AC3E}">
        <p14:creationId xmlns:p14="http://schemas.microsoft.com/office/powerpoint/2010/main" val="1837669787"/>
      </p:ext>
    </p:extLst>
  </p:cSld>
</p:sld>
</file>

<file path=ppt/slides/slide2.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A31B46A-0AFC-45EC-8C8D-D2CA68FC4E07}"/>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Compiler stages</a:t>
            </a:r>
          </a:p>
        </p:txBody>
      </p:sp>
      <p:sp>
        <p:nvSpPr>
          <p:cNvPr id="2" name="">
            <a:extLst xmlns:a="http://schemas.openxmlformats.org/drawingml/2006/main">
              <a:ext uri="{FF2B5EF4-FFF2-40B4-BE49-F238E27FC236}">
                <a16:creationId xmlns:a16="http://schemas.microsoft.com/office/drawing/2014/main" id="{0E12E072-8F28-404E-8DBA-9075532C7CDA}"/>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A4E7CE-2DD0-4267-9353-681B670BB3E3}"/>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Each stage has a visible representation you can inspect during the demo.</a:t>
            </a:r>
          </a:p>
        </p:txBody>
      </p:sp>
      <p:sp>
        <p:nvSpPr>
          <p:cNvPr id="4" name="">
            <a:extLst xmlns:a="http://schemas.openxmlformats.org/drawingml/2006/main">
              <a:ext uri="{FF2B5EF4-FFF2-40B4-BE49-F238E27FC236}">
                <a16:creationId xmlns:a16="http://schemas.microsoft.com/office/drawing/2014/main" id="{1E4D1D6A-9DBA-4B50-978D-77037F4D0BCA}"/>
              </a:ext>
            </a:extLst>
          </p:cNvPr>
          <p:cNvSpPr>
            <a:spLocks xmlns:a="http://schemas.openxmlformats.org/drawingml/2006/main" noGrp="1"/>
          </p:cNvSpPr>
          <p:nvPr/>
        </p:nvSpPr>
        <p:spPr>
          <a:xfrm xmlns:a="http://schemas.openxmlformats.org/drawingml/2006/main">
            <a:off x="68580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Python</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source</a:t>
            </a:r>
          </a:p>
        </p:txBody>
      </p:sp>
      <p:sp>
        <p:nvSpPr>
          <p:cNvPr id="5" name="">
            <a:extLst xmlns:a="http://schemas.openxmlformats.org/drawingml/2006/main">
              <a:ext uri="{FF2B5EF4-FFF2-40B4-BE49-F238E27FC236}">
                <a16:creationId xmlns:a16="http://schemas.microsoft.com/office/drawing/2014/main" id="{08EC3CCA-642B-44B4-820C-ED6D36D06A89}"/>
              </a:ext>
            </a:extLst>
          </p:cNvPr>
          <p:cNvSpPr>
            <a:spLocks xmlns:a="http://schemas.openxmlformats.org/drawingml/2006/main" noGrp="1"/>
          </p:cNvSpPr>
          <p:nvPr/>
        </p:nvSpPr>
        <p:spPr>
          <a:xfrm xmlns:a="http://schemas.openxmlformats.org/drawingml/2006/main">
            <a:off x="257175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AST</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frontend</a:t>
            </a:r>
          </a:p>
        </p:txBody>
      </p:sp>
      <p:sp>
        <p:nvSpPr>
          <p:cNvPr id="6" name="">
            <a:extLst xmlns:a="http://schemas.openxmlformats.org/drawingml/2006/main">
              <a:ext uri="{FF2B5EF4-FFF2-40B4-BE49-F238E27FC236}">
                <a16:creationId xmlns:a16="http://schemas.microsoft.com/office/drawing/2014/main" id="{CE705E40-DAFB-4C24-B59C-1064ADCA07A2}"/>
              </a:ext>
            </a:extLst>
          </p:cNvPr>
          <p:cNvSpPr>
            <a:spLocks xmlns:a="http://schemas.openxmlformats.org/drawingml/2006/main" noGrp="1"/>
          </p:cNvSpPr>
          <p:nvPr/>
        </p:nvSpPr>
        <p:spPr>
          <a:xfrm xmlns:a="http://schemas.openxmlformats.org/drawingml/2006/main">
            <a:off x="445770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350" b="0">
                <a:solidFill>
                  <a:srgbClr val="F4F7FB"/>
                </a:solidFill>
                <a:latin typeface="Avenir"/>
                <a:ea typeface="Avenir"/>
                <a:cs typeface="Avenir"/>
              </a:defRPr>
            </a:defPPr>
            <a:lvl1pPr algn="ctr">
              <a:defRPr sz="1350" b="0">
                <a:solidFill>
                  <a:srgbClr val="F4F7FB"/>
                </a:solidFill>
                <a:latin typeface="Avenir"/>
                <a:ea typeface="Avenir"/>
                <a:cs typeface="Avenir"/>
              </a:defRPr>
            </a:lvl1pPr>
            <a:lvl2pPr algn="ctr">
              <a:defRPr sz="1350" b="0">
                <a:solidFill>
                  <a:srgbClr val="F4F7FB"/>
                </a:solidFill>
                <a:latin typeface="Avenir"/>
                <a:ea typeface="Avenir"/>
                <a:cs typeface="Avenir"/>
              </a:defRPr>
            </a:lvl2pPr>
            <a:lvl3pPr algn="ctr">
              <a:defRPr sz="1350" b="0">
                <a:solidFill>
                  <a:srgbClr val="F4F7FB"/>
                </a:solidFill>
                <a:latin typeface="Avenir"/>
                <a:ea typeface="Avenir"/>
                <a:cs typeface="Avenir"/>
              </a:defRPr>
            </a:lvl3pPr>
            <a:lvl4pPr algn="ctr">
              <a:defRPr sz="1350" b="0">
                <a:solidFill>
                  <a:srgbClr val="F4F7FB"/>
                </a:solidFill>
                <a:latin typeface="Avenir"/>
                <a:ea typeface="Avenir"/>
                <a:cs typeface="Avenir"/>
              </a:defRPr>
            </a:lvl4pPr>
            <a:lvl5pPr algn="ctr">
              <a:defRPr sz="1350" b="0">
                <a:solidFill>
                  <a:srgbClr val="F4F7FB"/>
                </a:solidFill>
                <a:latin typeface="Avenir"/>
                <a:ea typeface="Avenir"/>
                <a:cs typeface="Avenir"/>
              </a:defRPr>
            </a:lvl5pPr>
            <a:lvl6pPr algn="ctr">
              <a:defRPr sz="1350" b="0">
                <a:solidFill>
                  <a:srgbClr val="F4F7FB"/>
                </a:solidFill>
                <a:latin typeface="Avenir"/>
                <a:ea typeface="Avenir"/>
                <a:cs typeface="Avenir"/>
              </a:defRPr>
            </a:lvl6pPr>
            <a:lvl7pPr algn="ctr">
              <a:defRPr sz="1350" b="0">
                <a:solidFill>
                  <a:srgbClr val="F4F7FB"/>
                </a:solidFill>
                <a:latin typeface="Avenir"/>
                <a:ea typeface="Avenir"/>
                <a:cs typeface="Avenir"/>
              </a:defRPr>
            </a:lvl7pPr>
            <a:lvl8pPr algn="ctr">
              <a:defRPr sz="1350" b="0">
                <a:solidFill>
                  <a:srgbClr val="F4F7FB"/>
                </a:solidFill>
                <a:latin typeface="Avenir"/>
                <a:ea typeface="Avenir"/>
                <a:cs typeface="Avenir"/>
              </a:defRPr>
            </a:lvl8pPr>
            <a:lvl9pPr algn="ctr">
              <a:defRPr sz="1350" b="0">
                <a:solidFill>
                  <a:srgbClr val="F4F7FB"/>
                </a:solidFill>
                <a:latin typeface="Avenir"/>
                <a:ea typeface="Avenir"/>
                <a:cs typeface="Avenir"/>
              </a:defRPr>
            </a:lvl9pPr>
          </a:lstStyle>
          <a:p xmlns:a="http://schemas.openxmlformats.org/drawingml/2006/main">
            <a:pPr algn="ctr">
              <a:lnSpc>
                <a:spcPct val="105000"/>
              </a:lnSpc>
              <a:buNone/>
              <a:defRPr sz="1350" b="0">
                <a:solidFill>
                  <a:srgbClr val="F4F7FB"/>
                </a:solidFill>
                <a:latin typeface="Avenir"/>
                <a:ea typeface="Avenir"/>
                <a:cs typeface="Avenir"/>
              </a:defRPr>
            </a:pPr>
            <a:r>
              <a:rPr sz="1350" b="0">
                <a:solidFill>
                  <a:srgbClr val="F4F7FB"/>
                </a:solidFill>
                <a:latin typeface="Avenir"/>
                <a:ea typeface="Avenir"/>
                <a:cs typeface="Avenir"/>
              </a:rPr>
              <a:t>Three-address</a:t>
            </a:r>
          </a:p>
          <a:p xmlns:a="http://schemas.openxmlformats.org/drawingml/2006/main">
            <a:pPr algn="ctr">
              <a:lnSpc>
                <a:spcPct val="105000"/>
              </a:lnSpc>
              <a:buNone/>
              <a:defRPr sz="1350" b="0">
                <a:solidFill>
                  <a:srgbClr val="F4F7FB"/>
                </a:solidFill>
                <a:latin typeface="Avenir"/>
                <a:ea typeface="Avenir"/>
                <a:cs typeface="Avenir"/>
              </a:defRPr>
            </a:pPr>
            <a:r>
              <a:rPr sz="1350" b="0">
                <a:solidFill>
                  <a:srgbClr val="F4F7FB"/>
                </a:solidFill>
                <a:latin typeface="Avenir"/>
                <a:ea typeface="Avenir"/>
                <a:cs typeface="Avenir"/>
              </a:rPr>
              <a:t>IR</a:t>
            </a:r>
          </a:p>
        </p:txBody>
      </p:sp>
      <p:sp>
        <p:nvSpPr>
          <p:cNvPr id="7" name="">
            <a:extLst xmlns:a="http://schemas.openxmlformats.org/drawingml/2006/main">
              <a:ext uri="{FF2B5EF4-FFF2-40B4-BE49-F238E27FC236}">
                <a16:creationId xmlns:a16="http://schemas.microsoft.com/office/drawing/2014/main" id="{2A586B72-96C6-41AE-B92D-9CFD5E631C4B}"/>
              </a:ext>
            </a:extLst>
          </p:cNvPr>
          <p:cNvSpPr>
            <a:spLocks xmlns:a="http://schemas.openxmlformats.org/drawingml/2006/main" noGrp="1"/>
          </p:cNvSpPr>
          <p:nvPr/>
        </p:nvSpPr>
        <p:spPr>
          <a:xfrm xmlns:a="http://schemas.openxmlformats.org/drawingml/2006/main">
            <a:off x="6343650" y="2628900"/>
            <a:ext cx="1524000" cy="1123950"/>
          </a:xfrm>
          <a:prstGeom xmlns:a="http://schemas.openxmlformats.org/drawingml/2006/main" prst="roundRect">
            <a:avLst>
              <a:gd name="adj" fmla="val 11864"/>
            </a:avLst>
          </a:prstGeom>
          <a:solidFill xmlns:a="http://schemas.openxmlformats.org/drawingml/2006/main">
            <a:srgbClr val="173542"/>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CFG-aware</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optimizer</a:t>
            </a:r>
          </a:p>
        </p:txBody>
      </p:sp>
      <p:sp>
        <p:nvSpPr>
          <p:cNvPr id="8" name="">
            <a:extLst xmlns:a="http://schemas.openxmlformats.org/drawingml/2006/main">
              <a:ext uri="{FF2B5EF4-FFF2-40B4-BE49-F238E27FC236}">
                <a16:creationId xmlns:a16="http://schemas.microsoft.com/office/drawing/2014/main" id="{C23F1CB4-F02B-45E5-8B56-2845FBD4A61F}"/>
              </a:ext>
            </a:extLst>
          </p:cNvPr>
          <p:cNvSpPr>
            <a:spLocks xmlns:a="http://schemas.openxmlformats.org/drawingml/2006/main" noGrp="1"/>
          </p:cNvSpPr>
          <p:nvPr/>
        </p:nvSpPr>
        <p:spPr>
          <a:xfrm xmlns:a="http://schemas.openxmlformats.org/drawingml/2006/main">
            <a:off x="822960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Bytecode</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generator</a:t>
            </a:r>
          </a:p>
        </p:txBody>
      </p:sp>
      <p:sp>
        <p:nvSpPr>
          <p:cNvPr id="9" name="">
            <a:extLst xmlns:a="http://schemas.openxmlformats.org/drawingml/2006/main">
              <a:ext uri="{FF2B5EF4-FFF2-40B4-BE49-F238E27FC236}">
                <a16:creationId xmlns:a16="http://schemas.microsoft.com/office/drawing/2014/main" id="{43701608-DF5E-4330-A5D1-797DA7633F38}"/>
              </a:ext>
            </a:extLst>
          </p:cNvPr>
          <p:cNvSpPr>
            <a:spLocks xmlns:a="http://schemas.openxmlformats.org/drawingml/2006/main" noGrp="1"/>
          </p:cNvSpPr>
          <p:nvPr/>
        </p:nvSpPr>
        <p:spPr>
          <a:xfrm xmlns:a="http://schemas.openxmlformats.org/drawingml/2006/main">
            <a:off x="10115550" y="2628900"/>
            <a:ext cx="1524000" cy="1123950"/>
          </a:xfrm>
          <a:prstGeom xmlns:a="http://schemas.openxmlformats.org/drawingml/2006/main" prst="roundRect">
            <a:avLst>
              <a:gd name="adj" fmla="val 1186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575" b="0">
                <a:solidFill>
                  <a:srgbClr val="F4F7FB"/>
                </a:solidFill>
                <a:latin typeface="Avenir"/>
                <a:ea typeface="Avenir"/>
                <a:cs typeface="Avenir"/>
              </a:defRPr>
            </a:defPPr>
            <a:lvl1pPr algn="ctr">
              <a:defRPr sz="1575" b="0">
                <a:solidFill>
                  <a:srgbClr val="F4F7FB"/>
                </a:solidFill>
                <a:latin typeface="Avenir"/>
                <a:ea typeface="Avenir"/>
                <a:cs typeface="Avenir"/>
              </a:defRPr>
            </a:lvl1pPr>
            <a:lvl2pPr algn="ctr">
              <a:defRPr sz="1575" b="0">
                <a:solidFill>
                  <a:srgbClr val="F4F7FB"/>
                </a:solidFill>
                <a:latin typeface="Avenir"/>
                <a:ea typeface="Avenir"/>
                <a:cs typeface="Avenir"/>
              </a:defRPr>
            </a:lvl2pPr>
            <a:lvl3pPr algn="ctr">
              <a:defRPr sz="1575" b="0">
                <a:solidFill>
                  <a:srgbClr val="F4F7FB"/>
                </a:solidFill>
                <a:latin typeface="Avenir"/>
                <a:ea typeface="Avenir"/>
                <a:cs typeface="Avenir"/>
              </a:defRPr>
            </a:lvl3pPr>
            <a:lvl4pPr algn="ctr">
              <a:defRPr sz="1575" b="0">
                <a:solidFill>
                  <a:srgbClr val="F4F7FB"/>
                </a:solidFill>
                <a:latin typeface="Avenir"/>
                <a:ea typeface="Avenir"/>
                <a:cs typeface="Avenir"/>
              </a:defRPr>
            </a:lvl4pPr>
            <a:lvl5pPr algn="ctr">
              <a:defRPr sz="1575" b="0">
                <a:solidFill>
                  <a:srgbClr val="F4F7FB"/>
                </a:solidFill>
                <a:latin typeface="Avenir"/>
                <a:ea typeface="Avenir"/>
                <a:cs typeface="Avenir"/>
              </a:defRPr>
            </a:lvl5pPr>
            <a:lvl6pPr algn="ctr">
              <a:defRPr sz="1575" b="0">
                <a:solidFill>
                  <a:srgbClr val="F4F7FB"/>
                </a:solidFill>
                <a:latin typeface="Avenir"/>
                <a:ea typeface="Avenir"/>
                <a:cs typeface="Avenir"/>
              </a:defRPr>
            </a:lvl6pPr>
            <a:lvl7pPr algn="ctr">
              <a:defRPr sz="1575" b="0">
                <a:solidFill>
                  <a:srgbClr val="F4F7FB"/>
                </a:solidFill>
                <a:latin typeface="Avenir"/>
                <a:ea typeface="Avenir"/>
                <a:cs typeface="Avenir"/>
              </a:defRPr>
            </a:lvl7pPr>
            <a:lvl8pPr algn="ctr">
              <a:defRPr sz="1575" b="0">
                <a:solidFill>
                  <a:srgbClr val="F4F7FB"/>
                </a:solidFill>
                <a:latin typeface="Avenir"/>
                <a:ea typeface="Avenir"/>
                <a:cs typeface="Avenir"/>
              </a:defRPr>
            </a:lvl8pPr>
            <a:lvl9pPr algn="ctr">
              <a:defRPr sz="1575" b="0">
                <a:solidFill>
                  <a:srgbClr val="F4F7FB"/>
                </a:solidFill>
                <a:latin typeface="Avenir"/>
                <a:ea typeface="Avenir"/>
                <a:cs typeface="Avenir"/>
              </a:defRPr>
            </a:lvl9pPr>
          </a:lstStyle>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Stack</a:t>
            </a:r>
          </a:p>
          <a:p xmlns:a="http://schemas.openxmlformats.org/drawingml/2006/main">
            <a:pPr algn="ctr">
              <a:lnSpc>
                <a:spcPct val="105000"/>
              </a:lnSpc>
              <a:buNone/>
              <a:defRPr sz="1575" b="0">
                <a:solidFill>
                  <a:srgbClr val="F4F7FB"/>
                </a:solidFill>
                <a:latin typeface="Avenir"/>
                <a:ea typeface="Avenir"/>
                <a:cs typeface="Avenir"/>
              </a:defRPr>
            </a:pPr>
            <a:r>
              <a:rPr sz="1575" b="0">
                <a:solidFill>
                  <a:srgbClr val="F4F7FB"/>
                </a:solidFill>
                <a:latin typeface="Avenir"/>
                <a:ea typeface="Avenir"/>
                <a:cs typeface="Avenir"/>
              </a:rPr>
              <a:t>VM</a:t>
            </a:r>
          </a:p>
        </p:txBody>
      </p:sp>
      <p:sp>
        <p:nvSpPr>
          <p:cNvPr id="10" name="">
            <a:extLst xmlns:a="http://schemas.openxmlformats.org/drawingml/2006/main">
              <a:ext uri="{FF2B5EF4-FFF2-40B4-BE49-F238E27FC236}">
                <a16:creationId xmlns:a16="http://schemas.microsoft.com/office/drawing/2014/main" id="{EC85C552-F0F3-44A0-8A08-5D6E840E20A4}"/>
              </a:ext>
            </a:extLst>
          </p:cNvPr>
          <p:cNvSpPr>
            <a:spLocks xmlns:a="http://schemas.openxmlformats.org/drawingml/2006/main" noGrp="1"/>
          </p:cNvSpPr>
          <p:nvPr/>
        </p:nvSpPr>
        <p:spPr>
          <a:xfrm xmlns:a="http://schemas.openxmlformats.org/drawingml/2006/main">
            <a:off x="223837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1" name="">
            <a:extLst xmlns:a="http://schemas.openxmlformats.org/drawingml/2006/main">
              <a:ext uri="{FF2B5EF4-FFF2-40B4-BE49-F238E27FC236}">
                <a16:creationId xmlns:a16="http://schemas.microsoft.com/office/drawing/2014/main" id="{B7D8280D-ECAD-4CD2-876B-8BA6B369C4F5}"/>
              </a:ext>
            </a:extLst>
          </p:cNvPr>
          <p:cNvSpPr>
            <a:spLocks xmlns:a="http://schemas.openxmlformats.org/drawingml/2006/main" noGrp="1"/>
          </p:cNvSpPr>
          <p:nvPr/>
        </p:nvSpPr>
        <p:spPr>
          <a:xfrm xmlns:a="http://schemas.openxmlformats.org/drawingml/2006/main">
            <a:off x="412432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2" name="">
            <a:extLst xmlns:a="http://schemas.openxmlformats.org/drawingml/2006/main">
              <a:ext uri="{FF2B5EF4-FFF2-40B4-BE49-F238E27FC236}">
                <a16:creationId xmlns:a16="http://schemas.microsoft.com/office/drawing/2014/main" id="{8583ADDD-EE15-4ED0-99C6-AB5F8FD057EF}"/>
              </a:ext>
            </a:extLst>
          </p:cNvPr>
          <p:cNvSpPr>
            <a:spLocks xmlns:a="http://schemas.openxmlformats.org/drawingml/2006/main" noGrp="1"/>
          </p:cNvSpPr>
          <p:nvPr/>
        </p:nvSpPr>
        <p:spPr>
          <a:xfrm xmlns:a="http://schemas.openxmlformats.org/drawingml/2006/main">
            <a:off x="601027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3" name="">
            <a:extLst xmlns:a="http://schemas.openxmlformats.org/drawingml/2006/main">
              <a:ext uri="{FF2B5EF4-FFF2-40B4-BE49-F238E27FC236}">
                <a16:creationId xmlns:a16="http://schemas.microsoft.com/office/drawing/2014/main" id="{5AF01FA4-9629-4B46-91E4-996D35D6D73F}"/>
              </a:ext>
            </a:extLst>
          </p:cNvPr>
          <p:cNvSpPr>
            <a:spLocks xmlns:a="http://schemas.openxmlformats.org/drawingml/2006/main" noGrp="1"/>
          </p:cNvSpPr>
          <p:nvPr/>
        </p:nvSpPr>
        <p:spPr>
          <a:xfrm xmlns:a="http://schemas.openxmlformats.org/drawingml/2006/main">
            <a:off x="789622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4" name="">
            <a:extLst xmlns:a="http://schemas.openxmlformats.org/drawingml/2006/main">
              <a:ext uri="{FF2B5EF4-FFF2-40B4-BE49-F238E27FC236}">
                <a16:creationId xmlns:a16="http://schemas.microsoft.com/office/drawing/2014/main" id="{6C4087AB-3F5D-41FE-A694-6EFEFAA1EA50}"/>
              </a:ext>
            </a:extLst>
          </p:cNvPr>
          <p:cNvSpPr>
            <a:spLocks xmlns:a="http://schemas.openxmlformats.org/drawingml/2006/main" noGrp="1"/>
          </p:cNvSpPr>
          <p:nvPr/>
        </p:nvSpPr>
        <p:spPr>
          <a:xfrm xmlns:a="http://schemas.openxmlformats.org/drawingml/2006/main">
            <a:off x="9782175" y="3000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601"/>
          </a:bodyPr>
          <a:lstStyle xmlns:a="http://schemas.openxmlformats.org/drawingml/2006/main">
            <a:defPPr algn="ctr">
              <a:defRPr sz="2550" b="1">
                <a:solidFill>
                  <a:srgbClr val="5AD6E6"/>
                </a:solidFill>
                <a:latin typeface="Avenir"/>
                <a:ea typeface="Avenir"/>
                <a:cs typeface="Avenir"/>
              </a:defRPr>
            </a:defPPr>
            <a:lvl1pPr algn="ctr">
              <a:defRPr sz="2550" b="1">
                <a:solidFill>
                  <a:srgbClr val="5AD6E6"/>
                </a:solidFill>
                <a:latin typeface="Avenir"/>
                <a:ea typeface="Avenir"/>
                <a:cs typeface="Avenir"/>
              </a:defRPr>
            </a:lvl1pPr>
            <a:lvl2pPr algn="ctr">
              <a:defRPr sz="2550" b="1">
                <a:solidFill>
                  <a:srgbClr val="5AD6E6"/>
                </a:solidFill>
                <a:latin typeface="Avenir"/>
                <a:ea typeface="Avenir"/>
                <a:cs typeface="Avenir"/>
              </a:defRPr>
            </a:lvl2pPr>
            <a:lvl3pPr algn="ctr">
              <a:defRPr sz="2550" b="1">
                <a:solidFill>
                  <a:srgbClr val="5AD6E6"/>
                </a:solidFill>
                <a:latin typeface="Avenir"/>
                <a:ea typeface="Avenir"/>
                <a:cs typeface="Avenir"/>
              </a:defRPr>
            </a:lvl3pPr>
            <a:lvl4pPr algn="ctr">
              <a:defRPr sz="2550" b="1">
                <a:solidFill>
                  <a:srgbClr val="5AD6E6"/>
                </a:solidFill>
                <a:latin typeface="Avenir"/>
                <a:ea typeface="Avenir"/>
                <a:cs typeface="Avenir"/>
              </a:defRPr>
            </a:lvl4pPr>
            <a:lvl5pPr algn="ctr">
              <a:defRPr sz="2550" b="1">
                <a:solidFill>
                  <a:srgbClr val="5AD6E6"/>
                </a:solidFill>
                <a:latin typeface="Avenir"/>
                <a:ea typeface="Avenir"/>
                <a:cs typeface="Avenir"/>
              </a:defRPr>
            </a:lvl5pPr>
            <a:lvl6pPr algn="ctr">
              <a:defRPr sz="2550" b="1">
                <a:solidFill>
                  <a:srgbClr val="5AD6E6"/>
                </a:solidFill>
                <a:latin typeface="Avenir"/>
                <a:ea typeface="Avenir"/>
                <a:cs typeface="Avenir"/>
              </a:defRPr>
            </a:lvl6pPr>
            <a:lvl7pPr algn="ctr">
              <a:defRPr sz="2550" b="1">
                <a:solidFill>
                  <a:srgbClr val="5AD6E6"/>
                </a:solidFill>
                <a:latin typeface="Avenir"/>
                <a:ea typeface="Avenir"/>
                <a:cs typeface="Avenir"/>
              </a:defRPr>
            </a:lvl7pPr>
            <a:lvl8pPr algn="ctr">
              <a:defRPr sz="2550" b="1">
                <a:solidFill>
                  <a:srgbClr val="5AD6E6"/>
                </a:solidFill>
                <a:latin typeface="Avenir"/>
                <a:ea typeface="Avenir"/>
                <a:cs typeface="Avenir"/>
              </a:defRPr>
            </a:lvl8pPr>
            <a:lvl9pPr algn="ctr">
              <a:defRPr sz="2550" b="1">
                <a:solidFill>
                  <a:srgbClr val="5AD6E6"/>
                </a:solidFill>
                <a:latin typeface="Avenir"/>
                <a:ea typeface="Avenir"/>
                <a:cs typeface="Avenir"/>
              </a:defRPr>
            </a:lvl9pPr>
          </a:lstStyle>
          <a:p xmlns:a="http://schemas.openxmlformats.org/drawingml/2006/main">
            <a:pPr algn="ctr">
              <a:lnSpc>
                <a:spcPct val="105000"/>
              </a:lnSpc>
              <a:buNone/>
              <a:defRPr sz="2550" b="1">
                <a:solidFill>
                  <a:srgbClr val="5AD6E6"/>
                </a:solidFill>
                <a:latin typeface="Avenir"/>
                <a:ea typeface="Avenir"/>
                <a:cs typeface="Avenir"/>
              </a:defRPr>
            </a:pPr>
            <a:r>
              <a:rPr sz="2550" b="1">
                <a:solidFill>
                  <a:srgbClr val="5AD6E6"/>
                </a:solidFill>
                <a:latin typeface="Avenir"/>
                <a:ea typeface="Avenir"/>
                <a:cs typeface="Avenir"/>
              </a:rPr>
              <a:t>→</a:t>
            </a:r>
          </a:p>
        </p:txBody>
      </p:sp>
      <p:sp>
        <p:nvSpPr>
          <p:cNvPr id="15" name="">
            <a:extLst xmlns:a="http://schemas.openxmlformats.org/drawingml/2006/main">
              <a:ext uri="{FF2B5EF4-FFF2-40B4-BE49-F238E27FC236}">
                <a16:creationId xmlns:a16="http://schemas.microsoft.com/office/drawing/2014/main" id="{0F4AF475-39D1-4AB1-B363-63285C89B0FF}"/>
              </a:ext>
            </a:extLst>
          </p:cNvPr>
          <p:cNvSpPr>
            <a:spLocks xmlns:a="http://schemas.openxmlformats.org/drawingml/2006/main" noGrp="1"/>
          </p:cNvSpPr>
          <p:nvPr/>
        </p:nvSpPr>
        <p:spPr>
          <a:xfrm xmlns:a="http://schemas.openxmlformats.org/drawingml/2006/main">
            <a:off x="68580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4C1D1"/>
                </a:solidFill>
                <a:latin typeface="Avenir"/>
                <a:ea typeface="Avenir"/>
                <a:cs typeface="Avenir"/>
              </a:defRPr>
            </a:defPPr>
            <a:lvl1pPr algn="l">
              <a:defRPr sz="1650" b="0">
                <a:solidFill>
                  <a:srgbClr val="B4C1D1"/>
                </a:solidFill>
                <a:latin typeface="Avenir"/>
                <a:ea typeface="Avenir"/>
                <a:cs typeface="Avenir"/>
              </a:defRPr>
            </a:lvl1pPr>
            <a:lvl2pPr algn="l">
              <a:defRPr sz="1650" b="0">
                <a:solidFill>
                  <a:srgbClr val="B4C1D1"/>
                </a:solidFill>
                <a:latin typeface="Avenir"/>
                <a:ea typeface="Avenir"/>
                <a:cs typeface="Avenir"/>
              </a:defRPr>
            </a:lvl2pPr>
            <a:lvl3pPr algn="l">
              <a:defRPr sz="1650" b="0">
                <a:solidFill>
                  <a:srgbClr val="B4C1D1"/>
                </a:solidFill>
                <a:latin typeface="Avenir"/>
                <a:ea typeface="Avenir"/>
                <a:cs typeface="Avenir"/>
              </a:defRPr>
            </a:lvl3pPr>
            <a:lvl4pPr algn="l">
              <a:defRPr sz="1650" b="0">
                <a:solidFill>
                  <a:srgbClr val="B4C1D1"/>
                </a:solidFill>
                <a:latin typeface="Avenir"/>
                <a:ea typeface="Avenir"/>
                <a:cs typeface="Avenir"/>
              </a:defRPr>
            </a:lvl4pPr>
            <a:lvl5pPr algn="l">
              <a:defRPr sz="1650" b="0">
                <a:solidFill>
                  <a:srgbClr val="B4C1D1"/>
                </a:solidFill>
                <a:latin typeface="Avenir"/>
                <a:ea typeface="Avenir"/>
                <a:cs typeface="Avenir"/>
              </a:defRPr>
            </a:lvl5pPr>
            <a:lvl6pPr algn="l">
              <a:defRPr sz="1650" b="0">
                <a:solidFill>
                  <a:srgbClr val="B4C1D1"/>
                </a:solidFill>
                <a:latin typeface="Avenir"/>
                <a:ea typeface="Avenir"/>
                <a:cs typeface="Avenir"/>
              </a:defRPr>
            </a:lvl6pPr>
            <a:lvl7pPr algn="l">
              <a:defRPr sz="1650" b="0">
                <a:solidFill>
                  <a:srgbClr val="B4C1D1"/>
                </a:solidFill>
                <a:latin typeface="Avenir"/>
                <a:ea typeface="Avenir"/>
                <a:cs typeface="Avenir"/>
              </a:defRPr>
            </a:lvl7pPr>
            <a:lvl8pPr algn="l">
              <a:defRPr sz="1650" b="0">
                <a:solidFill>
                  <a:srgbClr val="B4C1D1"/>
                </a:solidFill>
                <a:latin typeface="Avenir"/>
                <a:ea typeface="Avenir"/>
                <a:cs typeface="Avenir"/>
              </a:defRPr>
            </a:lvl8pPr>
            <a:lvl9pPr algn="l">
              <a:defRPr sz="1650" b="0">
                <a:solidFill>
                  <a:srgbClr val="B4C1D1"/>
                </a:solidFill>
                <a:latin typeface="Avenir"/>
                <a:ea typeface="Avenir"/>
                <a:cs typeface="Avenir"/>
              </a:defRPr>
            </a:lvl9pPr>
          </a:lstStyle>
          <a:p xmlns:a="http://schemas.openxmlformats.org/drawingml/2006/main">
            <a:pPr algn="l">
              <a:lnSpc>
                <a:spcPct val="105000"/>
              </a:lnSpc>
              <a:buNone/>
              <a:defRPr sz="1650" b="0">
                <a:solidFill>
                  <a:srgbClr val="B4C1D1"/>
                </a:solidFill>
                <a:latin typeface="Avenir"/>
                <a:ea typeface="Avenir"/>
                <a:cs typeface="Avenir"/>
              </a:defRPr>
            </a:pPr>
            <a:r>
              <a:rPr sz="1650" b="0">
                <a:solidFill>
                  <a:srgbClr val="B4C1D1"/>
                </a:solidFill>
                <a:latin typeface="Avenir"/>
                <a:ea typeface="Avenir"/>
                <a:cs typeface="Avenir"/>
              </a:rPr>
              <a:t>Input: .py subset or existing .ir</a:t>
            </a:r>
          </a:p>
        </p:txBody>
      </p:sp>
      <p:sp>
        <p:nvSpPr>
          <p:cNvPr id="16" name="">
            <a:extLst xmlns:a="http://schemas.openxmlformats.org/drawingml/2006/main">
              <a:ext uri="{FF2B5EF4-FFF2-40B4-BE49-F238E27FC236}">
                <a16:creationId xmlns:a16="http://schemas.microsoft.com/office/drawing/2014/main" id="{C48E26CF-6D57-40BF-96F5-F91CE818CCD0}"/>
              </a:ext>
            </a:extLst>
          </p:cNvPr>
          <p:cNvSpPr>
            <a:spLocks xmlns:a="http://schemas.openxmlformats.org/drawingml/2006/main" noGrp="1"/>
          </p:cNvSpPr>
          <p:nvPr/>
        </p:nvSpPr>
        <p:spPr>
          <a:xfrm xmlns:a="http://schemas.openxmlformats.org/drawingml/2006/main">
            <a:off x="685800" y="49149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B"/>
                </a:solidFill>
                <a:latin typeface="Avenir"/>
                <a:ea typeface="Avenir"/>
                <a:cs typeface="Avenir"/>
              </a:defRPr>
            </a:defPPr>
            <a:lvl1pPr algn="l">
              <a:defRPr sz="1650" b="0">
                <a:solidFill>
                  <a:srgbClr val="F4F7FB"/>
                </a:solidFill>
                <a:latin typeface="Avenir"/>
                <a:ea typeface="Avenir"/>
                <a:cs typeface="Avenir"/>
              </a:defRPr>
            </a:lvl1pPr>
            <a:lvl2pPr algn="l">
              <a:defRPr sz="1650" b="0">
                <a:solidFill>
                  <a:srgbClr val="F4F7FB"/>
                </a:solidFill>
                <a:latin typeface="Avenir"/>
                <a:ea typeface="Avenir"/>
                <a:cs typeface="Avenir"/>
              </a:defRPr>
            </a:lvl2pPr>
            <a:lvl3pPr algn="l">
              <a:defRPr sz="1650" b="0">
                <a:solidFill>
                  <a:srgbClr val="F4F7FB"/>
                </a:solidFill>
                <a:latin typeface="Avenir"/>
                <a:ea typeface="Avenir"/>
                <a:cs typeface="Avenir"/>
              </a:defRPr>
            </a:lvl3pPr>
            <a:lvl4pPr algn="l">
              <a:defRPr sz="1650" b="0">
                <a:solidFill>
                  <a:srgbClr val="F4F7FB"/>
                </a:solidFill>
                <a:latin typeface="Avenir"/>
                <a:ea typeface="Avenir"/>
                <a:cs typeface="Avenir"/>
              </a:defRPr>
            </a:lvl4pPr>
            <a:lvl5pPr algn="l">
              <a:defRPr sz="1650" b="0">
                <a:solidFill>
                  <a:srgbClr val="F4F7FB"/>
                </a:solidFill>
                <a:latin typeface="Avenir"/>
                <a:ea typeface="Avenir"/>
                <a:cs typeface="Avenir"/>
              </a:defRPr>
            </a:lvl5pPr>
            <a:lvl6pPr algn="l">
              <a:defRPr sz="1650" b="0">
                <a:solidFill>
                  <a:srgbClr val="F4F7FB"/>
                </a:solidFill>
                <a:latin typeface="Avenir"/>
                <a:ea typeface="Avenir"/>
                <a:cs typeface="Avenir"/>
              </a:defRPr>
            </a:lvl6pPr>
            <a:lvl7pPr algn="l">
              <a:defRPr sz="1650" b="0">
                <a:solidFill>
                  <a:srgbClr val="F4F7FB"/>
                </a:solidFill>
                <a:latin typeface="Avenir"/>
                <a:ea typeface="Avenir"/>
                <a:cs typeface="Avenir"/>
              </a:defRPr>
            </a:lvl7pPr>
            <a:lvl8pPr algn="l">
              <a:defRPr sz="1650" b="0">
                <a:solidFill>
                  <a:srgbClr val="F4F7FB"/>
                </a:solidFill>
                <a:latin typeface="Avenir"/>
                <a:ea typeface="Avenir"/>
                <a:cs typeface="Avenir"/>
              </a:defRPr>
            </a:lvl8pPr>
            <a:lvl9pPr algn="l">
              <a:defRPr sz="1650" b="0">
                <a:solidFill>
                  <a:srgbClr val="F4F7FB"/>
                </a:solidFill>
                <a:latin typeface="Avenir"/>
                <a:ea typeface="Avenir"/>
                <a:cs typeface="Avenir"/>
              </a:defRPr>
            </a:lvl9pPr>
          </a:lstStyle>
          <a:p xmlns:a="http://schemas.openxmlformats.org/drawingml/2006/main">
            <a:pPr algn="l">
              <a:lnSpc>
                <a:spcPct val="105000"/>
              </a:lnSpc>
              <a:buNone/>
              <a:defRPr sz="1650" b="0">
                <a:solidFill>
                  <a:srgbClr val="F4F7FB"/>
                </a:solidFill>
                <a:latin typeface="Avenir"/>
                <a:ea typeface="Avenir"/>
                <a:cs typeface="Avenir"/>
              </a:defRPr>
            </a:pPr>
            <a:r>
              <a:rPr sz="1650" b="0">
                <a:solidFill>
                  <a:srgbClr val="F4F7FB"/>
                </a:solidFill>
                <a:latin typeface="Avenir"/>
                <a:ea typeface="Avenir"/>
                <a:cs typeface="Avenir"/>
              </a:rPr>
              <a:t>Output: program results plus compiler and VM statistics</a:t>
            </a:r>
          </a:p>
        </p:txBody>
      </p:sp>
    </p:spTree>
    <p:extLst>
      <p:ext uri="{BB962C8B-B14F-4D97-AF65-F5344CB8AC3E}">
        <p14:creationId xmlns:p14="http://schemas.microsoft.com/office/powerpoint/2010/main" val="1484509527"/>
      </p:ext>
    </p:extLst>
  </p:cSld>
</p:sld>
</file>

<file path=ppt/slides/slide3.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7EA184-6D7E-45FA-A488-091D09A500C1}"/>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Supported language and boundary</a:t>
            </a:r>
          </a:p>
        </p:txBody>
      </p:sp>
      <p:sp>
        <p:nvSpPr>
          <p:cNvPr id="2" name="">
            <a:extLst xmlns:a="http://schemas.openxmlformats.org/drawingml/2006/main">
              <a:ext uri="{FF2B5EF4-FFF2-40B4-BE49-F238E27FC236}">
                <a16:creationId xmlns:a16="http://schemas.microsoft.com/office/drawing/2014/main" id="{ACF1264E-6CF7-4599-96CE-56DC3E0D7BB5}"/>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6BD4C9-F611-4345-A59A-E7DF274B93E2}"/>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The frontend accepts a deliberate, testable subset of Python.</a:t>
            </a:r>
          </a:p>
        </p:txBody>
      </p:sp>
      <p:sp>
        <p:nvSpPr>
          <p:cNvPr id="4" name="">
            <a:extLst xmlns:a="http://schemas.openxmlformats.org/drawingml/2006/main">
              <a:ext uri="{FF2B5EF4-FFF2-40B4-BE49-F238E27FC236}">
                <a16:creationId xmlns:a16="http://schemas.microsoft.com/office/drawing/2014/main" id="{2CD663EB-1E0D-4E3C-AB22-8A18B6BEB4F3}"/>
              </a:ext>
            </a:extLst>
          </p:cNvPr>
          <p:cNvSpPr>
            <a:spLocks xmlns:a="http://schemas.openxmlformats.org/drawingml/2006/main" noGrp="1"/>
          </p:cNvSpPr>
          <p:nvPr/>
        </p:nvSpPr>
        <p:spPr>
          <a:xfrm xmlns:a="http://schemas.openxmlformats.org/drawingml/2006/main">
            <a:off x="762000" y="21907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9BE3BD"/>
                </a:solidFill>
                <a:latin typeface="Avenir"/>
                <a:ea typeface="Avenir"/>
                <a:cs typeface="Avenir"/>
              </a:defRPr>
            </a:defPPr>
            <a:lvl1pPr algn="l">
              <a:defRPr sz="1425" b="1">
                <a:solidFill>
                  <a:srgbClr val="9BE3BD"/>
                </a:solidFill>
                <a:latin typeface="Avenir"/>
                <a:ea typeface="Avenir"/>
                <a:cs typeface="Avenir"/>
              </a:defRPr>
            </a:lvl1pPr>
            <a:lvl2pPr algn="l">
              <a:defRPr sz="1425" b="1">
                <a:solidFill>
                  <a:srgbClr val="9BE3BD"/>
                </a:solidFill>
                <a:latin typeface="Avenir"/>
                <a:ea typeface="Avenir"/>
                <a:cs typeface="Avenir"/>
              </a:defRPr>
            </a:lvl2pPr>
            <a:lvl3pPr algn="l">
              <a:defRPr sz="1425" b="1">
                <a:solidFill>
                  <a:srgbClr val="9BE3BD"/>
                </a:solidFill>
                <a:latin typeface="Avenir"/>
                <a:ea typeface="Avenir"/>
                <a:cs typeface="Avenir"/>
              </a:defRPr>
            </a:lvl3pPr>
            <a:lvl4pPr algn="l">
              <a:defRPr sz="1425" b="1">
                <a:solidFill>
                  <a:srgbClr val="9BE3BD"/>
                </a:solidFill>
                <a:latin typeface="Avenir"/>
                <a:ea typeface="Avenir"/>
                <a:cs typeface="Avenir"/>
              </a:defRPr>
            </a:lvl4pPr>
            <a:lvl5pPr algn="l">
              <a:defRPr sz="1425" b="1">
                <a:solidFill>
                  <a:srgbClr val="9BE3BD"/>
                </a:solidFill>
                <a:latin typeface="Avenir"/>
                <a:ea typeface="Avenir"/>
                <a:cs typeface="Avenir"/>
              </a:defRPr>
            </a:lvl5pPr>
            <a:lvl6pPr algn="l">
              <a:defRPr sz="1425" b="1">
                <a:solidFill>
                  <a:srgbClr val="9BE3BD"/>
                </a:solidFill>
                <a:latin typeface="Avenir"/>
                <a:ea typeface="Avenir"/>
                <a:cs typeface="Avenir"/>
              </a:defRPr>
            </a:lvl6pPr>
            <a:lvl7pPr algn="l">
              <a:defRPr sz="1425" b="1">
                <a:solidFill>
                  <a:srgbClr val="9BE3BD"/>
                </a:solidFill>
                <a:latin typeface="Avenir"/>
                <a:ea typeface="Avenir"/>
                <a:cs typeface="Avenir"/>
              </a:defRPr>
            </a:lvl7pPr>
            <a:lvl8pPr algn="l">
              <a:defRPr sz="1425" b="1">
                <a:solidFill>
                  <a:srgbClr val="9BE3BD"/>
                </a:solidFill>
                <a:latin typeface="Avenir"/>
                <a:ea typeface="Avenir"/>
                <a:cs typeface="Avenir"/>
              </a:defRPr>
            </a:lvl8pPr>
            <a:lvl9pPr algn="l">
              <a:defRPr sz="1425" b="1">
                <a:solidFill>
                  <a:srgbClr val="9BE3BD"/>
                </a:solidFill>
                <a:latin typeface="Avenir"/>
                <a:ea typeface="Avenir"/>
                <a:cs typeface="Avenir"/>
              </a:defRPr>
            </a:lvl9pPr>
          </a:lstStyle>
          <a:p xmlns:a="http://schemas.openxmlformats.org/drawingml/2006/main">
            <a:pPr algn="l">
              <a:lnSpc>
                <a:spcPct val="105000"/>
              </a:lnSpc>
              <a:buNone/>
              <a:defRPr sz="1425" b="1">
                <a:solidFill>
                  <a:srgbClr val="9BE3BD"/>
                </a:solidFill>
                <a:latin typeface="Avenir"/>
                <a:ea typeface="Avenir"/>
                <a:cs typeface="Avenir"/>
              </a:defRPr>
            </a:pPr>
            <a:r>
              <a:rPr sz="1425" b="1">
                <a:solidFill>
                  <a:srgbClr val="9BE3BD"/>
                </a:solidFill>
                <a:latin typeface="Avenir"/>
                <a:ea typeface="Avenir"/>
                <a:cs typeface="Avenir"/>
              </a:rPr>
              <a:t>SUPPORTED</a:t>
            </a:r>
          </a:p>
        </p:txBody>
      </p:sp>
      <p:sp>
        <p:nvSpPr>
          <p:cNvPr id="5" name="">
            <a:extLst xmlns:a="http://schemas.openxmlformats.org/drawingml/2006/main">
              <a:ext uri="{FF2B5EF4-FFF2-40B4-BE49-F238E27FC236}">
                <a16:creationId xmlns:a16="http://schemas.microsoft.com/office/drawing/2014/main" id="{24B9AA20-80A3-49C8-B1C9-1FC75E90DF99}"/>
              </a:ext>
            </a:extLst>
          </p:cNvPr>
          <p:cNvSpPr>
            <a:spLocks xmlns:a="http://schemas.openxmlformats.org/drawingml/2006/main" noGrp="1"/>
          </p:cNvSpPr>
          <p:nvPr/>
        </p:nvSpPr>
        <p:spPr>
          <a:xfrm xmlns:a="http://schemas.openxmlformats.org/drawingml/2006/main">
            <a:off x="762000" y="2686050"/>
            <a:ext cx="4714875"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Avenir"/>
                <a:ea typeface="Avenir"/>
                <a:cs typeface="Avenir"/>
              </a:defRPr>
            </a:defPPr>
            <a:lvl1pPr algn="l">
              <a:defRPr sz="1725" b="0">
                <a:solidFill>
                  <a:srgbClr val="F4F7FB"/>
                </a:solidFill>
                <a:latin typeface="Avenir"/>
                <a:ea typeface="Avenir"/>
                <a:cs typeface="Avenir"/>
              </a:defRPr>
            </a:lvl1pPr>
            <a:lvl2pPr algn="l">
              <a:defRPr sz="1725" b="0">
                <a:solidFill>
                  <a:srgbClr val="F4F7FB"/>
                </a:solidFill>
                <a:latin typeface="Avenir"/>
                <a:ea typeface="Avenir"/>
                <a:cs typeface="Avenir"/>
              </a:defRPr>
            </a:lvl2pPr>
            <a:lvl3pPr algn="l">
              <a:defRPr sz="1725" b="0">
                <a:solidFill>
                  <a:srgbClr val="F4F7FB"/>
                </a:solidFill>
                <a:latin typeface="Avenir"/>
                <a:ea typeface="Avenir"/>
                <a:cs typeface="Avenir"/>
              </a:defRPr>
            </a:lvl3pPr>
            <a:lvl4pPr algn="l">
              <a:defRPr sz="1725" b="0">
                <a:solidFill>
                  <a:srgbClr val="F4F7FB"/>
                </a:solidFill>
                <a:latin typeface="Avenir"/>
                <a:ea typeface="Avenir"/>
                <a:cs typeface="Avenir"/>
              </a:defRPr>
            </a:lvl4pPr>
            <a:lvl5pPr algn="l">
              <a:defRPr sz="1725" b="0">
                <a:solidFill>
                  <a:srgbClr val="F4F7FB"/>
                </a:solidFill>
                <a:latin typeface="Avenir"/>
                <a:ea typeface="Avenir"/>
                <a:cs typeface="Avenir"/>
              </a:defRPr>
            </a:lvl5pPr>
            <a:lvl6pPr algn="l">
              <a:defRPr sz="1725" b="0">
                <a:solidFill>
                  <a:srgbClr val="F4F7FB"/>
                </a:solidFill>
                <a:latin typeface="Avenir"/>
                <a:ea typeface="Avenir"/>
                <a:cs typeface="Avenir"/>
              </a:defRPr>
            </a:lvl6pPr>
            <a:lvl7pPr algn="l">
              <a:defRPr sz="1725" b="0">
                <a:solidFill>
                  <a:srgbClr val="F4F7FB"/>
                </a:solidFill>
                <a:latin typeface="Avenir"/>
                <a:ea typeface="Avenir"/>
                <a:cs typeface="Avenir"/>
              </a:defRPr>
            </a:lvl7pPr>
            <a:lvl8pPr algn="l">
              <a:defRPr sz="1725" b="0">
                <a:solidFill>
                  <a:srgbClr val="F4F7FB"/>
                </a:solidFill>
                <a:latin typeface="Avenir"/>
                <a:ea typeface="Avenir"/>
                <a:cs typeface="Avenir"/>
              </a:defRPr>
            </a:lvl8pPr>
            <a:lvl9pPr algn="l">
              <a:defRPr sz="1725" b="0">
                <a:solidFill>
                  <a:srgbClr val="F4F7FB"/>
                </a:solidFill>
                <a:latin typeface="Avenir"/>
                <a:ea typeface="Avenir"/>
                <a:cs typeface="Avenir"/>
              </a:defRPr>
            </a:lvl9pPr>
          </a:lstStyle>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Integers, booleans, local variables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Fixed tuples with constant indexing</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Arithmetic and integer comparisons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if/else, while, range loops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Functions, recursion, integer returns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Single-value print statements</a:t>
            </a:r>
          </a:p>
        </p:txBody>
      </p:sp>
      <p:sp>
        <p:nvSpPr>
          <p:cNvPr id="6" name="">
            <a:extLst xmlns:a="http://schemas.openxmlformats.org/drawingml/2006/main">
              <a:ext uri="{FF2B5EF4-FFF2-40B4-BE49-F238E27FC236}">
                <a16:creationId xmlns:a16="http://schemas.microsoft.com/office/drawing/2014/main" id="{2A0C2E6B-C241-4A04-8012-CC1F3AAC983F}"/>
              </a:ext>
            </a:extLst>
          </p:cNvPr>
          <p:cNvSpPr>
            <a:spLocks xmlns:a="http://schemas.openxmlformats.org/drawingml/2006/main" noGrp="1"/>
          </p:cNvSpPr>
          <p:nvPr/>
        </p:nvSpPr>
        <p:spPr>
          <a:xfrm xmlns:a="http://schemas.openxmlformats.org/drawingml/2006/main">
            <a:off x="6019800" y="2152650"/>
            <a:ext cx="19050" cy="34480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A63E7BE-6FC4-4EAB-8A79-BEC046C24746}"/>
              </a:ext>
            </a:extLst>
          </p:cNvPr>
          <p:cNvSpPr>
            <a:spLocks xmlns:a="http://schemas.openxmlformats.org/drawingml/2006/main" noGrp="1"/>
          </p:cNvSpPr>
          <p:nvPr/>
        </p:nvSpPr>
        <p:spPr>
          <a:xfrm xmlns:a="http://schemas.openxmlformats.org/drawingml/2006/main">
            <a:off x="6572250" y="2190750"/>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C86A"/>
                </a:solidFill>
                <a:latin typeface="Avenir"/>
                <a:ea typeface="Avenir"/>
                <a:cs typeface="Avenir"/>
              </a:defRPr>
            </a:defPPr>
            <a:lvl1pPr algn="l">
              <a:defRPr sz="1425" b="1">
                <a:solidFill>
                  <a:srgbClr val="FFC86A"/>
                </a:solidFill>
                <a:latin typeface="Avenir"/>
                <a:ea typeface="Avenir"/>
                <a:cs typeface="Avenir"/>
              </a:defRPr>
            </a:lvl1pPr>
            <a:lvl2pPr algn="l">
              <a:defRPr sz="1425" b="1">
                <a:solidFill>
                  <a:srgbClr val="FFC86A"/>
                </a:solidFill>
                <a:latin typeface="Avenir"/>
                <a:ea typeface="Avenir"/>
                <a:cs typeface="Avenir"/>
              </a:defRPr>
            </a:lvl2pPr>
            <a:lvl3pPr algn="l">
              <a:defRPr sz="1425" b="1">
                <a:solidFill>
                  <a:srgbClr val="FFC86A"/>
                </a:solidFill>
                <a:latin typeface="Avenir"/>
                <a:ea typeface="Avenir"/>
                <a:cs typeface="Avenir"/>
              </a:defRPr>
            </a:lvl3pPr>
            <a:lvl4pPr algn="l">
              <a:defRPr sz="1425" b="1">
                <a:solidFill>
                  <a:srgbClr val="FFC86A"/>
                </a:solidFill>
                <a:latin typeface="Avenir"/>
                <a:ea typeface="Avenir"/>
                <a:cs typeface="Avenir"/>
              </a:defRPr>
            </a:lvl4pPr>
            <a:lvl5pPr algn="l">
              <a:defRPr sz="1425" b="1">
                <a:solidFill>
                  <a:srgbClr val="FFC86A"/>
                </a:solidFill>
                <a:latin typeface="Avenir"/>
                <a:ea typeface="Avenir"/>
                <a:cs typeface="Avenir"/>
              </a:defRPr>
            </a:lvl5pPr>
            <a:lvl6pPr algn="l">
              <a:defRPr sz="1425" b="1">
                <a:solidFill>
                  <a:srgbClr val="FFC86A"/>
                </a:solidFill>
                <a:latin typeface="Avenir"/>
                <a:ea typeface="Avenir"/>
                <a:cs typeface="Avenir"/>
              </a:defRPr>
            </a:lvl6pPr>
            <a:lvl7pPr algn="l">
              <a:defRPr sz="1425" b="1">
                <a:solidFill>
                  <a:srgbClr val="FFC86A"/>
                </a:solidFill>
                <a:latin typeface="Avenir"/>
                <a:ea typeface="Avenir"/>
                <a:cs typeface="Avenir"/>
              </a:defRPr>
            </a:lvl7pPr>
            <a:lvl8pPr algn="l">
              <a:defRPr sz="1425" b="1">
                <a:solidFill>
                  <a:srgbClr val="FFC86A"/>
                </a:solidFill>
                <a:latin typeface="Avenir"/>
                <a:ea typeface="Avenir"/>
                <a:cs typeface="Avenir"/>
              </a:defRPr>
            </a:lvl8pPr>
            <a:lvl9pPr algn="l">
              <a:defRPr sz="1425" b="1">
                <a:solidFill>
                  <a:srgbClr val="FFC86A"/>
                </a:solidFill>
                <a:latin typeface="Avenir"/>
                <a:ea typeface="Avenir"/>
                <a:cs typeface="Avenir"/>
              </a:defRPr>
            </a:lvl9pPr>
          </a:lstStyle>
          <a:p xmlns:a="http://schemas.openxmlformats.org/drawingml/2006/main">
            <a:pPr algn="l">
              <a:lnSpc>
                <a:spcPct val="105000"/>
              </a:lnSpc>
              <a:buNone/>
              <a:defRPr sz="1425" b="1">
                <a:solidFill>
                  <a:srgbClr val="FFC86A"/>
                </a:solidFill>
                <a:latin typeface="Avenir"/>
                <a:ea typeface="Avenir"/>
                <a:cs typeface="Avenir"/>
              </a:defRPr>
            </a:pPr>
            <a:r>
              <a:rPr sz="1425" b="1">
                <a:solidFill>
                  <a:srgbClr val="FFC86A"/>
                </a:solidFill>
                <a:latin typeface="Avenir"/>
                <a:ea typeface="Avenir"/>
                <a:cs typeface="Avenir"/>
              </a:rPr>
              <a:t>OUTSIDE THIS SUBSET</a:t>
            </a:r>
          </a:p>
        </p:txBody>
      </p:sp>
      <p:sp>
        <p:nvSpPr>
          <p:cNvPr id="8" name="">
            <a:extLst xmlns:a="http://schemas.openxmlformats.org/drawingml/2006/main">
              <a:ext uri="{FF2B5EF4-FFF2-40B4-BE49-F238E27FC236}">
                <a16:creationId xmlns:a16="http://schemas.microsoft.com/office/drawing/2014/main" id="{C8288298-1F0B-4D2C-80E7-9D646FF21DB5}"/>
              </a:ext>
            </a:extLst>
          </p:cNvPr>
          <p:cNvSpPr>
            <a:spLocks xmlns:a="http://schemas.openxmlformats.org/drawingml/2006/main" noGrp="1"/>
          </p:cNvSpPr>
          <p:nvPr/>
        </p:nvSpPr>
        <p:spPr>
          <a:xfrm xmlns:a="http://schemas.openxmlformats.org/drawingml/2006/main">
            <a:off x="6572250" y="2686050"/>
            <a:ext cx="48577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Avenir"/>
                <a:ea typeface="Avenir"/>
                <a:cs typeface="Avenir"/>
              </a:defRPr>
            </a:defPPr>
            <a:lvl1pPr algn="l">
              <a:defRPr sz="1725" b="0">
                <a:solidFill>
                  <a:srgbClr val="F4F7FB"/>
                </a:solidFill>
                <a:latin typeface="Avenir"/>
                <a:ea typeface="Avenir"/>
                <a:cs typeface="Avenir"/>
              </a:defRPr>
            </a:lvl1pPr>
            <a:lvl2pPr algn="l">
              <a:defRPr sz="1725" b="0">
                <a:solidFill>
                  <a:srgbClr val="F4F7FB"/>
                </a:solidFill>
                <a:latin typeface="Avenir"/>
                <a:ea typeface="Avenir"/>
                <a:cs typeface="Avenir"/>
              </a:defRPr>
            </a:lvl2pPr>
            <a:lvl3pPr algn="l">
              <a:defRPr sz="1725" b="0">
                <a:solidFill>
                  <a:srgbClr val="F4F7FB"/>
                </a:solidFill>
                <a:latin typeface="Avenir"/>
                <a:ea typeface="Avenir"/>
                <a:cs typeface="Avenir"/>
              </a:defRPr>
            </a:lvl3pPr>
            <a:lvl4pPr algn="l">
              <a:defRPr sz="1725" b="0">
                <a:solidFill>
                  <a:srgbClr val="F4F7FB"/>
                </a:solidFill>
                <a:latin typeface="Avenir"/>
                <a:ea typeface="Avenir"/>
                <a:cs typeface="Avenir"/>
              </a:defRPr>
            </a:lvl4pPr>
            <a:lvl5pPr algn="l">
              <a:defRPr sz="1725" b="0">
                <a:solidFill>
                  <a:srgbClr val="F4F7FB"/>
                </a:solidFill>
                <a:latin typeface="Avenir"/>
                <a:ea typeface="Avenir"/>
                <a:cs typeface="Avenir"/>
              </a:defRPr>
            </a:lvl5pPr>
            <a:lvl6pPr algn="l">
              <a:defRPr sz="1725" b="0">
                <a:solidFill>
                  <a:srgbClr val="F4F7FB"/>
                </a:solidFill>
                <a:latin typeface="Avenir"/>
                <a:ea typeface="Avenir"/>
                <a:cs typeface="Avenir"/>
              </a:defRPr>
            </a:lvl6pPr>
            <a:lvl7pPr algn="l">
              <a:defRPr sz="1725" b="0">
                <a:solidFill>
                  <a:srgbClr val="F4F7FB"/>
                </a:solidFill>
                <a:latin typeface="Avenir"/>
                <a:ea typeface="Avenir"/>
                <a:cs typeface="Avenir"/>
              </a:defRPr>
            </a:lvl7pPr>
            <a:lvl8pPr algn="l">
              <a:defRPr sz="1725" b="0">
                <a:solidFill>
                  <a:srgbClr val="F4F7FB"/>
                </a:solidFill>
                <a:latin typeface="Avenir"/>
                <a:ea typeface="Avenir"/>
                <a:cs typeface="Avenir"/>
              </a:defRPr>
            </a:lvl8pPr>
            <a:lvl9pPr algn="l">
              <a:defRPr sz="1725" b="0">
                <a:solidFill>
                  <a:srgbClr val="F4F7FB"/>
                </a:solidFill>
                <a:latin typeface="Avenir"/>
                <a:ea typeface="Avenir"/>
                <a:cs typeface="Avenir"/>
              </a:defRPr>
            </a:lvl9pPr>
          </a:lstStyle>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Floats and dynamic objects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Lists, dictionaries, mutable containers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Dynamic tuple indexing</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Imports, exceptions, classes</a:t>
            </a:r>
          </a:p>
          <a:p xmlns:a="http://schemas.openxmlformats.org/drawingml/2006/main">
            <a:pPr algn="l">
              <a:lnSpc>
                <a:spcPct val="118000"/>
              </a:lnSpc>
              <a:buNone/>
              <a:defRPr sz="1725" b="0">
                <a:solidFill>
                  <a:srgbClr val="F4F7FB"/>
                </a:solidFill>
                <a:latin typeface="Avenir"/>
                <a:ea typeface="Avenir"/>
                <a:cs typeface="Avenir"/>
              </a:defRPr>
            </a:pPr>
            <a:r>
              <a:rPr sz="1725" b="0">
                <a:solidFill>
                  <a:srgbClr val="F4F7FB"/>
                </a:solidFill>
                <a:latin typeface="Avenir"/>
                <a:ea typeface="Avenir"/>
                <a:cs typeface="Avenir"/>
              </a:rPr>
              <a:t>Closures and advanced function arguments</a:t>
            </a:r>
          </a:p>
        </p:txBody>
      </p:sp>
      <p:sp>
        <p:nvSpPr>
          <p:cNvPr id="9" name="">
            <a:extLst xmlns:a="http://schemas.openxmlformats.org/drawingml/2006/main">
              <a:ext uri="{FF2B5EF4-FFF2-40B4-BE49-F238E27FC236}">
                <a16:creationId xmlns:a16="http://schemas.microsoft.com/office/drawing/2014/main" id="{633D7080-B44E-4092-A55E-B9B720891E29}"/>
              </a:ext>
            </a:extLst>
          </p:cNvPr>
          <p:cNvSpPr>
            <a:spLocks xmlns:a="http://schemas.openxmlformats.org/drawingml/2006/main" noGrp="1"/>
          </p:cNvSpPr>
          <p:nvPr/>
        </p:nvSpPr>
        <p:spPr>
          <a:xfrm xmlns:a="http://schemas.openxmlformats.org/drawingml/2006/main">
            <a:off x="762000" y="58293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B4C1D1"/>
                </a:solidFill>
                <a:latin typeface="Avenir"/>
                <a:ea typeface="Avenir"/>
                <a:cs typeface="Avenir"/>
              </a:defRPr>
            </a:defPPr>
            <a:lvl1pPr algn="l">
              <a:defRPr sz="1575" b="0">
                <a:solidFill>
                  <a:srgbClr val="B4C1D1"/>
                </a:solidFill>
                <a:latin typeface="Avenir"/>
                <a:ea typeface="Avenir"/>
                <a:cs typeface="Avenir"/>
              </a:defRPr>
            </a:lvl1pPr>
            <a:lvl2pPr algn="l">
              <a:defRPr sz="1575" b="0">
                <a:solidFill>
                  <a:srgbClr val="B4C1D1"/>
                </a:solidFill>
                <a:latin typeface="Avenir"/>
                <a:ea typeface="Avenir"/>
                <a:cs typeface="Avenir"/>
              </a:defRPr>
            </a:lvl2pPr>
            <a:lvl3pPr algn="l">
              <a:defRPr sz="1575" b="0">
                <a:solidFill>
                  <a:srgbClr val="B4C1D1"/>
                </a:solidFill>
                <a:latin typeface="Avenir"/>
                <a:ea typeface="Avenir"/>
                <a:cs typeface="Avenir"/>
              </a:defRPr>
            </a:lvl3pPr>
            <a:lvl4pPr algn="l">
              <a:defRPr sz="1575" b="0">
                <a:solidFill>
                  <a:srgbClr val="B4C1D1"/>
                </a:solidFill>
                <a:latin typeface="Avenir"/>
                <a:ea typeface="Avenir"/>
                <a:cs typeface="Avenir"/>
              </a:defRPr>
            </a:lvl4pPr>
            <a:lvl5pPr algn="l">
              <a:defRPr sz="1575" b="0">
                <a:solidFill>
                  <a:srgbClr val="B4C1D1"/>
                </a:solidFill>
                <a:latin typeface="Avenir"/>
                <a:ea typeface="Avenir"/>
                <a:cs typeface="Avenir"/>
              </a:defRPr>
            </a:lvl5pPr>
            <a:lvl6pPr algn="l">
              <a:defRPr sz="1575" b="0">
                <a:solidFill>
                  <a:srgbClr val="B4C1D1"/>
                </a:solidFill>
                <a:latin typeface="Avenir"/>
                <a:ea typeface="Avenir"/>
                <a:cs typeface="Avenir"/>
              </a:defRPr>
            </a:lvl6pPr>
            <a:lvl7pPr algn="l">
              <a:defRPr sz="1575" b="0">
                <a:solidFill>
                  <a:srgbClr val="B4C1D1"/>
                </a:solidFill>
                <a:latin typeface="Avenir"/>
                <a:ea typeface="Avenir"/>
                <a:cs typeface="Avenir"/>
              </a:defRPr>
            </a:lvl7pPr>
            <a:lvl8pPr algn="l">
              <a:defRPr sz="1575" b="0">
                <a:solidFill>
                  <a:srgbClr val="B4C1D1"/>
                </a:solidFill>
                <a:latin typeface="Avenir"/>
                <a:ea typeface="Avenir"/>
                <a:cs typeface="Avenir"/>
              </a:defRPr>
            </a:lvl8pPr>
            <a:lvl9pPr algn="l">
              <a:defRPr sz="1575" b="0">
                <a:solidFill>
                  <a:srgbClr val="B4C1D1"/>
                </a:solidFill>
                <a:latin typeface="Avenir"/>
                <a:ea typeface="Avenir"/>
                <a:cs typeface="Avenir"/>
              </a:defRPr>
            </a:lvl9pPr>
          </a:lstStyle>
          <a:p xmlns:a="http://schemas.openxmlformats.org/drawingml/2006/main">
            <a:pPr algn="l">
              <a:lnSpc>
                <a:spcPct val="105000"/>
              </a:lnSpc>
              <a:buNone/>
              <a:defRPr sz="1575" b="0">
                <a:solidFill>
                  <a:srgbClr val="B4C1D1"/>
                </a:solidFill>
                <a:latin typeface="Avenir"/>
                <a:ea typeface="Avenir"/>
                <a:cs typeface="Avenir"/>
              </a:defRPr>
            </a:pPr>
            <a:r>
              <a:rPr sz="1575" b="0">
                <a:solidFill>
                  <a:srgbClr val="B4C1D1"/>
                </a:solidFill>
                <a:latin typeface="Avenir"/>
                <a:ea typeface="Avenir"/>
                <a:cs typeface="Avenir"/>
              </a:rPr>
              <a:t>Unsupported constructs produce a source-line diagnostic.</a:t>
            </a:r>
          </a:p>
        </p:txBody>
      </p:sp>
    </p:spTree>
    <p:extLst>
      <p:ext uri="{BB962C8B-B14F-4D97-AF65-F5344CB8AC3E}">
        <p14:creationId xmlns:p14="http://schemas.microsoft.com/office/powerpoint/2010/main" val="248108662"/>
      </p:ext>
    </p:extLst>
  </p:cSld>
</p:sld>
</file>

<file path=ppt/slides/slide4.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6FFF9348-A88E-4AC3-B033-A6C7E8990967}"/>
              </a:ext>
            </a:extLst>
          </p:cNvPr>
          <p:cNvCxnSpPr>
            <a:stCxn xmlns:a="http://schemas.openxmlformats.org/drawingml/2006/main" id="10" idx="1"/>
            <a:endCxn xmlns:a="http://schemas.openxmlformats.org/drawingml/2006/main" id="9" idx="1"/>
          </p:cNvCxnSpPr>
          <p:nvPr/>
        </p:nvCxnSpPr>
        <p:spPr>
          <a:xfrm xmlns:a="http://schemas.openxmlformats.org/drawingml/2006/main" flipV="1">
            <a:off x="5353050" y="3095625"/>
            <a:ext cx="971550" cy="1562100"/>
          </a:xfrm>
          <a:prstGeom xmlns:a="http://schemas.openxmlformats.org/drawingml/2006/main" prst="bentConnector4">
            <a:avLst/>
          </a:prstGeom>
          <a:ln xmlns:a="http://schemas.openxmlformats.org/drawingml/2006/main" w="19050">
            <a:solidFill>
              <a:srgbClr val="FFC86A"/>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42D59E10-C56F-45A9-ADFB-641F3D52A50B}"/>
              </a:ext>
            </a:extLst>
          </p:cNvPr>
          <p:cNvCxnSpPr>
            <a:stCxn xmlns:a="http://schemas.openxmlformats.org/drawingml/2006/main" id="9" idx="3"/>
            <a:endCxn xmlns:a="http://schemas.openxmlformats.org/drawingml/2006/main" id="11" idx="1"/>
          </p:cNvCxnSpPr>
          <p:nvPr/>
        </p:nvCxnSpPr>
        <p:spPr>
          <a:xfrm xmlns:a="http://schemas.openxmlformats.org/drawingml/2006/main">
            <a:off x="8515350" y="3095625"/>
            <a:ext cx="70485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0E89A73D-277C-41F4-A440-22F2A7F87158}"/>
              </a:ext>
            </a:extLst>
          </p:cNvPr>
          <p:cNvCxnSpPr>
            <a:stCxn xmlns:a="http://schemas.openxmlformats.org/drawingml/2006/main" id="9" idx="2"/>
            <a:endCxn xmlns:a="http://schemas.openxmlformats.org/drawingml/2006/main" id="10" idx="0"/>
          </p:cNvCxnSpPr>
          <p:nvPr/>
        </p:nvCxnSpPr>
        <p:spPr>
          <a:xfrm xmlns:a="http://schemas.openxmlformats.org/drawingml/2006/main">
            <a:off x="7419975" y="3486150"/>
            <a:ext cx="0" cy="72390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sp>
        <p:nvSpPr>
          <p:cNvPr id="18" name="">
            <a:extLst xmlns:a="http://schemas.openxmlformats.org/drawingml/2006/main">
              <a:ext uri="{FF2B5EF4-FFF2-40B4-BE49-F238E27FC236}">
                <a16:creationId xmlns:a16="http://schemas.microsoft.com/office/drawing/2014/main" id="{7087CECD-1797-4B3D-A296-0FC7C4241B62}"/>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A loop in IR and control flow</a:t>
            </a:r>
          </a:p>
        </p:txBody>
      </p:sp>
      <p:sp>
        <p:nvSpPr>
          <p:cNvPr id="2" name="">
            <a:extLst xmlns:a="http://schemas.openxmlformats.org/drawingml/2006/main">
              <a:ext uri="{FF2B5EF4-FFF2-40B4-BE49-F238E27FC236}">
                <a16:creationId xmlns:a16="http://schemas.microsoft.com/office/drawing/2014/main" id="{7BC0C30C-F353-4850-A5D7-6EDD4FD91008}"/>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6216DC-396E-4F05-9945-0D062DEA939A}"/>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The same computation becomes explicit assignments, tests, and jumps.</a:t>
            </a:r>
          </a:p>
        </p:txBody>
      </p:sp>
      <p:sp>
        <p:nvSpPr>
          <p:cNvPr id="4" name="">
            <a:extLst xmlns:a="http://schemas.openxmlformats.org/drawingml/2006/main">
              <a:ext uri="{FF2B5EF4-FFF2-40B4-BE49-F238E27FC236}">
                <a16:creationId xmlns:a16="http://schemas.microsoft.com/office/drawing/2014/main" id="{E3B08900-410D-4612-B8E1-23DB48CD05FC}"/>
              </a:ext>
            </a:extLst>
          </p:cNvPr>
          <p:cNvSpPr>
            <a:spLocks xmlns:a="http://schemas.openxmlformats.org/drawingml/2006/main" noGrp="1"/>
          </p:cNvSpPr>
          <p:nvPr/>
        </p:nvSpPr>
        <p:spPr>
          <a:xfrm xmlns:a="http://schemas.openxmlformats.org/drawingml/2006/main">
            <a:off x="742950" y="20955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9BE3BD"/>
                </a:solidFill>
                <a:latin typeface="Avenir"/>
                <a:ea typeface="Avenir"/>
                <a:cs typeface="Avenir"/>
              </a:defRPr>
            </a:defPPr>
            <a:lvl1pPr algn="l">
              <a:defRPr sz="1425" b="1">
                <a:solidFill>
                  <a:srgbClr val="9BE3BD"/>
                </a:solidFill>
                <a:latin typeface="Avenir"/>
                <a:ea typeface="Avenir"/>
                <a:cs typeface="Avenir"/>
              </a:defRPr>
            </a:lvl1pPr>
            <a:lvl2pPr algn="l">
              <a:defRPr sz="1425" b="1">
                <a:solidFill>
                  <a:srgbClr val="9BE3BD"/>
                </a:solidFill>
                <a:latin typeface="Avenir"/>
                <a:ea typeface="Avenir"/>
                <a:cs typeface="Avenir"/>
              </a:defRPr>
            </a:lvl2pPr>
            <a:lvl3pPr algn="l">
              <a:defRPr sz="1425" b="1">
                <a:solidFill>
                  <a:srgbClr val="9BE3BD"/>
                </a:solidFill>
                <a:latin typeface="Avenir"/>
                <a:ea typeface="Avenir"/>
                <a:cs typeface="Avenir"/>
              </a:defRPr>
            </a:lvl3pPr>
            <a:lvl4pPr algn="l">
              <a:defRPr sz="1425" b="1">
                <a:solidFill>
                  <a:srgbClr val="9BE3BD"/>
                </a:solidFill>
                <a:latin typeface="Avenir"/>
                <a:ea typeface="Avenir"/>
                <a:cs typeface="Avenir"/>
              </a:defRPr>
            </a:lvl4pPr>
            <a:lvl5pPr algn="l">
              <a:defRPr sz="1425" b="1">
                <a:solidFill>
                  <a:srgbClr val="9BE3BD"/>
                </a:solidFill>
                <a:latin typeface="Avenir"/>
                <a:ea typeface="Avenir"/>
                <a:cs typeface="Avenir"/>
              </a:defRPr>
            </a:lvl5pPr>
            <a:lvl6pPr algn="l">
              <a:defRPr sz="1425" b="1">
                <a:solidFill>
                  <a:srgbClr val="9BE3BD"/>
                </a:solidFill>
                <a:latin typeface="Avenir"/>
                <a:ea typeface="Avenir"/>
                <a:cs typeface="Avenir"/>
              </a:defRPr>
            </a:lvl6pPr>
            <a:lvl7pPr algn="l">
              <a:defRPr sz="1425" b="1">
                <a:solidFill>
                  <a:srgbClr val="9BE3BD"/>
                </a:solidFill>
                <a:latin typeface="Avenir"/>
                <a:ea typeface="Avenir"/>
                <a:cs typeface="Avenir"/>
              </a:defRPr>
            </a:lvl7pPr>
            <a:lvl8pPr algn="l">
              <a:defRPr sz="1425" b="1">
                <a:solidFill>
                  <a:srgbClr val="9BE3BD"/>
                </a:solidFill>
                <a:latin typeface="Avenir"/>
                <a:ea typeface="Avenir"/>
                <a:cs typeface="Avenir"/>
              </a:defRPr>
            </a:lvl8pPr>
            <a:lvl9pPr algn="l">
              <a:defRPr sz="1425" b="1">
                <a:solidFill>
                  <a:srgbClr val="9BE3BD"/>
                </a:solidFill>
                <a:latin typeface="Avenir"/>
                <a:ea typeface="Avenir"/>
                <a:cs typeface="Avenir"/>
              </a:defRPr>
            </a:lvl9pPr>
          </a:lstStyle>
          <a:p xmlns:a="http://schemas.openxmlformats.org/drawingml/2006/main">
            <a:pPr algn="l">
              <a:lnSpc>
                <a:spcPct val="105000"/>
              </a:lnSpc>
              <a:buNone/>
              <a:defRPr sz="1425" b="1">
                <a:solidFill>
                  <a:srgbClr val="9BE3BD"/>
                </a:solidFill>
                <a:latin typeface="Avenir"/>
                <a:ea typeface="Avenir"/>
                <a:cs typeface="Avenir"/>
              </a:defRPr>
            </a:pPr>
            <a:r>
              <a:rPr sz="1425" b="1">
                <a:solidFill>
                  <a:srgbClr val="9BE3BD"/>
                </a:solidFill>
                <a:latin typeface="Avenir"/>
                <a:ea typeface="Avenir"/>
                <a:cs typeface="Avenir"/>
              </a:rPr>
              <a:t>Python idea</a:t>
            </a:r>
          </a:p>
        </p:txBody>
      </p:sp>
      <p:sp>
        <p:nvSpPr>
          <p:cNvPr id="5" name="">
            <a:extLst xmlns:a="http://schemas.openxmlformats.org/drawingml/2006/main">
              <a:ext uri="{FF2B5EF4-FFF2-40B4-BE49-F238E27FC236}">
                <a16:creationId xmlns:a16="http://schemas.microsoft.com/office/drawing/2014/main" id="{70483725-9A4B-430D-8181-882533528804}"/>
              </a:ext>
            </a:extLst>
          </p:cNvPr>
          <p:cNvSpPr>
            <a:spLocks xmlns:a="http://schemas.openxmlformats.org/drawingml/2006/main" noGrp="1"/>
          </p:cNvSpPr>
          <p:nvPr/>
        </p:nvSpPr>
        <p:spPr>
          <a:xfrm xmlns:a="http://schemas.openxmlformats.org/drawingml/2006/main">
            <a:off x="742950" y="257175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4F7FB"/>
                </a:solidFill>
                <a:latin typeface="Menlo"/>
                <a:ea typeface="Menlo"/>
                <a:cs typeface="Menlo"/>
              </a:defRPr>
            </a:defPPr>
            <a:lvl1pPr algn="l">
              <a:defRPr sz="1800" b="0">
                <a:solidFill>
                  <a:srgbClr val="F4F7FB"/>
                </a:solidFill>
                <a:latin typeface="Menlo"/>
                <a:ea typeface="Menlo"/>
                <a:cs typeface="Menlo"/>
              </a:defRPr>
            </a:lvl1pPr>
            <a:lvl2pPr algn="l">
              <a:defRPr sz="1800" b="0">
                <a:solidFill>
                  <a:srgbClr val="F4F7FB"/>
                </a:solidFill>
                <a:latin typeface="Menlo"/>
                <a:ea typeface="Menlo"/>
                <a:cs typeface="Menlo"/>
              </a:defRPr>
            </a:lvl2pPr>
            <a:lvl3pPr algn="l">
              <a:defRPr sz="1800" b="0">
                <a:solidFill>
                  <a:srgbClr val="F4F7FB"/>
                </a:solidFill>
                <a:latin typeface="Menlo"/>
                <a:ea typeface="Menlo"/>
                <a:cs typeface="Menlo"/>
              </a:defRPr>
            </a:lvl3pPr>
            <a:lvl4pPr algn="l">
              <a:defRPr sz="1800" b="0">
                <a:solidFill>
                  <a:srgbClr val="F4F7FB"/>
                </a:solidFill>
                <a:latin typeface="Menlo"/>
                <a:ea typeface="Menlo"/>
                <a:cs typeface="Menlo"/>
              </a:defRPr>
            </a:lvl4pPr>
            <a:lvl5pPr algn="l">
              <a:defRPr sz="1800" b="0">
                <a:solidFill>
                  <a:srgbClr val="F4F7FB"/>
                </a:solidFill>
                <a:latin typeface="Menlo"/>
                <a:ea typeface="Menlo"/>
                <a:cs typeface="Menlo"/>
              </a:defRPr>
            </a:lvl5pPr>
            <a:lvl6pPr algn="l">
              <a:defRPr sz="1800" b="0">
                <a:solidFill>
                  <a:srgbClr val="F4F7FB"/>
                </a:solidFill>
                <a:latin typeface="Menlo"/>
                <a:ea typeface="Menlo"/>
                <a:cs typeface="Menlo"/>
              </a:defRPr>
            </a:lvl6pPr>
            <a:lvl7pPr algn="l">
              <a:defRPr sz="1800" b="0">
                <a:solidFill>
                  <a:srgbClr val="F4F7FB"/>
                </a:solidFill>
                <a:latin typeface="Menlo"/>
                <a:ea typeface="Menlo"/>
                <a:cs typeface="Menlo"/>
              </a:defRPr>
            </a:lvl7pPr>
            <a:lvl8pPr algn="l">
              <a:defRPr sz="1800" b="0">
                <a:solidFill>
                  <a:srgbClr val="F4F7FB"/>
                </a:solidFill>
                <a:latin typeface="Menlo"/>
                <a:ea typeface="Menlo"/>
                <a:cs typeface="Menlo"/>
              </a:defRPr>
            </a:lvl8pPr>
            <a:lvl9pPr algn="l">
              <a:defRPr sz="1800" b="0">
                <a:solidFill>
                  <a:srgbClr val="F4F7FB"/>
                </a:solidFill>
                <a:latin typeface="Menlo"/>
                <a:ea typeface="Menlo"/>
                <a:cs typeface="Menlo"/>
              </a:defRPr>
            </a:lvl9pPr>
          </a:lstStyle>
          <a:p xmlns:a="http://schemas.openxmlformats.org/drawingml/2006/main">
            <a:pPr algn="l">
              <a:lnSpc>
                <a:spcPct val="120000"/>
              </a:lnSpc>
              <a:buNone/>
              <a:defRPr sz="1800" b="0">
                <a:solidFill>
                  <a:srgbClr val="F4F7FB"/>
                </a:solidFill>
                <a:latin typeface="Menlo"/>
                <a:ea typeface="Menlo"/>
                <a:cs typeface="Menlo"/>
              </a:defRPr>
            </a:pPr>
            <a:r>
              <a:rPr sz="1800" b="0">
                <a:solidFill>
                  <a:srgbClr val="F4F7FB"/>
                </a:solidFill>
                <a:latin typeface="Menlo"/>
                <a:ea typeface="Menlo"/>
                <a:cs typeface="Menlo"/>
              </a:rPr>
              <a:t>total = 0</a:t>
            </a:r>
          </a:p>
          <a:p xmlns:a="http://schemas.openxmlformats.org/drawingml/2006/main">
            <a:pPr algn="l">
              <a:lnSpc>
                <a:spcPct val="120000"/>
              </a:lnSpc>
              <a:buNone/>
              <a:defRPr sz="1800" b="0">
                <a:solidFill>
                  <a:srgbClr val="F4F7FB"/>
                </a:solidFill>
                <a:latin typeface="Menlo"/>
                <a:ea typeface="Menlo"/>
                <a:cs typeface="Menlo"/>
              </a:defRPr>
            </a:pPr>
            <a:r>
              <a:rPr sz="1800" b="0">
                <a:solidFill>
                  <a:srgbClr val="F4F7FB"/>
                </a:solidFill>
                <a:latin typeface="Menlo"/>
                <a:ea typeface="Menlo"/>
                <a:cs typeface="Menlo"/>
              </a:rPr>
              <a:t>for i in range(1, 11):</a:t>
            </a:r>
          </a:p>
          <a:p xmlns:a="http://schemas.openxmlformats.org/drawingml/2006/main">
            <a:pPr algn="l">
              <a:lnSpc>
                <a:spcPct val="120000"/>
              </a:lnSpc>
              <a:buNone/>
              <a:defRPr sz="1800" b="0">
                <a:solidFill>
                  <a:srgbClr val="F4F7FB"/>
                </a:solidFill>
                <a:latin typeface="Menlo"/>
                <a:ea typeface="Menlo"/>
                <a:cs typeface="Menlo"/>
              </a:defRPr>
            </a:pPr>
            <a:r>
              <a:rPr sz="1800" b="0">
                <a:solidFill>
                  <a:srgbClr val="F4F7FB"/>
                </a:solidFill>
                <a:latin typeface="Menlo"/>
                <a:ea typeface="Menlo"/>
                <a:cs typeface="Menlo"/>
              </a:rPr>
              <a:t>    total += i</a:t>
            </a:r>
          </a:p>
        </p:txBody>
      </p:sp>
      <p:sp>
        <p:nvSpPr>
          <p:cNvPr id="6" name="">
            <a:extLst xmlns:a="http://schemas.openxmlformats.org/drawingml/2006/main">
              <a:ext uri="{FF2B5EF4-FFF2-40B4-BE49-F238E27FC236}">
                <a16:creationId xmlns:a16="http://schemas.microsoft.com/office/drawing/2014/main" id="{3A6E0605-1691-4B47-AAAA-72B7D1D7A526}"/>
              </a:ext>
            </a:extLst>
          </p:cNvPr>
          <p:cNvSpPr>
            <a:spLocks xmlns:a="http://schemas.openxmlformats.org/drawingml/2006/main" noGrp="1"/>
          </p:cNvSpPr>
          <p:nvPr/>
        </p:nvSpPr>
        <p:spPr>
          <a:xfrm xmlns:a="http://schemas.openxmlformats.org/drawingml/2006/main">
            <a:off x="742950" y="4143375"/>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9BE3BD"/>
                </a:solidFill>
                <a:latin typeface="Avenir"/>
                <a:ea typeface="Avenir"/>
                <a:cs typeface="Avenir"/>
              </a:defRPr>
            </a:defPPr>
            <a:lvl1pPr algn="l">
              <a:defRPr sz="1425" b="1">
                <a:solidFill>
                  <a:srgbClr val="9BE3BD"/>
                </a:solidFill>
                <a:latin typeface="Avenir"/>
                <a:ea typeface="Avenir"/>
                <a:cs typeface="Avenir"/>
              </a:defRPr>
            </a:lvl1pPr>
            <a:lvl2pPr algn="l">
              <a:defRPr sz="1425" b="1">
                <a:solidFill>
                  <a:srgbClr val="9BE3BD"/>
                </a:solidFill>
                <a:latin typeface="Avenir"/>
                <a:ea typeface="Avenir"/>
                <a:cs typeface="Avenir"/>
              </a:defRPr>
            </a:lvl2pPr>
            <a:lvl3pPr algn="l">
              <a:defRPr sz="1425" b="1">
                <a:solidFill>
                  <a:srgbClr val="9BE3BD"/>
                </a:solidFill>
                <a:latin typeface="Avenir"/>
                <a:ea typeface="Avenir"/>
                <a:cs typeface="Avenir"/>
              </a:defRPr>
            </a:lvl3pPr>
            <a:lvl4pPr algn="l">
              <a:defRPr sz="1425" b="1">
                <a:solidFill>
                  <a:srgbClr val="9BE3BD"/>
                </a:solidFill>
                <a:latin typeface="Avenir"/>
                <a:ea typeface="Avenir"/>
                <a:cs typeface="Avenir"/>
              </a:defRPr>
            </a:lvl4pPr>
            <a:lvl5pPr algn="l">
              <a:defRPr sz="1425" b="1">
                <a:solidFill>
                  <a:srgbClr val="9BE3BD"/>
                </a:solidFill>
                <a:latin typeface="Avenir"/>
                <a:ea typeface="Avenir"/>
                <a:cs typeface="Avenir"/>
              </a:defRPr>
            </a:lvl5pPr>
            <a:lvl6pPr algn="l">
              <a:defRPr sz="1425" b="1">
                <a:solidFill>
                  <a:srgbClr val="9BE3BD"/>
                </a:solidFill>
                <a:latin typeface="Avenir"/>
                <a:ea typeface="Avenir"/>
                <a:cs typeface="Avenir"/>
              </a:defRPr>
            </a:lvl6pPr>
            <a:lvl7pPr algn="l">
              <a:defRPr sz="1425" b="1">
                <a:solidFill>
                  <a:srgbClr val="9BE3BD"/>
                </a:solidFill>
                <a:latin typeface="Avenir"/>
                <a:ea typeface="Avenir"/>
                <a:cs typeface="Avenir"/>
              </a:defRPr>
            </a:lvl7pPr>
            <a:lvl8pPr algn="l">
              <a:defRPr sz="1425" b="1">
                <a:solidFill>
                  <a:srgbClr val="9BE3BD"/>
                </a:solidFill>
                <a:latin typeface="Avenir"/>
                <a:ea typeface="Avenir"/>
                <a:cs typeface="Avenir"/>
              </a:defRPr>
            </a:lvl8pPr>
            <a:lvl9pPr algn="l">
              <a:defRPr sz="1425" b="1">
                <a:solidFill>
                  <a:srgbClr val="9BE3BD"/>
                </a:solidFill>
                <a:latin typeface="Avenir"/>
                <a:ea typeface="Avenir"/>
                <a:cs typeface="Avenir"/>
              </a:defRPr>
            </a:lvl9pPr>
          </a:lstStyle>
          <a:p xmlns:a="http://schemas.openxmlformats.org/drawingml/2006/main">
            <a:pPr algn="l">
              <a:lnSpc>
                <a:spcPct val="105000"/>
              </a:lnSpc>
              <a:buNone/>
              <a:defRPr sz="1425" b="1">
                <a:solidFill>
                  <a:srgbClr val="9BE3BD"/>
                </a:solidFill>
                <a:latin typeface="Avenir"/>
                <a:ea typeface="Avenir"/>
                <a:cs typeface="Avenir"/>
              </a:defRPr>
            </a:pPr>
            <a:r>
              <a:rPr sz="1425" b="1">
                <a:solidFill>
                  <a:srgbClr val="9BE3BD"/>
                </a:solidFill>
                <a:latin typeface="Avenir"/>
                <a:ea typeface="Avenir"/>
                <a:cs typeface="Avenir"/>
              </a:rPr>
              <a:t>Lowered IR</a:t>
            </a:r>
          </a:p>
        </p:txBody>
      </p:sp>
      <p:sp>
        <p:nvSpPr>
          <p:cNvPr id="7" name="">
            <a:extLst xmlns:a="http://schemas.openxmlformats.org/drawingml/2006/main">
              <a:ext uri="{FF2B5EF4-FFF2-40B4-BE49-F238E27FC236}">
                <a16:creationId xmlns:a16="http://schemas.microsoft.com/office/drawing/2014/main" id="{5842F0E1-1D90-4784-AC9B-90ACA4298C12}"/>
              </a:ext>
            </a:extLst>
          </p:cNvPr>
          <p:cNvSpPr>
            <a:spLocks xmlns:a="http://schemas.openxmlformats.org/drawingml/2006/main" noGrp="1"/>
          </p:cNvSpPr>
          <p:nvPr/>
        </p:nvSpPr>
        <p:spPr>
          <a:xfrm xmlns:a="http://schemas.openxmlformats.org/drawingml/2006/main">
            <a:off x="742950" y="4572000"/>
            <a:ext cx="4762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47"/>
          </a:bodyPr>
          <a:lstStyle xmlns:a="http://schemas.openxmlformats.org/drawingml/2006/main">
            <a:defPPr algn="l">
              <a:defRPr sz="1425" b="0">
                <a:solidFill>
                  <a:srgbClr val="F4F7FB"/>
                </a:solidFill>
                <a:latin typeface="Menlo"/>
                <a:ea typeface="Menlo"/>
                <a:cs typeface="Menlo"/>
              </a:defRPr>
            </a:defPPr>
            <a:lvl1pPr algn="l">
              <a:defRPr sz="1425" b="0">
                <a:solidFill>
                  <a:srgbClr val="F4F7FB"/>
                </a:solidFill>
                <a:latin typeface="Menlo"/>
                <a:ea typeface="Menlo"/>
                <a:cs typeface="Menlo"/>
              </a:defRPr>
            </a:lvl1pPr>
            <a:lvl2pPr algn="l">
              <a:defRPr sz="1425" b="0">
                <a:solidFill>
                  <a:srgbClr val="F4F7FB"/>
                </a:solidFill>
                <a:latin typeface="Menlo"/>
                <a:ea typeface="Menlo"/>
                <a:cs typeface="Menlo"/>
              </a:defRPr>
            </a:lvl2pPr>
            <a:lvl3pPr algn="l">
              <a:defRPr sz="1425" b="0">
                <a:solidFill>
                  <a:srgbClr val="F4F7FB"/>
                </a:solidFill>
                <a:latin typeface="Menlo"/>
                <a:ea typeface="Menlo"/>
                <a:cs typeface="Menlo"/>
              </a:defRPr>
            </a:lvl3pPr>
            <a:lvl4pPr algn="l">
              <a:defRPr sz="1425" b="0">
                <a:solidFill>
                  <a:srgbClr val="F4F7FB"/>
                </a:solidFill>
                <a:latin typeface="Menlo"/>
                <a:ea typeface="Menlo"/>
                <a:cs typeface="Menlo"/>
              </a:defRPr>
            </a:lvl4pPr>
            <a:lvl5pPr algn="l">
              <a:defRPr sz="1425" b="0">
                <a:solidFill>
                  <a:srgbClr val="F4F7FB"/>
                </a:solidFill>
                <a:latin typeface="Menlo"/>
                <a:ea typeface="Menlo"/>
                <a:cs typeface="Menlo"/>
              </a:defRPr>
            </a:lvl5pPr>
            <a:lvl6pPr algn="l">
              <a:defRPr sz="1425" b="0">
                <a:solidFill>
                  <a:srgbClr val="F4F7FB"/>
                </a:solidFill>
                <a:latin typeface="Menlo"/>
                <a:ea typeface="Menlo"/>
                <a:cs typeface="Menlo"/>
              </a:defRPr>
            </a:lvl6pPr>
            <a:lvl7pPr algn="l">
              <a:defRPr sz="1425" b="0">
                <a:solidFill>
                  <a:srgbClr val="F4F7FB"/>
                </a:solidFill>
                <a:latin typeface="Menlo"/>
                <a:ea typeface="Menlo"/>
                <a:cs typeface="Menlo"/>
              </a:defRPr>
            </a:lvl7pPr>
            <a:lvl8pPr algn="l">
              <a:defRPr sz="1425" b="0">
                <a:solidFill>
                  <a:srgbClr val="F4F7FB"/>
                </a:solidFill>
                <a:latin typeface="Menlo"/>
                <a:ea typeface="Menlo"/>
                <a:cs typeface="Menlo"/>
              </a:defRPr>
            </a:lvl8pPr>
            <a:lvl9pPr algn="l">
              <a:defRPr sz="1425" b="0">
                <a:solidFill>
                  <a:srgbClr val="F4F7FB"/>
                </a:solidFill>
                <a:latin typeface="Menlo"/>
                <a:ea typeface="Menlo"/>
                <a:cs typeface="Menlo"/>
              </a:defRPr>
            </a:lvl9pPr>
          </a:lstStyle>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total = 0</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i = 1</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loop:  c = i &gt; 10</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ifnz c goto done</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total = total + i</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i = i + 1</a:t>
            </a:r>
          </a:p>
          <a:p xmlns:a="http://schemas.openxmlformats.org/drawingml/2006/main">
            <a:pPr algn="l">
              <a:lnSpc>
                <a:spcPct val="112000"/>
              </a:lnSpc>
              <a:buNone/>
              <a:defRPr sz="1425" b="0">
                <a:solidFill>
                  <a:srgbClr val="F4F7FB"/>
                </a:solidFill>
                <a:latin typeface="Menlo"/>
                <a:ea typeface="Menlo"/>
                <a:cs typeface="Menlo"/>
              </a:defRPr>
            </a:pPr>
            <a:r>
              <a:rPr sz="1425" b="0">
                <a:solidFill>
                  <a:srgbClr val="F4F7FB"/>
                </a:solidFill>
                <a:latin typeface="Menlo"/>
                <a:ea typeface="Menlo"/>
                <a:cs typeface="Menlo"/>
              </a:rPr>
              <a:t>goto loop</a:t>
            </a:r>
          </a:p>
        </p:txBody>
      </p:sp>
      <p:sp>
        <p:nvSpPr>
          <p:cNvPr id="8" name="">
            <a:extLst xmlns:a="http://schemas.openxmlformats.org/drawingml/2006/main">
              <a:ext uri="{FF2B5EF4-FFF2-40B4-BE49-F238E27FC236}">
                <a16:creationId xmlns:a16="http://schemas.microsoft.com/office/drawing/2014/main" id="{9FF11B2F-4373-46D9-9827-44A0320AD3C7}"/>
              </a:ext>
            </a:extLst>
          </p:cNvPr>
          <p:cNvSpPr>
            <a:spLocks xmlns:a="http://schemas.openxmlformats.org/drawingml/2006/main" noGrp="1"/>
          </p:cNvSpPr>
          <p:nvPr/>
        </p:nvSpPr>
        <p:spPr>
          <a:xfrm xmlns:a="http://schemas.openxmlformats.org/drawingml/2006/main">
            <a:off x="6153150" y="20955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AD6E6"/>
                </a:solidFill>
                <a:latin typeface="Avenir"/>
                <a:ea typeface="Avenir"/>
                <a:cs typeface="Avenir"/>
              </a:defRPr>
            </a:defPPr>
            <a:lvl1pPr algn="l">
              <a:defRPr sz="1425" b="1">
                <a:solidFill>
                  <a:srgbClr val="5AD6E6"/>
                </a:solidFill>
                <a:latin typeface="Avenir"/>
                <a:ea typeface="Avenir"/>
                <a:cs typeface="Avenir"/>
              </a:defRPr>
            </a:lvl1pPr>
            <a:lvl2pPr algn="l">
              <a:defRPr sz="1425" b="1">
                <a:solidFill>
                  <a:srgbClr val="5AD6E6"/>
                </a:solidFill>
                <a:latin typeface="Avenir"/>
                <a:ea typeface="Avenir"/>
                <a:cs typeface="Avenir"/>
              </a:defRPr>
            </a:lvl2pPr>
            <a:lvl3pPr algn="l">
              <a:defRPr sz="1425" b="1">
                <a:solidFill>
                  <a:srgbClr val="5AD6E6"/>
                </a:solidFill>
                <a:latin typeface="Avenir"/>
                <a:ea typeface="Avenir"/>
                <a:cs typeface="Avenir"/>
              </a:defRPr>
            </a:lvl3pPr>
            <a:lvl4pPr algn="l">
              <a:defRPr sz="1425" b="1">
                <a:solidFill>
                  <a:srgbClr val="5AD6E6"/>
                </a:solidFill>
                <a:latin typeface="Avenir"/>
                <a:ea typeface="Avenir"/>
                <a:cs typeface="Avenir"/>
              </a:defRPr>
            </a:lvl4pPr>
            <a:lvl5pPr algn="l">
              <a:defRPr sz="1425" b="1">
                <a:solidFill>
                  <a:srgbClr val="5AD6E6"/>
                </a:solidFill>
                <a:latin typeface="Avenir"/>
                <a:ea typeface="Avenir"/>
                <a:cs typeface="Avenir"/>
              </a:defRPr>
            </a:lvl5pPr>
            <a:lvl6pPr algn="l">
              <a:defRPr sz="1425" b="1">
                <a:solidFill>
                  <a:srgbClr val="5AD6E6"/>
                </a:solidFill>
                <a:latin typeface="Avenir"/>
                <a:ea typeface="Avenir"/>
                <a:cs typeface="Avenir"/>
              </a:defRPr>
            </a:lvl6pPr>
            <a:lvl7pPr algn="l">
              <a:defRPr sz="1425" b="1">
                <a:solidFill>
                  <a:srgbClr val="5AD6E6"/>
                </a:solidFill>
                <a:latin typeface="Avenir"/>
                <a:ea typeface="Avenir"/>
                <a:cs typeface="Avenir"/>
              </a:defRPr>
            </a:lvl7pPr>
            <a:lvl8pPr algn="l">
              <a:defRPr sz="1425" b="1">
                <a:solidFill>
                  <a:srgbClr val="5AD6E6"/>
                </a:solidFill>
                <a:latin typeface="Avenir"/>
                <a:ea typeface="Avenir"/>
                <a:cs typeface="Avenir"/>
              </a:defRPr>
            </a:lvl8pPr>
            <a:lvl9pPr algn="l">
              <a:defRPr sz="1425" b="1">
                <a:solidFill>
                  <a:srgbClr val="5AD6E6"/>
                </a:solidFill>
                <a:latin typeface="Avenir"/>
                <a:ea typeface="Avenir"/>
                <a:cs typeface="Avenir"/>
              </a:defRPr>
            </a:lvl9pPr>
          </a:lstStyle>
          <a:p xmlns:a="http://schemas.openxmlformats.org/drawingml/2006/main">
            <a:pPr algn="l">
              <a:lnSpc>
                <a:spcPct val="105000"/>
              </a:lnSpc>
              <a:buNone/>
              <a:defRPr sz="1425" b="1">
                <a:solidFill>
                  <a:srgbClr val="5AD6E6"/>
                </a:solidFill>
                <a:latin typeface="Avenir"/>
                <a:ea typeface="Avenir"/>
                <a:cs typeface="Avenir"/>
              </a:defRPr>
            </a:pPr>
            <a:r>
              <a:rPr sz="1425" b="1">
                <a:solidFill>
                  <a:srgbClr val="5AD6E6"/>
                </a:solidFill>
                <a:latin typeface="Avenir"/>
                <a:ea typeface="Avenir"/>
                <a:cs typeface="Avenir"/>
              </a:rPr>
              <a:t>Basic blocks</a:t>
            </a:r>
          </a:p>
        </p:txBody>
      </p:sp>
      <p:sp>
        <p:nvSpPr>
          <p:cNvPr id="9" name="">
            <a:extLst xmlns:a="http://schemas.openxmlformats.org/drawingml/2006/main">
              <a:ext uri="{FF2B5EF4-FFF2-40B4-BE49-F238E27FC236}">
                <a16:creationId xmlns:a16="http://schemas.microsoft.com/office/drawing/2014/main" id="{D56D6243-C98F-4B33-B7B8-2D41D4A09D0C}"/>
              </a:ext>
            </a:extLst>
          </p:cNvPr>
          <p:cNvSpPr>
            <a:spLocks xmlns:a="http://schemas.openxmlformats.org/drawingml/2006/main" noGrp="1"/>
          </p:cNvSpPr>
          <p:nvPr/>
        </p:nvSpPr>
        <p:spPr>
          <a:xfrm xmlns:a="http://schemas.openxmlformats.org/drawingml/2006/main">
            <a:off x="6324600" y="2705100"/>
            <a:ext cx="2190750" cy="781050"/>
          </a:xfrm>
          <a:prstGeom xmlns:a="http://schemas.openxmlformats.org/drawingml/2006/main" prst="roundRect">
            <a:avLst>
              <a:gd name="adj" fmla="val 17073"/>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98808"/>
          </a:bodyPr>
          <a:lstStyle xmlns:a="http://schemas.openxmlformats.org/drawingml/2006/main">
            <a:defPPr algn="ctr">
              <a:defRPr sz="1500" b="0">
                <a:solidFill>
                  <a:srgbClr val="F4F7FB"/>
                </a:solidFill>
                <a:latin typeface="Menlo"/>
                <a:ea typeface="Menlo"/>
                <a:cs typeface="Menlo"/>
              </a:defRPr>
            </a:defPPr>
            <a:lvl1pPr algn="ctr">
              <a:defRPr sz="1500" b="0">
                <a:solidFill>
                  <a:srgbClr val="F4F7FB"/>
                </a:solidFill>
                <a:latin typeface="Menlo"/>
                <a:ea typeface="Menlo"/>
                <a:cs typeface="Menlo"/>
              </a:defRPr>
            </a:lvl1pPr>
            <a:lvl2pPr algn="ctr">
              <a:defRPr sz="1500" b="0">
                <a:solidFill>
                  <a:srgbClr val="F4F7FB"/>
                </a:solidFill>
                <a:latin typeface="Menlo"/>
                <a:ea typeface="Menlo"/>
                <a:cs typeface="Menlo"/>
              </a:defRPr>
            </a:lvl2pPr>
            <a:lvl3pPr algn="ctr">
              <a:defRPr sz="1500" b="0">
                <a:solidFill>
                  <a:srgbClr val="F4F7FB"/>
                </a:solidFill>
                <a:latin typeface="Menlo"/>
                <a:ea typeface="Menlo"/>
                <a:cs typeface="Menlo"/>
              </a:defRPr>
            </a:lvl3pPr>
            <a:lvl4pPr algn="ctr">
              <a:defRPr sz="1500" b="0">
                <a:solidFill>
                  <a:srgbClr val="F4F7FB"/>
                </a:solidFill>
                <a:latin typeface="Menlo"/>
                <a:ea typeface="Menlo"/>
                <a:cs typeface="Menlo"/>
              </a:defRPr>
            </a:lvl4pPr>
            <a:lvl5pPr algn="ctr">
              <a:defRPr sz="1500" b="0">
                <a:solidFill>
                  <a:srgbClr val="F4F7FB"/>
                </a:solidFill>
                <a:latin typeface="Menlo"/>
                <a:ea typeface="Menlo"/>
                <a:cs typeface="Menlo"/>
              </a:defRPr>
            </a:lvl5pPr>
            <a:lvl6pPr algn="ctr">
              <a:defRPr sz="1500" b="0">
                <a:solidFill>
                  <a:srgbClr val="F4F7FB"/>
                </a:solidFill>
                <a:latin typeface="Menlo"/>
                <a:ea typeface="Menlo"/>
                <a:cs typeface="Menlo"/>
              </a:defRPr>
            </a:lvl6pPr>
            <a:lvl7pPr algn="ctr">
              <a:defRPr sz="1500" b="0">
                <a:solidFill>
                  <a:srgbClr val="F4F7FB"/>
                </a:solidFill>
                <a:latin typeface="Menlo"/>
                <a:ea typeface="Menlo"/>
                <a:cs typeface="Menlo"/>
              </a:defRPr>
            </a:lvl7pPr>
            <a:lvl8pPr algn="ctr">
              <a:defRPr sz="1500" b="0">
                <a:solidFill>
                  <a:srgbClr val="F4F7FB"/>
                </a:solidFill>
                <a:latin typeface="Menlo"/>
                <a:ea typeface="Menlo"/>
                <a:cs typeface="Menlo"/>
              </a:defRPr>
            </a:lvl8pPr>
            <a:lvl9pPr algn="ctr">
              <a:defRPr sz="1500" b="0">
                <a:solidFill>
                  <a:srgbClr val="F4F7FB"/>
                </a:solidFill>
                <a:latin typeface="Menlo"/>
                <a:ea typeface="Menlo"/>
                <a:cs typeface="Menlo"/>
              </a:defRPr>
            </a:lvl9pPr>
          </a:lstStyle>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B1  condition</a:t>
            </a:r>
          </a:p>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i &gt; 10</a:t>
            </a:r>
          </a:p>
        </p:txBody>
      </p:sp>
      <p:sp>
        <p:nvSpPr>
          <p:cNvPr id="10" name="">
            <a:extLst xmlns:a="http://schemas.openxmlformats.org/drawingml/2006/main">
              <a:ext uri="{FF2B5EF4-FFF2-40B4-BE49-F238E27FC236}">
                <a16:creationId xmlns:a16="http://schemas.microsoft.com/office/drawing/2014/main" id="{E821E8E6-D94B-4C74-A6F6-F77349F3B4CC}"/>
              </a:ext>
            </a:extLst>
          </p:cNvPr>
          <p:cNvSpPr>
            <a:spLocks xmlns:a="http://schemas.openxmlformats.org/drawingml/2006/main" noGrp="1"/>
          </p:cNvSpPr>
          <p:nvPr/>
        </p:nvSpPr>
        <p:spPr>
          <a:xfrm xmlns:a="http://schemas.openxmlformats.org/drawingml/2006/main">
            <a:off x="6324600" y="4210050"/>
            <a:ext cx="2190750" cy="895350"/>
          </a:xfrm>
          <a:prstGeom xmlns:a="http://schemas.openxmlformats.org/drawingml/2006/main" prst="roundRect">
            <a:avLst>
              <a:gd name="adj" fmla="val 14894"/>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425" b="0">
                <a:solidFill>
                  <a:srgbClr val="F4F7FB"/>
                </a:solidFill>
                <a:latin typeface="Menlo"/>
                <a:ea typeface="Menlo"/>
                <a:cs typeface="Menlo"/>
              </a:defRPr>
            </a:defPPr>
            <a:lvl1pPr algn="ctr">
              <a:defRPr sz="1425" b="0">
                <a:solidFill>
                  <a:srgbClr val="F4F7FB"/>
                </a:solidFill>
                <a:latin typeface="Menlo"/>
                <a:ea typeface="Menlo"/>
                <a:cs typeface="Menlo"/>
              </a:defRPr>
            </a:lvl1pPr>
            <a:lvl2pPr algn="ctr">
              <a:defRPr sz="1425" b="0">
                <a:solidFill>
                  <a:srgbClr val="F4F7FB"/>
                </a:solidFill>
                <a:latin typeface="Menlo"/>
                <a:ea typeface="Menlo"/>
                <a:cs typeface="Menlo"/>
              </a:defRPr>
            </a:lvl2pPr>
            <a:lvl3pPr algn="ctr">
              <a:defRPr sz="1425" b="0">
                <a:solidFill>
                  <a:srgbClr val="F4F7FB"/>
                </a:solidFill>
                <a:latin typeface="Menlo"/>
                <a:ea typeface="Menlo"/>
                <a:cs typeface="Menlo"/>
              </a:defRPr>
            </a:lvl3pPr>
            <a:lvl4pPr algn="ctr">
              <a:defRPr sz="1425" b="0">
                <a:solidFill>
                  <a:srgbClr val="F4F7FB"/>
                </a:solidFill>
                <a:latin typeface="Menlo"/>
                <a:ea typeface="Menlo"/>
                <a:cs typeface="Menlo"/>
              </a:defRPr>
            </a:lvl4pPr>
            <a:lvl5pPr algn="ctr">
              <a:defRPr sz="1425" b="0">
                <a:solidFill>
                  <a:srgbClr val="F4F7FB"/>
                </a:solidFill>
                <a:latin typeface="Menlo"/>
                <a:ea typeface="Menlo"/>
                <a:cs typeface="Menlo"/>
              </a:defRPr>
            </a:lvl5pPr>
            <a:lvl6pPr algn="ctr">
              <a:defRPr sz="1425" b="0">
                <a:solidFill>
                  <a:srgbClr val="F4F7FB"/>
                </a:solidFill>
                <a:latin typeface="Menlo"/>
                <a:ea typeface="Menlo"/>
                <a:cs typeface="Menlo"/>
              </a:defRPr>
            </a:lvl6pPr>
            <a:lvl7pPr algn="ctr">
              <a:defRPr sz="1425" b="0">
                <a:solidFill>
                  <a:srgbClr val="F4F7FB"/>
                </a:solidFill>
                <a:latin typeface="Menlo"/>
                <a:ea typeface="Menlo"/>
                <a:cs typeface="Menlo"/>
              </a:defRPr>
            </a:lvl7pPr>
            <a:lvl8pPr algn="ctr">
              <a:defRPr sz="1425" b="0">
                <a:solidFill>
                  <a:srgbClr val="F4F7FB"/>
                </a:solidFill>
                <a:latin typeface="Menlo"/>
                <a:ea typeface="Menlo"/>
                <a:cs typeface="Menlo"/>
              </a:defRPr>
            </a:lvl8pPr>
            <a:lvl9pPr algn="ctr">
              <a:defRPr sz="1425" b="0">
                <a:solidFill>
                  <a:srgbClr val="F4F7FB"/>
                </a:solidFill>
                <a:latin typeface="Menlo"/>
                <a:ea typeface="Menlo"/>
                <a:cs typeface="Menlo"/>
              </a:defRPr>
            </a:lvl9pPr>
          </a:lstStyle>
          <a:p xmlns:a="http://schemas.openxmlformats.org/drawingml/2006/main">
            <a:pPr algn="ctr">
              <a:lnSpc>
                <a:spcPct val="105000"/>
              </a:lnSpc>
              <a:buNone/>
              <a:defRPr sz="1425" b="0">
                <a:solidFill>
                  <a:srgbClr val="F4F7FB"/>
                </a:solidFill>
                <a:latin typeface="Menlo"/>
                <a:ea typeface="Menlo"/>
                <a:cs typeface="Menlo"/>
              </a:defRPr>
            </a:pPr>
            <a:r>
              <a:rPr sz="1425" b="0">
                <a:solidFill>
                  <a:srgbClr val="F4F7FB"/>
                </a:solidFill>
                <a:latin typeface="Menlo"/>
                <a:ea typeface="Menlo"/>
                <a:cs typeface="Menlo"/>
              </a:rPr>
              <a:t>B2  loop body</a:t>
            </a:r>
          </a:p>
          <a:p xmlns:a="http://schemas.openxmlformats.org/drawingml/2006/main">
            <a:pPr algn="ctr">
              <a:lnSpc>
                <a:spcPct val="105000"/>
              </a:lnSpc>
              <a:buNone/>
              <a:defRPr sz="1425" b="0">
                <a:solidFill>
                  <a:srgbClr val="F4F7FB"/>
                </a:solidFill>
                <a:latin typeface="Menlo"/>
                <a:ea typeface="Menlo"/>
                <a:cs typeface="Menlo"/>
              </a:defRPr>
            </a:pPr>
            <a:r>
              <a:rPr sz="1425" b="0">
                <a:solidFill>
                  <a:srgbClr val="F4F7FB"/>
                </a:solidFill>
                <a:latin typeface="Menlo"/>
                <a:ea typeface="Menlo"/>
                <a:cs typeface="Menlo"/>
              </a:rPr>
              <a:t>update total, i</a:t>
            </a:r>
          </a:p>
        </p:txBody>
      </p:sp>
      <p:sp>
        <p:nvSpPr>
          <p:cNvPr id="11" name="">
            <a:extLst xmlns:a="http://schemas.openxmlformats.org/drawingml/2006/main">
              <a:ext uri="{FF2B5EF4-FFF2-40B4-BE49-F238E27FC236}">
                <a16:creationId xmlns:a16="http://schemas.microsoft.com/office/drawing/2014/main" id="{AC7E31AB-14E5-4A3B-9D0E-92D97AFA66FE}"/>
              </a:ext>
            </a:extLst>
          </p:cNvPr>
          <p:cNvSpPr>
            <a:spLocks xmlns:a="http://schemas.openxmlformats.org/drawingml/2006/main" noGrp="1"/>
          </p:cNvSpPr>
          <p:nvPr/>
        </p:nvSpPr>
        <p:spPr>
          <a:xfrm xmlns:a="http://schemas.openxmlformats.org/drawingml/2006/main">
            <a:off x="9220200" y="2705100"/>
            <a:ext cx="2000250" cy="781050"/>
          </a:xfrm>
          <a:prstGeom xmlns:a="http://schemas.openxmlformats.org/drawingml/2006/main" prst="roundRect">
            <a:avLst>
              <a:gd name="adj" fmla="val 17073"/>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98808"/>
          </a:bodyPr>
          <a:lstStyle xmlns:a="http://schemas.openxmlformats.org/drawingml/2006/main">
            <a:defPPr algn="ctr">
              <a:defRPr sz="1500" b="0">
                <a:solidFill>
                  <a:srgbClr val="F4F7FB"/>
                </a:solidFill>
                <a:latin typeface="Menlo"/>
                <a:ea typeface="Menlo"/>
                <a:cs typeface="Menlo"/>
              </a:defRPr>
            </a:defPPr>
            <a:lvl1pPr algn="ctr">
              <a:defRPr sz="1500" b="0">
                <a:solidFill>
                  <a:srgbClr val="F4F7FB"/>
                </a:solidFill>
                <a:latin typeface="Menlo"/>
                <a:ea typeface="Menlo"/>
                <a:cs typeface="Menlo"/>
              </a:defRPr>
            </a:lvl1pPr>
            <a:lvl2pPr algn="ctr">
              <a:defRPr sz="1500" b="0">
                <a:solidFill>
                  <a:srgbClr val="F4F7FB"/>
                </a:solidFill>
                <a:latin typeface="Menlo"/>
                <a:ea typeface="Menlo"/>
                <a:cs typeface="Menlo"/>
              </a:defRPr>
            </a:lvl2pPr>
            <a:lvl3pPr algn="ctr">
              <a:defRPr sz="1500" b="0">
                <a:solidFill>
                  <a:srgbClr val="F4F7FB"/>
                </a:solidFill>
                <a:latin typeface="Menlo"/>
                <a:ea typeface="Menlo"/>
                <a:cs typeface="Menlo"/>
              </a:defRPr>
            </a:lvl3pPr>
            <a:lvl4pPr algn="ctr">
              <a:defRPr sz="1500" b="0">
                <a:solidFill>
                  <a:srgbClr val="F4F7FB"/>
                </a:solidFill>
                <a:latin typeface="Menlo"/>
                <a:ea typeface="Menlo"/>
                <a:cs typeface="Menlo"/>
              </a:defRPr>
            </a:lvl4pPr>
            <a:lvl5pPr algn="ctr">
              <a:defRPr sz="1500" b="0">
                <a:solidFill>
                  <a:srgbClr val="F4F7FB"/>
                </a:solidFill>
                <a:latin typeface="Menlo"/>
                <a:ea typeface="Menlo"/>
                <a:cs typeface="Menlo"/>
              </a:defRPr>
            </a:lvl5pPr>
            <a:lvl6pPr algn="ctr">
              <a:defRPr sz="1500" b="0">
                <a:solidFill>
                  <a:srgbClr val="F4F7FB"/>
                </a:solidFill>
                <a:latin typeface="Menlo"/>
                <a:ea typeface="Menlo"/>
                <a:cs typeface="Menlo"/>
              </a:defRPr>
            </a:lvl6pPr>
            <a:lvl7pPr algn="ctr">
              <a:defRPr sz="1500" b="0">
                <a:solidFill>
                  <a:srgbClr val="F4F7FB"/>
                </a:solidFill>
                <a:latin typeface="Menlo"/>
                <a:ea typeface="Menlo"/>
                <a:cs typeface="Menlo"/>
              </a:defRPr>
            </a:lvl7pPr>
            <a:lvl8pPr algn="ctr">
              <a:defRPr sz="1500" b="0">
                <a:solidFill>
                  <a:srgbClr val="F4F7FB"/>
                </a:solidFill>
                <a:latin typeface="Menlo"/>
                <a:ea typeface="Menlo"/>
                <a:cs typeface="Menlo"/>
              </a:defRPr>
            </a:lvl8pPr>
            <a:lvl9pPr algn="ctr">
              <a:defRPr sz="1500" b="0">
                <a:solidFill>
                  <a:srgbClr val="F4F7FB"/>
                </a:solidFill>
                <a:latin typeface="Menlo"/>
                <a:ea typeface="Menlo"/>
                <a:cs typeface="Menlo"/>
              </a:defRPr>
            </a:lvl9pPr>
          </a:lstStyle>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B3  exit</a:t>
            </a:r>
          </a:p>
          <a:p xmlns:a="http://schemas.openxmlformats.org/drawingml/2006/main">
            <a:pPr algn="ctr">
              <a:lnSpc>
                <a:spcPct val="105000"/>
              </a:lnSpc>
              <a:buNone/>
              <a:defRPr sz="1500" b="0">
                <a:solidFill>
                  <a:srgbClr val="F4F7FB"/>
                </a:solidFill>
                <a:latin typeface="Menlo"/>
                <a:ea typeface="Menlo"/>
                <a:cs typeface="Menlo"/>
              </a:defRPr>
            </a:pPr>
            <a:r>
              <a:rPr sz="1500" b="0">
                <a:solidFill>
                  <a:srgbClr val="F4F7FB"/>
                </a:solidFill>
                <a:latin typeface="Menlo"/>
                <a:ea typeface="Menlo"/>
                <a:cs typeface="Menlo"/>
              </a:rPr>
              <a:t>print total</a:t>
            </a:r>
          </a:p>
        </p:txBody>
      </p:sp>
      <p:sp>
        <p:nvSpPr>
          <p:cNvPr id="14" name="">
            <a:extLst xmlns:a="http://schemas.openxmlformats.org/drawingml/2006/main">
              <a:ext uri="{FF2B5EF4-FFF2-40B4-BE49-F238E27FC236}">
                <a16:creationId xmlns:a16="http://schemas.microsoft.com/office/drawing/2014/main" id="{B21AD3CE-915B-4A55-A283-0F6715AD6BE9}"/>
              </a:ext>
            </a:extLst>
          </p:cNvPr>
          <p:cNvSpPr>
            <a:spLocks xmlns:a="http://schemas.openxmlformats.org/drawingml/2006/main" noGrp="1"/>
          </p:cNvSpPr>
          <p:nvPr/>
        </p:nvSpPr>
        <p:spPr>
          <a:xfrm xmlns:a="http://schemas.openxmlformats.org/drawingml/2006/main">
            <a:off x="7524750" y="35814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5AD6E6"/>
                </a:solidFill>
                <a:latin typeface="Avenir"/>
                <a:ea typeface="Avenir"/>
                <a:cs typeface="Avenir"/>
              </a:defRPr>
            </a:defPPr>
            <a:lvl1pPr algn="ctr">
              <a:defRPr sz="1275" b="0">
                <a:solidFill>
                  <a:srgbClr val="5AD6E6"/>
                </a:solidFill>
                <a:latin typeface="Avenir"/>
                <a:ea typeface="Avenir"/>
                <a:cs typeface="Avenir"/>
              </a:defRPr>
            </a:lvl1pPr>
            <a:lvl2pPr algn="ctr">
              <a:defRPr sz="1275" b="0">
                <a:solidFill>
                  <a:srgbClr val="5AD6E6"/>
                </a:solidFill>
                <a:latin typeface="Avenir"/>
                <a:ea typeface="Avenir"/>
                <a:cs typeface="Avenir"/>
              </a:defRPr>
            </a:lvl2pPr>
            <a:lvl3pPr algn="ctr">
              <a:defRPr sz="1275" b="0">
                <a:solidFill>
                  <a:srgbClr val="5AD6E6"/>
                </a:solidFill>
                <a:latin typeface="Avenir"/>
                <a:ea typeface="Avenir"/>
                <a:cs typeface="Avenir"/>
              </a:defRPr>
            </a:lvl3pPr>
            <a:lvl4pPr algn="ctr">
              <a:defRPr sz="1275" b="0">
                <a:solidFill>
                  <a:srgbClr val="5AD6E6"/>
                </a:solidFill>
                <a:latin typeface="Avenir"/>
                <a:ea typeface="Avenir"/>
                <a:cs typeface="Avenir"/>
              </a:defRPr>
            </a:lvl4pPr>
            <a:lvl5pPr algn="ctr">
              <a:defRPr sz="1275" b="0">
                <a:solidFill>
                  <a:srgbClr val="5AD6E6"/>
                </a:solidFill>
                <a:latin typeface="Avenir"/>
                <a:ea typeface="Avenir"/>
                <a:cs typeface="Avenir"/>
              </a:defRPr>
            </a:lvl5pPr>
            <a:lvl6pPr algn="ctr">
              <a:defRPr sz="1275" b="0">
                <a:solidFill>
                  <a:srgbClr val="5AD6E6"/>
                </a:solidFill>
                <a:latin typeface="Avenir"/>
                <a:ea typeface="Avenir"/>
                <a:cs typeface="Avenir"/>
              </a:defRPr>
            </a:lvl6pPr>
            <a:lvl7pPr algn="ctr">
              <a:defRPr sz="1275" b="0">
                <a:solidFill>
                  <a:srgbClr val="5AD6E6"/>
                </a:solidFill>
                <a:latin typeface="Avenir"/>
                <a:ea typeface="Avenir"/>
                <a:cs typeface="Avenir"/>
              </a:defRPr>
            </a:lvl7pPr>
            <a:lvl8pPr algn="ctr">
              <a:defRPr sz="1275" b="0">
                <a:solidFill>
                  <a:srgbClr val="5AD6E6"/>
                </a:solidFill>
                <a:latin typeface="Avenir"/>
                <a:ea typeface="Avenir"/>
                <a:cs typeface="Avenir"/>
              </a:defRPr>
            </a:lvl8pPr>
            <a:lvl9pPr algn="ctr">
              <a:defRPr sz="1275" b="0">
                <a:solidFill>
                  <a:srgbClr val="5AD6E6"/>
                </a:solidFill>
                <a:latin typeface="Avenir"/>
                <a:ea typeface="Avenir"/>
                <a:cs typeface="Avenir"/>
              </a:defRPr>
            </a:lvl9pPr>
          </a:lstStyle>
          <a:p xmlns:a="http://schemas.openxmlformats.org/drawingml/2006/main">
            <a:pPr algn="ctr">
              <a:lnSpc>
                <a:spcPct val="105000"/>
              </a:lnSpc>
              <a:buNone/>
              <a:defRPr sz="1275" b="0">
                <a:solidFill>
                  <a:srgbClr val="5AD6E6"/>
                </a:solidFill>
                <a:latin typeface="Avenir"/>
                <a:ea typeface="Avenir"/>
                <a:cs typeface="Avenir"/>
              </a:defRPr>
            </a:pPr>
            <a:r>
              <a:rPr sz="1275" b="0">
                <a:solidFill>
                  <a:srgbClr val="5AD6E6"/>
                </a:solidFill>
                <a:latin typeface="Avenir"/>
                <a:ea typeface="Avenir"/>
                <a:cs typeface="Avenir"/>
              </a:rPr>
              <a:t>body</a:t>
            </a:r>
          </a:p>
        </p:txBody>
      </p:sp>
      <p:sp>
        <p:nvSpPr>
          <p:cNvPr id="15" name="">
            <a:extLst xmlns:a="http://schemas.openxmlformats.org/drawingml/2006/main">
              <a:ext uri="{FF2B5EF4-FFF2-40B4-BE49-F238E27FC236}">
                <a16:creationId xmlns:a16="http://schemas.microsoft.com/office/drawing/2014/main" id="{2F96F54B-7E91-4901-9A1D-06057BDAD49F}"/>
              </a:ext>
            </a:extLst>
          </p:cNvPr>
          <p:cNvSpPr>
            <a:spLocks xmlns:a="http://schemas.openxmlformats.org/drawingml/2006/main" noGrp="1"/>
          </p:cNvSpPr>
          <p:nvPr/>
        </p:nvSpPr>
        <p:spPr>
          <a:xfrm xmlns:a="http://schemas.openxmlformats.org/drawingml/2006/main">
            <a:off x="8543925" y="276225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9BE3BD"/>
                </a:solidFill>
                <a:latin typeface="Avenir"/>
                <a:ea typeface="Avenir"/>
                <a:cs typeface="Avenir"/>
              </a:defRPr>
            </a:defPPr>
            <a:lvl1pPr algn="ctr">
              <a:defRPr sz="1275" b="0">
                <a:solidFill>
                  <a:srgbClr val="9BE3BD"/>
                </a:solidFill>
                <a:latin typeface="Avenir"/>
                <a:ea typeface="Avenir"/>
                <a:cs typeface="Avenir"/>
              </a:defRPr>
            </a:lvl1pPr>
            <a:lvl2pPr algn="ctr">
              <a:defRPr sz="1275" b="0">
                <a:solidFill>
                  <a:srgbClr val="9BE3BD"/>
                </a:solidFill>
                <a:latin typeface="Avenir"/>
                <a:ea typeface="Avenir"/>
                <a:cs typeface="Avenir"/>
              </a:defRPr>
            </a:lvl2pPr>
            <a:lvl3pPr algn="ctr">
              <a:defRPr sz="1275" b="0">
                <a:solidFill>
                  <a:srgbClr val="9BE3BD"/>
                </a:solidFill>
                <a:latin typeface="Avenir"/>
                <a:ea typeface="Avenir"/>
                <a:cs typeface="Avenir"/>
              </a:defRPr>
            </a:lvl3pPr>
            <a:lvl4pPr algn="ctr">
              <a:defRPr sz="1275" b="0">
                <a:solidFill>
                  <a:srgbClr val="9BE3BD"/>
                </a:solidFill>
                <a:latin typeface="Avenir"/>
                <a:ea typeface="Avenir"/>
                <a:cs typeface="Avenir"/>
              </a:defRPr>
            </a:lvl4pPr>
            <a:lvl5pPr algn="ctr">
              <a:defRPr sz="1275" b="0">
                <a:solidFill>
                  <a:srgbClr val="9BE3BD"/>
                </a:solidFill>
                <a:latin typeface="Avenir"/>
                <a:ea typeface="Avenir"/>
                <a:cs typeface="Avenir"/>
              </a:defRPr>
            </a:lvl5pPr>
            <a:lvl6pPr algn="ctr">
              <a:defRPr sz="1275" b="0">
                <a:solidFill>
                  <a:srgbClr val="9BE3BD"/>
                </a:solidFill>
                <a:latin typeface="Avenir"/>
                <a:ea typeface="Avenir"/>
                <a:cs typeface="Avenir"/>
              </a:defRPr>
            </a:lvl6pPr>
            <a:lvl7pPr algn="ctr">
              <a:defRPr sz="1275" b="0">
                <a:solidFill>
                  <a:srgbClr val="9BE3BD"/>
                </a:solidFill>
                <a:latin typeface="Avenir"/>
                <a:ea typeface="Avenir"/>
                <a:cs typeface="Avenir"/>
              </a:defRPr>
            </a:lvl7pPr>
            <a:lvl8pPr algn="ctr">
              <a:defRPr sz="1275" b="0">
                <a:solidFill>
                  <a:srgbClr val="9BE3BD"/>
                </a:solidFill>
                <a:latin typeface="Avenir"/>
                <a:ea typeface="Avenir"/>
                <a:cs typeface="Avenir"/>
              </a:defRPr>
            </a:lvl8pPr>
            <a:lvl9pPr algn="ctr">
              <a:defRPr sz="1275" b="0">
                <a:solidFill>
                  <a:srgbClr val="9BE3BD"/>
                </a:solidFill>
                <a:latin typeface="Avenir"/>
                <a:ea typeface="Avenir"/>
                <a:cs typeface="Avenir"/>
              </a:defRPr>
            </a:lvl9pPr>
          </a:lstStyle>
          <a:p xmlns:a="http://schemas.openxmlformats.org/drawingml/2006/main">
            <a:pPr algn="ctr">
              <a:lnSpc>
                <a:spcPct val="105000"/>
              </a:lnSpc>
              <a:buNone/>
              <a:defRPr sz="1275" b="0">
                <a:solidFill>
                  <a:srgbClr val="9BE3BD"/>
                </a:solidFill>
                <a:latin typeface="Avenir"/>
                <a:ea typeface="Avenir"/>
                <a:cs typeface="Avenir"/>
              </a:defRPr>
            </a:pPr>
            <a:r>
              <a:rPr sz="1275" b="0">
                <a:solidFill>
                  <a:srgbClr val="9BE3BD"/>
                </a:solidFill>
                <a:latin typeface="Avenir"/>
                <a:ea typeface="Avenir"/>
                <a:cs typeface="Avenir"/>
              </a:rPr>
              <a:t>done</a:t>
            </a:r>
          </a:p>
        </p:txBody>
      </p:sp>
      <p:sp>
        <p:nvSpPr>
          <p:cNvPr id="17" name="">
            <a:extLst xmlns:a="http://schemas.openxmlformats.org/drawingml/2006/main">
              <a:ext uri="{FF2B5EF4-FFF2-40B4-BE49-F238E27FC236}">
                <a16:creationId xmlns:a16="http://schemas.microsoft.com/office/drawing/2014/main" id="{A67F35F8-E37D-41D9-8124-C396D067F57D}"/>
              </a:ext>
            </a:extLst>
          </p:cNvPr>
          <p:cNvSpPr>
            <a:spLocks xmlns:a="http://schemas.openxmlformats.org/drawingml/2006/main" noGrp="1"/>
          </p:cNvSpPr>
          <p:nvPr/>
        </p:nvSpPr>
        <p:spPr>
          <a:xfrm xmlns:a="http://schemas.openxmlformats.org/drawingml/2006/main">
            <a:off x="5467350" y="36480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FFC86A"/>
                </a:solidFill>
                <a:latin typeface="Avenir"/>
                <a:ea typeface="Avenir"/>
                <a:cs typeface="Avenir"/>
              </a:defRPr>
            </a:defPPr>
            <a:lvl1pPr algn="ctr">
              <a:defRPr sz="1200" b="0">
                <a:solidFill>
                  <a:srgbClr val="FFC86A"/>
                </a:solidFill>
                <a:latin typeface="Avenir"/>
                <a:ea typeface="Avenir"/>
                <a:cs typeface="Avenir"/>
              </a:defRPr>
            </a:lvl1pPr>
            <a:lvl2pPr algn="ctr">
              <a:defRPr sz="1200" b="0">
                <a:solidFill>
                  <a:srgbClr val="FFC86A"/>
                </a:solidFill>
                <a:latin typeface="Avenir"/>
                <a:ea typeface="Avenir"/>
                <a:cs typeface="Avenir"/>
              </a:defRPr>
            </a:lvl2pPr>
            <a:lvl3pPr algn="ctr">
              <a:defRPr sz="1200" b="0">
                <a:solidFill>
                  <a:srgbClr val="FFC86A"/>
                </a:solidFill>
                <a:latin typeface="Avenir"/>
                <a:ea typeface="Avenir"/>
                <a:cs typeface="Avenir"/>
              </a:defRPr>
            </a:lvl3pPr>
            <a:lvl4pPr algn="ctr">
              <a:defRPr sz="1200" b="0">
                <a:solidFill>
                  <a:srgbClr val="FFC86A"/>
                </a:solidFill>
                <a:latin typeface="Avenir"/>
                <a:ea typeface="Avenir"/>
                <a:cs typeface="Avenir"/>
              </a:defRPr>
            </a:lvl4pPr>
            <a:lvl5pPr algn="ctr">
              <a:defRPr sz="1200" b="0">
                <a:solidFill>
                  <a:srgbClr val="FFC86A"/>
                </a:solidFill>
                <a:latin typeface="Avenir"/>
                <a:ea typeface="Avenir"/>
                <a:cs typeface="Avenir"/>
              </a:defRPr>
            </a:lvl5pPr>
            <a:lvl6pPr algn="ctr">
              <a:defRPr sz="1200" b="0">
                <a:solidFill>
                  <a:srgbClr val="FFC86A"/>
                </a:solidFill>
                <a:latin typeface="Avenir"/>
                <a:ea typeface="Avenir"/>
                <a:cs typeface="Avenir"/>
              </a:defRPr>
            </a:lvl6pPr>
            <a:lvl7pPr algn="ctr">
              <a:defRPr sz="1200" b="0">
                <a:solidFill>
                  <a:srgbClr val="FFC86A"/>
                </a:solidFill>
                <a:latin typeface="Avenir"/>
                <a:ea typeface="Avenir"/>
                <a:cs typeface="Avenir"/>
              </a:defRPr>
            </a:lvl7pPr>
            <a:lvl8pPr algn="ctr">
              <a:defRPr sz="1200" b="0">
                <a:solidFill>
                  <a:srgbClr val="FFC86A"/>
                </a:solidFill>
                <a:latin typeface="Avenir"/>
                <a:ea typeface="Avenir"/>
                <a:cs typeface="Avenir"/>
              </a:defRPr>
            </a:lvl8pPr>
            <a:lvl9pPr algn="ctr">
              <a:defRPr sz="1200" b="0">
                <a:solidFill>
                  <a:srgbClr val="FFC86A"/>
                </a:solidFill>
                <a:latin typeface="Avenir"/>
                <a:ea typeface="Avenir"/>
                <a:cs typeface="Avenir"/>
              </a:defRPr>
            </a:lvl9pPr>
          </a:lstStyle>
          <a:p xmlns:a="http://schemas.openxmlformats.org/drawingml/2006/main">
            <a:pPr algn="ctr">
              <a:lnSpc>
                <a:spcPct val="105000"/>
              </a:lnSpc>
              <a:buNone/>
              <a:defRPr sz="1200" b="0">
                <a:solidFill>
                  <a:srgbClr val="FFC86A"/>
                </a:solidFill>
                <a:latin typeface="Avenir"/>
                <a:ea typeface="Avenir"/>
                <a:cs typeface="Avenir"/>
              </a:defRPr>
            </a:pPr>
            <a:r>
              <a:rPr sz="1200" b="0">
                <a:solidFill>
                  <a:srgbClr val="FFC86A"/>
                </a:solidFill>
                <a:latin typeface="Avenir"/>
                <a:ea typeface="Avenir"/>
                <a:cs typeface="Avenir"/>
              </a:rPr>
              <a:t>back-edge</a:t>
            </a:r>
          </a:p>
        </p:txBody>
      </p:sp>
    </p:spTree>
    <p:extLst>
      <p:ext uri="{BB962C8B-B14F-4D97-AF65-F5344CB8AC3E}">
        <p14:creationId xmlns:p14="http://schemas.microsoft.com/office/powerpoint/2010/main" val="1693421667"/>
      </p:ext>
    </p:extLst>
  </p:cSld>
</p:sld>
</file>

<file path=ppt/slides/slide5.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322C7FA-49F5-4DE6-B717-0780CEE29272}"/>
              </a:ext>
            </a:extLst>
          </p:cNvPr>
          <p:cNvCxnSpPr>
            <a:stCxn xmlns:a="http://schemas.openxmlformats.org/drawingml/2006/main" id="5" idx="3"/>
            <a:endCxn xmlns:a="http://schemas.openxmlformats.org/drawingml/2006/main" id="7" idx="1"/>
          </p:cNvCxnSpPr>
          <p:nvPr/>
        </p:nvCxnSpPr>
        <p:spPr>
          <a:xfrm xmlns:a="http://schemas.openxmlformats.org/drawingml/2006/main">
            <a:off x="7505700" y="3143250"/>
            <a:ext cx="1333500" cy="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36FE9F58-40AC-4218-939A-BB9468803EB2}"/>
              </a:ext>
            </a:extLst>
          </p:cNvPr>
          <p:cNvCxnSpPr>
            <a:stCxn xmlns:a="http://schemas.openxmlformats.org/drawingml/2006/main" id="6" idx="1"/>
            <a:endCxn xmlns:a="http://schemas.openxmlformats.org/drawingml/2006/main" id="5" idx="2"/>
          </p:cNvCxnSpPr>
          <p:nvPr/>
        </p:nvCxnSpPr>
        <p:spPr>
          <a:xfrm xmlns:a="http://schemas.openxmlformats.org/drawingml/2006/main" flipV="1">
            <a:off x="4705350" y="3638550"/>
            <a:ext cx="1514475" cy="1409700"/>
          </a:xfrm>
          <a:prstGeom xmlns:a="http://schemas.openxmlformats.org/drawingml/2006/main" prst="bentConnector4">
            <a:avLst/>
          </a:prstGeom>
          <a:ln xmlns:a="http://schemas.openxmlformats.org/drawingml/2006/main" w="19050">
            <a:solidFill>
              <a:srgbClr val="FFC86A"/>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5498816E-2494-4F2D-B5BB-31FB2847A90A}"/>
              </a:ext>
            </a:extLst>
          </p:cNvPr>
          <p:cNvCxnSpPr>
            <a:stCxn xmlns:a="http://schemas.openxmlformats.org/drawingml/2006/main" id="5" idx="2"/>
            <a:endCxn xmlns:a="http://schemas.openxmlformats.org/drawingml/2006/main" id="6" idx="0"/>
          </p:cNvCxnSpPr>
          <p:nvPr/>
        </p:nvCxnSpPr>
        <p:spPr>
          <a:xfrm xmlns:a="http://schemas.openxmlformats.org/drawingml/2006/main">
            <a:off x="6219825" y="3638550"/>
            <a:ext cx="0" cy="97155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EE3FAC4B-8832-43E7-9CD1-3069FFD3F66D}"/>
              </a:ext>
            </a:extLst>
          </p:cNvPr>
          <p:cNvCxnSpPr>
            <a:stCxn xmlns:a="http://schemas.openxmlformats.org/drawingml/2006/main" id="4" idx="3"/>
            <a:endCxn xmlns:a="http://schemas.openxmlformats.org/drawingml/2006/main" id="5" idx="1"/>
          </p:cNvCxnSpPr>
          <p:nvPr/>
        </p:nvCxnSpPr>
        <p:spPr>
          <a:xfrm xmlns:a="http://schemas.openxmlformats.org/drawingml/2006/main">
            <a:off x="3162300" y="3143250"/>
            <a:ext cx="177165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sp>
        <p:nvSpPr>
          <p:cNvPr id="14" name="">
            <a:extLst xmlns:a="http://schemas.openxmlformats.org/drawingml/2006/main">
              <a:ext uri="{FF2B5EF4-FFF2-40B4-BE49-F238E27FC236}">
                <a16:creationId xmlns:a16="http://schemas.microsoft.com/office/drawing/2014/main" id="{9DBAA85A-815C-4CFB-8D16-4CF944B26409}"/>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Loop-aware constant propagation</a:t>
            </a:r>
          </a:p>
        </p:txBody>
      </p:sp>
      <p:sp>
        <p:nvSpPr>
          <p:cNvPr id="2" name="">
            <a:extLst xmlns:a="http://schemas.openxmlformats.org/drawingml/2006/main">
              <a:ext uri="{FF2B5EF4-FFF2-40B4-BE49-F238E27FC236}">
                <a16:creationId xmlns:a16="http://schemas.microsoft.com/office/drawing/2014/main" id="{33560B4A-F693-4D76-8083-DA5642EE565E}"/>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375DDC-6FA6-4DC7-BC1A-476504FB1DCA}"/>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A constant survives a join only when every incoming path proves the same value.</a:t>
            </a:r>
          </a:p>
        </p:txBody>
      </p:sp>
      <p:sp>
        <p:nvSpPr>
          <p:cNvPr id="4" name="">
            <a:extLst xmlns:a="http://schemas.openxmlformats.org/drawingml/2006/main">
              <a:ext uri="{FF2B5EF4-FFF2-40B4-BE49-F238E27FC236}">
                <a16:creationId xmlns:a16="http://schemas.microsoft.com/office/drawing/2014/main" id="{CD3EFDA7-69DF-4892-9BC1-E3E4E31EBA36}"/>
              </a:ext>
            </a:extLst>
          </p:cNvPr>
          <p:cNvSpPr>
            <a:spLocks xmlns:a="http://schemas.openxmlformats.org/drawingml/2006/main" noGrp="1"/>
          </p:cNvSpPr>
          <p:nvPr/>
        </p:nvSpPr>
        <p:spPr>
          <a:xfrm xmlns:a="http://schemas.openxmlformats.org/drawingml/2006/main">
            <a:off x="838200" y="2647950"/>
            <a:ext cx="2324100" cy="990600"/>
          </a:xfrm>
          <a:prstGeom xmlns:a="http://schemas.openxmlformats.org/drawingml/2006/main" prst="roundRect">
            <a:avLst>
              <a:gd name="adj" fmla="val 13462"/>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Entry</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n = 10, i = 1</a:t>
            </a:r>
          </a:p>
        </p:txBody>
      </p:sp>
      <p:sp>
        <p:nvSpPr>
          <p:cNvPr id="5" name="">
            <a:extLst xmlns:a="http://schemas.openxmlformats.org/drawingml/2006/main">
              <a:ext uri="{FF2B5EF4-FFF2-40B4-BE49-F238E27FC236}">
                <a16:creationId xmlns:a16="http://schemas.microsoft.com/office/drawing/2014/main" id="{E3D6874D-E60F-4F55-B14E-DDFA680B6F68}"/>
              </a:ext>
            </a:extLst>
          </p:cNvPr>
          <p:cNvSpPr>
            <a:spLocks xmlns:a="http://schemas.openxmlformats.org/drawingml/2006/main" noGrp="1"/>
          </p:cNvSpPr>
          <p:nvPr/>
        </p:nvSpPr>
        <p:spPr>
          <a:xfrm xmlns:a="http://schemas.openxmlformats.org/drawingml/2006/main">
            <a:off x="4933950" y="2647950"/>
            <a:ext cx="2571750" cy="990600"/>
          </a:xfrm>
          <a:prstGeom xmlns:a="http://schemas.openxmlformats.org/drawingml/2006/main" prst="roundRect">
            <a:avLst>
              <a:gd name="adj" fmla="val 13462"/>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Loop test</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i &gt; n</a:t>
            </a:r>
          </a:p>
        </p:txBody>
      </p:sp>
      <p:sp>
        <p:nvSpPr>
          <p:cNvPr id="6" name="">
            <a:extLst xmlns:a="http://schemas.openxmlformats.org/drawingml/2006/main">
              <a:ext uri="{FF2B5EF4-FFF2-40B4-BE49-F238E27FC236}">
                <a16:creationId xmlns:a16="http://schemas.microsoft.com/office/drawing/2014/main" id="{41169AC5-BF05-40EC-B21C-7AFC3D8D6FB8}"/>
              </a:ext>
            </a:extLst>
          </p:cNvPr>
          <p:cNvSpPr>
            <a:spLocks xmlns:a="http://schemas.openxmlformats.org/drawingml/2006/main" noGrp="1"/>
          </p:cNvSpPr>
          <p:nvPr/>
        </p:nvSpPr>
        <p:spPr>
          <a:xfrm xmlns:a="http://schemas.openxmlformats.org/drawingml/2006/main">
            <a:off x="4933950" y="4610100"/>
            <a:ext cx="2571750" cy="876300"/>
          </a:xfrm>
          <a:prstGeom xmlns:a="http://schemas.openxmlformats.org/drawingml/2006/main" prst="roundRect">
            <a:avLst>
              <a:gd name="adj" fmla="val 15217"/>
            </a:avLst>
          </a:prstGeom>
          <a:solidFill xmlns:a="http://schemas.openxmlformats.org/drawingml/2006/main">
            <a:srgbClr val="17263A"/>
          </a:solidFill>
          <a:ln xmlns:a="http://schemas.openxmlformats.org/drawingml/2006/main" w="14288">
            <a:solidFill>
              <a:srgbClr val="476078"/>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Loop update</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i = i + 1</a:t>
            </a:r>
          </a:p>
        </p:txBody>
      </p:sp>
      <p:sp>
        <p:nvSpPr>
          <p:cNvPr id="7" name="">
            <a:extLst xmlns:a="http://schemas.openxmlformats.org/drawingml/2006/main">
              <a:ext uri="{FF2B5EF4-FFF2-40B4-BE49-F238E27FC236}">
                <a16:creationId xmlns:a16="http://schemas.microsoft.com/office/drawing/2014/main" id="{430051F7-26EA-459C-A82C-E0A7A1606870}"/>
              </a:ext>
            </a:extLst>
          </p:cNvPr>
          <p:cNvSpPr>
            <a:spLocks xmlns:a="http://schemas.openxmlformats.org/drawingml/2006/main" noGrp="1"/>
          </p:cNvSpPr>
          <p:nvPr/>
        </p:nvSpPr>
        <p:spPr>
          <a:xfrm xmlns:a="http://schemas.openxmlformats.org/drawingml/2006/main">
            <a:off x="8839200" y="2647950"/>
            <a:ext cx="2476500" cy="990600"/>
          </a:xfrm>
          <a:prstGeom xmlns:a="http://schemas.openxmlformats.org/drawingml/2006/main" prst="roundRect">
            <a:avLst>
              <a:gd name="adj" fmla="val 13462"/>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Menlo"/>
                <a:ea typeface="Menlo"/>
                <a:cs typeface="Menlo"/>
              </a:defRPr>
            </a:defPPr>
            <a:lvl1pPr algn="ctr">
              <a:defRPr sz="1650" b="0">
                <a:solidFill>
                  <a:srgbClr val="F4F7FB"/>
                </a:solidFill>
                <a:latin typeface="Menlo"/>
                <a:ea typeface="Menlo"/>
                <a:cs typeface="Menlo"/>
              </a:defRPr>
            </a:lvl1pPr>
            <a:lvl2pPr algn="ctr">
              <a:defRPr sz="1650" b="0">
                <a:solidFill>
                  <a:srgbClr val="F4F7FB"/>
                </a:solidFill>
                <a:latin typeface="Menlo"/>
                <a:ea typeface="Menlo"/>
                <a:cs typeface="Menlo"/>
              </a:defRPr>
            </a:lvl2pPr>
            <a:lvl3pPr algn="ctr">
              <a:defRPr sz="1650" b="0">
                <a:solidFill>
                  <a:srgbClr val="F4F7FB"/>
                </a:solidFill>
                <a:latin typeface="Menlo"/>
                <a:ea typeface="Menlo"/>
                <a:cs typeface="Menlo"/>
              </a:defRPr>
            </a:lvl3pPr>
            <a:lvl4pPr algn="ctr">
              <a:defRPr sz="1650" b="0">
                <a:solidFill>
                  <a:srgbClr val="F4F7FB"/>
                </a:solidFill>
                <a:latin typeface="Menlo"/>
                <a:ea typeface="Menlo"/>
                <a:cs typeface="Menlo"/>
              </a:defRPr>
            </a:lvl4pPr>
            <a:lvl5pPr algn="ctr">
              <a:defRPr sz="1650" b="0">
                <a:solidFill>
                  <a:srgbClr val="F4F7FB"/>
                </a:solidFill>
                <a:latin typeface="Menlo"/>
                <a:ea typeface="Menlo"/>
                <a:cs typeface="Menlo"/>
              </a:defRPr>
            </a:lvl5pPr>
            <a:lvl6pPr algn="ctr">
              <a:defRPr sz="1650" b="0">
                <a:solidFill>
                  <a:srgbClr val="F4F7FB"/>
                </a:solidFill>
                <a:latin typeface="Menlo"/>
                <a:ea typeface="Menlo"/>
                <a:cs typeface="Menlo"/>
              </a:defRPr>
            </a:lvl6pPr>
            <a:lvl7pPr algn="ctr">
              <a:defRPr sz="1650" b="0">
                <a:solidFill>
                  <a:srgbClr val="F4F7FB"/>
                </a:solidFill>
                <a:latin typeface="Menlo"/>
                <a:ea typeface="Menlo"/>
                <a:cs typeface="Menlo"/>
              </a:defRPr>
            </a:lvl7pPr>
            <a:lvl8pPr algn="ctr">
              <a:defRPr sz="1650" b="0">
                <a:solidFill>
                  <a:srgbClr val="F4F7FB"/>
                </a:solidFill>
                <a:latin typeface="Menlo"/>
                <a:ea typeface="Menlo"/>
                <a:cs typeface="Menlo"/>
              </a:defRPr>
            </a:lvl8pPr>
            <a:lvl9pPr algn="ctr">
              <a:defRPr sz="1650" b="0">
                <a:solidFill>
                  <a:srgbClr val="F4F7FB"/>
                </a:solidFill>
                <a:latin typeface="Menlo"/>
                <a:ea typeface="Menlo"/>
                <a:cs typeface="Menlo"/>
              </a:defRPr>
            </a:lvl9pPr>
          </a:lstStyle>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Optimized test</a:t>
            </a:r>
          </a:p>
          <a:p xmlns:a="http://schemas.openxmlformats.org/drawingml/2006/main">
            <a:pPr algn="ctr">
              <a:lnSpc>
                <a:spcPct val="105000"/>
              </a:lnSpc>
              <a:buNone/>
              <a:defRPr sz="1650" b="0">
                <a:solidFill>
                  <a:srgbClr val="F4F7FB"/>
                </a:solidFill>
                <a:latin typeface="Menlo"/>
                <a:ea typeface="Menlo"/>
                <a:cs typeface="Menlo"/>
              </a:defRPr>
            </a:pPr>
            <a:r>
              <a:rPr sz="1650" b="0">
                <a:solidFill>
                  <a:srgbClr val="F4F7FB"/>
                </a:solidFill>
                <a:latin typeface="Menlo"/>
                <a:ea typeface="Menlo"/>
                <a:cs typeface="Menlo"/>
              </a:rPr>
              <a:t>i &gt; 10</a:t>
            </a:r>
          </a:p>
        </p:txBody>
      </p:sp>
      <p:sp>
        <p:nvSpPr>
          <p:cNvPr id="12" name="">
            <a:extLst xmlns:a="http://schemas.openxmlformats.org/drawingml/2006/main">
              <a:ext uri="{FF2B5EF4-FFF2-40B4-BE49-F238E27FC236}">
                <a16:creationId xmlns:a16="http://schemas.microsoft.com/office/drawing/2014/main" id="{7DCC99C0-FD5C-474D-84F1-C74522DA95B5}"/>
              </a:ext>
            </a:extLst>
          </p:cNvPr>
          <p:cNvSpPr>
            <a:spLocks xmlns:a="http://schemas.openxmlformats.org/drawingml/2006/main" noGrp="1"/>
          </p:cNvSpPr>
          <p:nvPr/>
        </p:nvSpPr>
        <p:spPr>
          <a:xfrm xmlns:a="http://schemas.openxmlformats.org/drawingml/2006/main">
            <a:off x="7658100" y="46101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9BE3BD"/>
                </a:solidFill>
                <a:latin typeface="Avenir"/>
                <a:ea typeface="Avenir"/>
                <a:cs typeface="Avenir"/>
              </a:defRPr>
            </a:defPPr>
            <a:lvl1pPr algn="l">
              <a:defRPr sz="1575" b="0">
                <a:solidFill>
                  <a:srgbClr val="9BE3BD"/>
                </a:solidFill>
                <a:latin typeface="Avenir"/>
                <a:ea typeface="Avenir"/>
                <a:cs typeface="Avenir"/>
              </a:defRPr>
            </a:lvl1pPr>
            <a:lvl2pPr algn="l">
              <a:defRPr sz="1575" b="0">
                <a:solidFill>
                  <a:srgbClr val="9BE3BD"/>
                </a:solidFill>
                <a:latin typeface="Avenir"/>
                <a:ea typeface="Avenir"/>
                <a:cs typeface="Avenir"/>
              </a:defRPr>
            </a:lvl2pPr>
            <a:lvl3pPr algn="l">
              <a:defRPr sz="1575" b="0">
                <a:solidFill>
                  <a:srgbClr val="9BE3BD"/>
                </a:solidFill>
                <a:latin typeface="Avenir"/>
                <a:ea typeface="Avenir"/>
                <a:cs typeface="Avenir"/>
              </a:defRPr>
            </a:lvl3pPr>
            <a:lvl4pPr algn="l">
              <a:defRPr sz="1575" b="0">
                <a:solidFill>
                  <a:srgbClr val="9BE3BD"/>
                </a:solidFill>
                <a:latin typeface="Avenir"/>
                <a:ea typeface="Avenir"/>
                <a:cs typeface="Avenir"/>
              </a:defRPr>
            </a:lvl4pPr>
            <a:lvl5pPr algn="l">
              <a:defRPr sz="1575" b="0">
                <a:solidFill>
                  <a:srgbClr val="9BE3BD"/>
                </a:solidFill>
                <a:latin typeface="Avenir"/>
                <a:ea typeface="Avenir"/>
                <a:cs typeface="Avenir"/>
              </a:defRPr>
            </a:lvl5pPr>
            <a:lvl6pPr algn="l">
              <a:defRPr sz="1575" b="0">
                <a:solidFill>
                  <a:srgbClr val="9BE3BD"/>
                </a:solidFill>
                <a:latin typeface="Avenir"/>
                <a:ea typeface="Avenir"/>
                <a:cs typeface="Avenir"/>
              </a:defRPr>
            </a:lvl6pPr>
            <a:lvl7pPr algn="l">
              <a:defRPr sz="1575" b="0">
                <a:solidFill>
                  <a:srgbClr val="9BE3BD"/>
                </a:solidFill>
                <a:latin typeface="Avenir"/>
                <a:ea typeface="Avenir"/>
                <a:cs typeface="Avenir"/>
              </a:defRPr>
            </a:lvl7pPr>
            <a:lvl8pPr algn="l">
              <a:defRPr sz="1575" b="0">
                <a:solidFill>
                  <a:srgbClr val="9BE3BD"/>
                </a:solidFill>
                <a:latin typeface="Avenir"/>
                <a:ea typeface="Avenir"/>
                <a:cs typeface="Avenir"/>
              </a:defRPr>
            </a:lvl8pPr>
            <a:lvl9pPr algn="l">
              <a:defRPr sz="1575" b="0">
                <a:solidFill>
                  <a:srgbClr val="9BE3BD"/>
                </a:solidFill>
                <a:latin typeface="Avenir"/>
                <a:ea typeface="Avenir"/>
                <a:cs typeface="Avenir"/>
              </a:defRPr>
            </a:lvl9pPr>
          </a:lstStyle>
          <a:p xmlns:a="http://schemas.openxmlformats.org/drawingml/2006/main">
            <a:pPr algn="l">
              <a:lnSpc>
                <a:spcPct val="105000"/>
              </a:lnSpc>
              <a:buNone/>
              <a:defRPr sz="1575" b="0">
                <a:solidFill>
                  <a:srgbClr val="9BE3BD"/>
                </a:solidFill>
                <a:latin typeface="Avenir"/>
                <a:ea typeface="Avenir"/>
                <a:cs typeface="Avenir"/>
              </a:defRPr>
            </a:pPr>
            <a:r>
              <a:rPr sz="1575" b="0">
                <a:solidFill>
                  <a:srgbClr val="9BE3BD"/>
                </a:solidFill>
                <a:latin typeface="Avenir"/>
                <a:ea typeface="Avenir"/>
                <a:cs typeface="Avenir"/>
              </a:rPr>
              <a:t>n remains 10 on the back-edge</a:t>
            </a:r>
          </a:p>
        </p:txBody>
      </p:sp>
      <p:sp>
        <p:nvSpPr>
          <p:cNvPr id="13" name="">
            <a:extLst xmlns:a="http://schemas.openxmlformats.org/drawingml/2006/main">
              <a:ext uri="{FF2B5EF4-FFF2-40B4-BE49-F238E27FC236}">
                <a16:creationId xmlns:a16="http://schemas.microsoft.com/office/drawing/2014/main" id="{9C7F7CA3-5E3A-4CAE-A28B-5C710E86233E}"/>
              </a:ext>
            </a:extLst>
          </p:cNvPr>
          <p:cNvSpPr>
            <a:spLocks xmlns:a="http://schemas.openxmlformats.org/drawingml/2006/main" noGrp="1"/>
          </p:cNvSpPr>
          <p:nvPr/>
        </p:nvSpPr>
        <p:spPr>
          <a:xfrm xmlns:a="http://schemas.openxmlformats.org/drawingml/2006/main">
            <a:off x="762000" y="58674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B4C1D1"/>
                </a:solidFill>
                <a:latin typeface="Avenir"/>
                <a:ea typeface="Avenir"/>
                <a:cs typeface="Avenir"/>
              </a:defRPr>
            </a:defPPr>
            <a:lvl1pPr algn="l">
              <a:defRPr sz="1575" b="0">
                <a:solidFill>
                  <a:srgbClr val="B4C1D1"/>
                </a:solidFill>
                <a:latin typeface="Avenir"/>
                <a:ea typeface="Avenir"/>
                <a:cs typeface="Avenir"/>
              </a:defRPr>
            </a:lvl1pPr>
            <a:lvl2pPr algn="l">
              <a:defRPr sz="1575" b="0">
                <a:solidFill>
                  <a:srgbClr val="B4C1D1"/>
                </a:solidFill>
                <a:latin typeface="Avenir"/>
                <a:ea typeface="Avenir"/>
                <a:cs typeface="Avenir"/>
              </a:defRPr>
            </a:lvl2pPr>
            <a:lvl3pPr algn="l">
              <a:defRPr sz="1575" b="0">
                <a:solidFill>
                  <a:srgbClr val="B4C1D1"/>
                </a:solidFill>
                <a:latin typeface="Avenir"/>
                <a:ea typeface="Avenir"/>
                <a:cs typeface="Avenir"/>
              </a:defRPr>
            </a:lvl3pPr>
            <a:lvl4pPr algn="l">
              <a:defRPr sz="1575" b="0">
                <a:solidFill>
                  <a:srgbClr val="B4C1D1"/>
                </a:solidFill>
                <a:latin typeface="Avenir"/>
                <a:ea typeface="Avenir"/>
                <a:cs typeface="Avenir"/>
              </a:defRPr>
            </a:lvl4pPr>
            <a:lvl5pPr algn="l">
              <a:defRPr sz="1575" b="0">
                <a:solidFill>
                  <a:srgbClr val="B4C1D1"/>
                </a:solidFill>
                <a:latin typeface="Avenir"/>
                <a:ea typeface="Avenir"/>
                <a:cs typeface="Avenir"/>
              </a:defRPr>
            </a:lvl5pPr>
            <a:lvl6pPr algn="l">
              <a:defRPr sz="1575" b="0">
                <a:solidFill>
                  <a:srgbClr val="B4C1D1"/>
                </a:solidFill>
                <a:latin typeface="Avenir"/>
                <a:ea typeface="Avenir"/>
                <a:cs typeface="Avenir"/>
              </a:defRPr>
            </a:lvl6pPr>
            <a:lvl7pPr algn="l">
              <a:defRPr sz="1575" b="0">
                <a:solidFill>
                  <a:srgbClr val="B4C1D1"/>
                </a:solidFill>
                <a:latin typeface="Avenir"/>
                <a:ea typeface="Avenir"/>
                <a:cs typeface="Avenir"/>
              </a:defRPr>
            </a:lvl7pPr>
            <a:lvl8pPr algn="l">
              <a:defRPr sz="1575" b="0">
                <a:solidFill>
                  <a:srgbClr val="B4C1D1"/>
                </a:solidFill>
                <a:latin typeface="Avenir"/>
                <a:ea typeface="Avenir"/>
                <a:cs typeface="Avenir"/>
              </a:defRPr>
            </a:lvl8pPr>
            <a:lvl9pPr algn="l">
              <a:defRPr sz="1575" b="0">
                <a:solidFill>
                  <a:srgbClr val="B4C1D1"/>
                </a:solidFill>
                <a:latin typeface="Avenir"/>
                <a:ea typeface="Avenir"/>
                <a:cs typeface="Avenir"/>
              </a:defRPr>
            </a:lvl9pPr>
          </a:lstStyle>
          <a:p xmlns:a="http://schemas.openxmlformats.org/drawingml/2006/main">
            <a:pPr algn="l">
              <a:lnSpc>
                <a:spcPct val="105000"/>
              </a:lnSpc>
              <a:buNone/>
              <a:defRPr sz="1575" b="0">
                <a:solidFill>
                  <a:srgbClr val="B4C1D1"/>
                </a:solidFill>
                <a:latin typeface="Avenir"/>
                <a:ea typeface="Avenir"/>
                <a:cs typeface="Avenir"/>
              </a:defRPr>
            </a:pPr>
            <a:r>
              <a:rPr sz="1575" b="0">
                <a:solidFill>
                  <a:srgbClr val="B4C1D1"/>
                </a:solidFill>
                <a:latin typeface="Avenir"/>
                <a:ea typeface="Avenir"/>
                <a:cs typeface="Avenir"/>
              </a:rPr>
              <a:t>i changes, so it remains unknown at the loop test</a:t>
            </a:r>
          </a:p>
        </p:txBody>
      </p:sp>
    </p:spTree>
    <p:extLst>
      <p:ext uri="{BB962C8B-B14F-4D97-AF65-F5344CB8AC3E}">
        <p14:creationId xmlns:p14="http://schemas.microsoft.com/office/powerpoint/2010/main" val="1599003498"/>
      </p:ext>
    </p:extLst>
  </p:cSld>
</p:sld>
</file>

<file path=ppt/slides/slide6.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4185DD-EDF3-4C86-B607-E895A337A2AC}"/>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Optimized and unoptimized execution</a:t>
            </a:r>
          </a:p>
        </p:txBody>
      </p:sp>
      <p:sp>
        <p:nvSpPr>
          <p:cNvPr id="2" name="">
            <a:extLst xmlns:a="http://schemas.openxmlformats.org/drawingml/2006/main">
              <a:ext uri="{FF2B5EF4-FFF2-40B4-BE49-F238E27FC236}">
                <a16:creationId xmlns:a16="http://schemas.microsoft.com/office/drawing/2014/main" id="{3CF6D054-E434-40B0-9EF4-AE913EF39CDE}"/>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A7A0D48-4545-4A2A-951D-8E6BC316312F}"/>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The comparison runs both builds of the same loop workload and checks output equality.</a:t>
            </a:r>
          </a:p>
        </p:txBody>
      </p:sp>
      <p:sp>
        <p:nvSpPr>
          <p:cNvPr id="4" name="">
            <a:extLst xmlns:a="http://schemas.openxmlformats.org/drawingml/2006/main">
              <a:ext uri="{FF2B5EF4-FFF2-40B4-BE49-F238E27FC236}">
                <a16:creationId xmlns:a16="http://schemas.microsoft.com/office/drawing/2014/main" id="{E7F3EDE6-E054-42E6-9290-7A146E7A4438}"/>
              </a:ext>
            </a:extLst>
          </p:cNvPr>
          <p:cNvSpPr>
            <a:spLocks xmlns:a="http://schemas.openxmlformats.org/drawingml/2006/main" noGrp="1"/>
          </p:cNvSpPr>
          <p:nvPr/>
        </p:nvSpPr>
        <p:spPr>
          <a:xfrm xmlns:a="http://schemas.openxmlformats.org/drawingml/2006/main">
            <a:off x="762000" y="2143125"/>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20-iteration scoring loop</a:t>
            </a:r>
          </a:p>
        </p:txBody>
      </p:sp>
      <p:sp>
        <p:nvSpPr>
          <p:cNvPr id="5" name="">
            <a:extLst xmlns:a="http://schemas.openxmlformats.org/drawingml/2006/main">
              <a:ext uri="{FF2B5EF4-FFF2-40B4-BE49-F238E27FC236}">
                <a16:creationId xmlns:a16="http://schemas.microsoft.com/office/drawing/2014/main" id="{42DA0DE0-9A23-430F-BEB1-9336DCE4A4A8}"/>
              </a:ext>
            </a:extLst>
          </p:cNvPr>
          <p:cNvSpPr>
            <a:spLocks xmlns:a="http://schemas.openxmlformats.org/drawingml/2006/main" noGrp="1"/>
          </p:cNvSpPr>
          <p:nvPr/>
        </p:nvSpPr>
        <p:spPr>
          <a:xfrm xmlns:a="http://schemas.openxmlformats.org/drawingml/2006/main">
            <a:off x="762000" y="2571750"/>
            <a:ext cx="42862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99"/>
          </a:bodyPr>
          <a:lstStyle xmlns:a="http://schemas.openxmlformats.org/drawingml/2006/main">
            <a:defPPr algn="l">
              <a:defRPr sz="1425" b="0">
                <a:solidFill>
                  <a:srgbClr val="F4F7FB"/>
                </a:solidFill>
                <a:latin typeface="Menlo"/>
                <a:ea typeface="Menlo"/>
                <a:cs typeface="Menlo"/>
              </a:defRPr>
            </a:defPPr>
            <a:lvl1pPr algn="l">
              <a:defRPr sz="1425" b="0">
                <a:solidFill>
                  <a:srgbClr val="F4F7FB"/>
                </a:solidFill>
                <a:latin typeface="Menlo"/>
                <a:ea typeface="Menlo"/>
                <a:cs typeface="Menlo"/>
              </a:defRPr>
            </a:lvl1pPr>
            <a:lvl2pPr algn="l">
              <a:defRPr sz="1425" b="0">
                <a:solidFill>
                  <a:srgbClr val="F4F7FB"/>
                </a:solidFill>
                <a:latin typeface="Menlo"/>
                <a:ea typeface="Menlo"/>
                <a:cs typeface="Menlo"/>
              </a:defRPr>
            </a:lvl2pPr>
            <a:lvl3pPr algn="l">
              <a:defRPr sz="1425" b="0">
                <a:solidFill>
                  <a:srgbClr val="F4F7FB"/>
                </a:solidFill>
                <a:latin typeface="Menlo"/>
                <a:ea typeface="Menlo"/>
                <a:cs typeface="Menlo"/>
              </a:defRPr>
            </a:lvl3pPr>
            <a:lvl4pPr algn="l">
              <a:defRPr sz="1425" b="0">
                <a:solidFill>
                  <a:srgbClr val="F4F7FB"/>
                </a:solidFill>
                <a:latin typeface="Menlo"/>
                <a:ea typeface="Menlo"/>
                <a:cs typeface="Menlo"/>
              </a:defRPr>
            </a:lvl4pPr>
            <a:lvl5pPr algn="l">
              <a:defRPr sz="1425" b="0">
                <a:solidFill>
                  <a:srgbClr val="F4F7FB"/>
                </a:solidFill>
                <a:latin typeface="Menlo"/>
                <a:ea typeface="Menlo"/>
                <a:cs typeface="Menlo"/>
              </a:defRPr>
            </a:lvl5pPr>
            <a:lvl6pPr algn="l">
              <a:defRPr sz="1425" b="0">
                <a:solidFill>
                  <a:srgbClr val="F4F7FB"/>
                </a:solidFill>
                <a:latin typeface="Menlo"/>
                <a:ea typeface="Menlo"/>
                <a:cs typeface="Menlo"/>
              </a:defRPr>
            </a:lvl6pPr>
            <a:lvl7pPr algn="l">
              <a:defRPr sz="1425" b="0">
                <a:solidFill>
                  <a:srgbClr val="F4F7FB"/>
                </a:solidFill>
                <a:latin typeface="Menlo"/>
                <a:ea typeface="Menlo"/>
                <a:cs typeface="Menlo"/>
              </a:defRPr>
            </a:lvl7pPr>
            <a:lvl8pPr algn="l">
              <a:defRPr sz="1425" b="0">
                <a:solidFill>
                  <a:srgbClr val="F4F7FB"/>
                </a:solidFill>
                <a:latin typeface="Menlo"/>
                <a:ea typeface="Menlo"/>
                <a:cs typeface="Menlo"/>
              </a:defRPr>
            </a:lvl8pPr>
            <a:lvl9pPr algn="l">
              <a:defRPr sz="1425" b="0">
                <a:solidFill>
                  <a:srgbClr val="F4F7FB"/>
                </a:solidFill>
                <a:latin typeface="Menlo"/>
                <a:ea typeface="Menlo"/>
                <a:cs typeface="Menlo"/>
              </a:defRPr>
            </a:lvl9pPr>
          </a:lstStyle>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points_per_square = 2 * 3</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unused_limit = 100 * 100</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unused_copy = unused_limit</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score = 0</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for value in range(1, 21):</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    square = value * value</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    weighted = square * points_per_square</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    adjusted = weighted + 0</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    score += adjusted</a:t>
            </a:r>
          </a:p>
          <a:p xmlns:a="http://schemas.openxmlformats.org/drawingml/2006/main">
            <a:pPr algn="l">
              <a:lnSpc>
                <a:spcPct val="110000"/>
              </a:lnSpc>
              <a:buNone/>
              <a:defRPr sz="1425" b="0">
                <a:solidFill>
                  <a:srgbClr val="F4F7FB"/>
                </a:solidFill>
                <a:latin typeface="Menlo"/>
                <a:ea typeface="Menlo"/>
                <a:cs typeface="Menlo"/>
              </a:defRPr>
            </a:pPr>
            <a:r>
              <a:rPr sz="1425" b="0">
                <a:solidFill>
                  <a:srgbClr val="F4F7FB"/>
                </a:solidFill>
                <a:latin typeface="Menlo"/>
                <a:ea typeface="Menlo"/>
                <a:cs typeface="Menlo"/>
              </a:rPr>
              <a:t>print(score)</a:t>
            </a:r>
          </a:p>
        </p:txBody>
      </p:sp>
      <p:sp>
        <p:nvSpPr>
          <p:cNvPr id="6" name="">
            <a:extLst xmlns:a="http://schemas.openxmlformats.org/drawingml/2006/main">
              <a:ext uri="{FF2B5EF4-FFF2-40B4-BE49-F238E27FC236}">
                <a16:creationId xmlns:a16="http://schemas.microsoft.com/office/drawing/2014/main" id="{383487D0-C16A-455A-A201-FE13130A0D84}"/>
              </a:ext>
            </a:extLst>
          </p:cNvPr>
          <p:cNvSpPr>
            <a:spLocks xmlns:a="http://schemas.openxmlformats.org/drawingml/2006/main" noGrp="1"/>
          </p:cNvSpPr>
          <p:nvPr/>
        </p:nvSpPr>
        <p:spPr>
          <a:xfrm xmlns:a="http://schemas.openxmlformats.org/drawingml/2006/main">
            <a:off x="762000" y="4953000"/>
            <a:ext cx="390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4C1D1"/>
                </a:solidFill>
                <a:latin typeface="Avenir"/>
                <a:ea typeface="Avenir"/>
                <a:cs typeface="Avenir"/>
              </a:defRPr>
            </a:defPPr>
            <a:lvl1pPr algn="l">
              <a:defRPr sz="1425" b="0">
                <a:solidFill>
                  <a:srgbClr val="B4C1D1"/>
                </a:solidFill>
                <a:latin typeface="Avenir"/>
                <a:ea typeface="Avenir"/>
                <a:cs typeface="Avenir"/>
              </a:defRPr>
            </a:lvl1pPr>
            <a:lvl2pPr algn="l">
              <a:defRPr sz="1425" b="0">
                <a:solidFill>
                  <a:srgbClr val="B4C1D1"/>
                </a:solidFill>
                <a:latin typeface="Avenir"/>
                <a:ea typeface="Avenir"/>
                <a:cs typeface="Avenir"/>
              </a:defRPr>
            </a:lvl2pPr>
            <a:lvl3pPr algn="l">
              <a:defRPr sz="1425" b="0">
                <a:solidFill>
                  <a:srgbClr val="B4C1D1"/>
                </a:solidFill>
                <a:latin typeface="Avenir"/>
                <a:ea typeface="Avenir"/>
                <a:cs typeface="Avenir"/>
              </a:defRPr>
            </a:lvl3pPr>
            <a:lvl4pPr algn="l">
              <a:defRPr sz="1425" b="0">
                <a:solidFill>
                  <a:srgbClr val="B4C1D1"/>
                </a:solidFill>
                <a:latin typeface="Avenir"/>
                <a:ea typeface="Avenir"/>
                <a:cs typeface="Avenir"/>
              </a:defRPr>
            </a:lvl4pPr>
            <a:lvl5pPr algn="l">
              <a:defRPr sz="1425" b="0">
                <a:solidFill>
                  <a:srgbClr val="B4C1D1"/>
                </a:solidFill>
                <a:latin typeface="Avenir"/>
                <a:ea typeface="Avenir"/>
                <a:cs typeface="Avenir"/>
              </a:defRPr>
            </a:lvl5pPr>
            <a:lvl6pPr algn="l">
              <a:defRPr sz="1425" b="0">
                <a:solidFill>
                  <a:srgbClr val="B4C1D1"/>
                </a:solidFill>
                <a:latin typeface="Avenir"/>
                <a:ea typeface="Avenir"/>
                <a:cs typeface="Avenir"/>
              </a:defRPr>
            </a:lvl6pPr>
            <a:lvl7pPr algn="l">
              <a:defRPr sz="1425" b="0">
                <a:solidFill>
                  <a:srgbClr val="B4C1D1"/>
                </a:solidFill>
                <a:latin typeface="Avenir"/>
                <a:ea typeface="Avenir"/>
                <a:cs typeface="Avenir"/>
              </a:defRPr>
            </a:lvl7pPr>
            <a:lvl8pPr algn="l">
              <a:defRPr sz="1425" b="0">
                <a:solidFill>
                  <a:srgbClr val="B4C1D1"/>
                </a:solidFill>
                <a:latin typeface="Avenir"/>
                <a:ea typeface="Avenir"/>
                <a:cs typeface="Avenir"/>
              </a:defRPr>
            </a:lvl8pPr>
            <a:lvl9pPr algn="l">
              <a:defRPr sz="1425" b="0">
                <a:solidFill>
                  <a:srgbClr val="B4C1D1"/>
                </a:solidFill>
                <a:latin typeface="Avenir"/>
                <a:ea typeface="Avenir"/>
                <a:cs typeface="Avenir"/>
              </a:defRPr>
            </a:lvl9pPr>
          </a:lstStyle>
          <a:p xmlns:a="http://schemas.openxmlformats.org/drawingml/2006/main">
            <a:pPr algn="l">
              <a:lnSpc>
                <a:spcPct val="105000"/>
              </a:lnSpc>
              <a:buNone/>
              <a:defRPr sz="1425" b="0">
                <a:solidFill>
                  <a:srgbClr val="B4C1D1"/>
                </a:solidFill>
                <a:latin typeface="Avenir"/>
                <a:ea typeface="Avenir"/>
                <a:cs typeface="Avenir"/>
              </a:defRPr>
            </a:pPr>
            <a:r>
              <a:rPr sz="1425" b="0">
                <a:solidFill>
                  <a:srgbClr val="B4C1D1"/>
                </a:solidFill>
                <a:latin typeface="Avenir"/>
                <a:ea typeface="Avenir"/>
                <a:cs typeface="Avenir"/>
              </a:rPr>
              <a:t>Output from both builds</a:t>
            </a:r>
          </a:p>
        </p:txBody>
      </p:sp>
      <p:sp>
        <p:nvSpPr>
          <p:cNvPr id="7" name="">
            <a:extLst xmlns:a="http://schemas.openxmlformats.org/drawingml/2006/main">
              <a:ext uri="{FF2B5EF4-FFF2-40B4-BE49-F238E27FC236}">
                <a16:creationId xmlns:a16="http://schemas.microsoft.com/office/drawing/2014/main" id="{5C87FBE9-11EE-454A-8D5E-8F7DA27394DA}"/>
              </a:ext>
            </a:extLst>
          </p:cNvPr>
          <p:cNvSpPr>
            <a:spLocks xmlns:a="http://schemas.openxmlformats.org/drawingml/2006/main" noGrp="1"/>
          </p:cNvSpPr>
          <p:nvPr/>
        </p:nvSpPr>
        <p:spPr>
          <a:xfrm xmlns:a="http://schemas.openxmlformats.org/drawingml/2006/main">
            <a:off x="762000" y="531495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750" b="1">
                <a:solidFill>
                  <a:srgbClr val="9BE3BD"/>
                </a:solidFill>
                <a:latin typeface="Avenir"/>
                <a:ea typeface="Avenir"/>
                <a:cs typeface="Avenir"/>
              </a:defRPr>
            </a:defPPr>
            <a:lvl1pPr algn="l">
              <a:defRPr sz="3750" b="1">
                <a:solidFill>
                  <a:srgbClr val="9BE3BD"/>
                </a:solidFill>
                <a:latin typeface="Avenir"/>
                <a:ea typeface="Avenir"/>
                <a:cs typeface="Avenir"/>
              </a:defRPr>
            </a:lvl1pPr>
            <a:lvl2pPr algn="l">
              <a:defRPr sz="3750" b="1">
                <a:solidFill>
                  <a:srgbClr val="9BE3BD"/>
                </a:solidFill>
                <a:latin typeface="Avenir"/>
                <a:ea typeface="Avenir"/>
                <a:cs typeface="Avenir"/>
              </a:defRPr>
            </a:lvl2pPr>
            <a:lvl3pPr algn="l">
              <a:defRPr sz="3750" b="1">
                <a:solidFill>
                  <a:srgbClr val="9BE3BD"/>
                </a:solidFill>
                <a:latin typeface="Avenir"/>
                <a:ea typeface="Avenir"/>
                <a:cs typeface="Avenir"/>
              </a:defRPr>
            </a:lvl3pPr>
            <a:lvl4pPr algn="l">
              <a:defRPr sz="3750" b="1">
                <a:solidFill>
                  <a:srgbClr val="9BE3BD"/>
                </a:solidFill>
                <a:latin typeface="Avenir"/>
                <a:ea typeface="Avenir"/>
                <a:cs typeface="Avenir"/>
              </a:defRPr>
            </a:lvl4pPr>
            <a:lvl5pPr algn="l">
              <a:defRPr sz="3750" b="1">
                <a:solidFill>
                  <a:srgbClr val="9BE3BD"/>
                </a:solidFill>
                <a:latin typeface="Avenir"/>
                <a:ea typeface="Avenir"/>
                <a:cs typeface="Avenir"/>
              </a:defRPr>
            </a:lvl5pPr>
            <a:lvl6pPr algn="l">
              <a:defRPr sz="3750" b="1">
                <a:solidFill>
                  <a:srgbClr val="9BE3BD"/>
                </a:solidFill>
                <a:latin typeface="Avenir"/>
                <a:ea typeface="Avenir"/>
                <a:cs typeface="Avenir"/>
              </a:defRPr>
            </a:lvl6pPr>
            <a:lvl7pPr algn="l">
              <a:defRPr sz="3750" b="1">
                <a:solidFill>
                  <a:srgbClr val="9BE3BD"/>
                </a:solidFill>
                <a:latin typeface="Avenir"/>
                <a:ea typeface="Avenir"/>
                <a:cs typeface="Avenir"/>
              </a:defRPr>
            </a:lvl7pPr>
            <a:lvl8pPr algn="l">
              <a:defRPr sz="3750" b="1">
                <a:solidFill>
                  <a:srgbClr val="9BE3BD"/>
                </a:solidFill>
                <a:latin typeface="Avenir"/>
                <a:ea typeface="Avenir"/>
                <a:cs typeface="Avenir"/>
              </a:defRPr>
            </a:lvl8pPr>
            <a:lvl9pPr algn="l">
              <a:defRPr sz="3750" b="1">
                <a:solidFill>
                  <a:srgbClr val="9BE3BD"/>
                </a:solidFill>
                <a:latin typeface="Avenir"/>
                <a:ea typeface="Avenir"/>
                <a:cs typeface="Avenir"/>
              </a:defRPr>
            </a:lvl9pPr>
          </a:lstStyle>
          <a:p xmlns:a="http://schemas.openxmlformats.org/drawingml/2006/main">
            <a:pPr algn="l">
              <a:lnSpc>
                <a:spcPct val="105000"/>
              </a:lnSpc>
              <a:buNone/>
              <a:defRPr sz="3750" b="1">
                <a:solidFill>
                  <a:srgbClr val="9BE3BD"/>
                </a:solidFill>
                <a:latin typeface="Avenir"/>
                <a:ea typeface="Avenir"/>
                <a:cs typeface="Avenir"/>
              </a:defRPr>
            </a:pPr>
            <a:r>
              <a:rPr sz="3750" b="1">
                <a:solidFill>
                  <a:srgbClr val="9BE3BD"/>
                </a:solidFill>
                <a:latin typeface="Avenir"/>
                <a:ea typeface="Avenir"/>
                <a:cs typeface="Avenir"/>
              </a:rPr>
              <a:t>17,220</a:t>
            </a:r>
          </a:p>
        </p:txBody>
      </p:sp>
      <p:graphicFrame>
        <p:nvGraphicFramePr>
          <p:cNvPr id="8" name="Chart">
            <a:extLst xmlns:a="http://schemas.openxmlformats.org/drawingml/2006/main">
              <a:ext uri="{FF2B5EF4-FFF2-40B4-BE49-F238E27FC236}">
                <a16:creationId xmlns:a16="http://schemas.microsoft.com/office/drawing/2014/main" id="{4A409E97-6405-4B71-B849-80B84EAE1431}"/>
              </a:ext>
            </a:extLst>
          </p:cNvPr>
          <p:cNvGraphicFramePr/>
          <p:nvPr/>
        </p:nvGraphicFramePr>
        <p:xfrm>
          <a:off xmlns:a="http://schemas.openxmlformats.org/drawingml/2006/main" x="5486400" y="2076450"/>
          <a:ext xmlns:a="http://schemas.openxmlformats.org/drawingml/2006/main" cx="5715000" cy="3429000"/>
        </p:xfrm>
        <a:graphic xmlns:a="http://schemas.openxmlformats.org/drawingml/2006/main">
          <a:graphicData uri="http://schemas.openxmlformats.org/drawingml/2006/chart">
            <c:chart xmlns:r="http://schemas.openxmlformats.org/officeDocument/2006/relationships" xmlns:c="http://schemas.openxmlformats.org/drawingml/2006/chart" r:id="R442e4de196a0463b"/>
          </a:graphicData>
        </a:graphic>
      </p:graphicFrame>
      <p:sp>
        <p:nvSpPr>
          <p:cNvPr id="9" name="">
            <a:extLst xmlns:a="http://schemas.openxmlformats.org/drawingml/2006/main">
              <a:ext uri="{FF2B5EF4-FFF2-40B4-BE49-F238E27FC236}">
                <a16:creationId xmlns:a16="http://schemas.microsoft.com/office/drawing/2014/main" id="{135A54C3-28B7-47EB-BAF0-C811025931CC}"/>
              </a:ext>
            </a:extLst>
          </p:cNvPr>
          <p:cNvSpPr>
            <a:spLocks xmlns:a="http://schemas.openxmlformats.org/drawingml/2006/main" noGrp="1"/>
          </p:cNvSpPr>
          <p:nvPr/>
        </p:nvSpPr>
        <p:spPr>
          <a:xfrm xmlns:a="http://schemas.openxmlformats.org/drawingml/2006/main">
            <a:off x="5486400" y="5743575"/>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05000"/>
              </a:lnSpc>
              <a:buNone/>
              <a:defRPr sz="1500" b="0">
                <a:solidFill>
                  <a:srgbClr val="B4C1D1"/>
                </a:solidFill>
                <a:latin typeface="Avenir"/>
                <a:ea typeface="Avenir"/>
                <a:cs typeface="Avenir"/>
              </a:defRPr>
            </a:pPr>
            <a:r>
              <a:rPr sz="1500" b="0">
                <a:solidFill>
                  <a:srgbClr val="B4C1D1"/>
                </a:solidFill>
                <a:latin typeface="Avenir"/>
                <a:ea typeface="Avenir"/>
                <a:cs typeface="Avenir"/>
              </a:rPr>
              <a:t>693 → 477 executed instructions  ·  31.2% fewer</a:t>
            </a:r>
          </a:p>
        </p:txBody>
      </p:sp>
    </p:spTree>
    <p:extLst>
      <p:ext uri="{BB962C8B-B14F-4D97-AF65-F5344CB8AC3E}">
        <p14:creationId xmlns:p14="http://schemas.microsoft.com/office/powerpoint/2010/main" val="2060389249"/>
      </p:ext>
    </p:extLst>
  </p:cSld>
</p:sld>
</file>

<file path=ppt/slides/slide7.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150A128-B8E4-488C-A195-D7B4788E23CA}"/>
              </a:ext>
            </a:extLst>
          </p:cNvPr>
          <p:cNvCxnSpPr>
            <a:stCxn xmlns:a="http://schemas.openxmlformats.org/drawingml/2006/main" id="6" idx="3"/>
            <a:endCxn xmlns:a="http://schemas.openxmlformats.org/drawingml/2006/main" id="7" idx="1"/>
          </p:cNvCxnSpPr>
          <p:nvPr/>
        </p:nvCxnSpPr>
        <p:spPr>
          <a:xfrm xmlns:a="http://schemas.openxmlformats.org/drawingml/2006/main">
            <a:off x="9486900" y="3800475"/>
            <a:ext cx="41910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DF4F12B8-97CE-4554-A5C8-485D58812FC0}"/>
              </a:ext>
            </a:extLst>
          </p:cNvPr>
          <p:cNvCxnSpPr>
            <a:stCxn xmlns:a="http://schemas.openxmlformats.org/drawingml/2006/main" id="5" idx="3"/>
            <a:endCxn xmlns:a="http://schemas.openxmlformats.org/drawingml/2006/main" id="6" idx="1"/>
          </p:cNvCxnSpPr>
          <p:nvPr/>
        </p:nvCxnSpPr>
        <p:spPr>
          <a:xfrm xmlns:a="http://schemas.openxmlformats.org/drawingml/2006/main">
            <a:off x="7620000" y="3800475"/>
            <a:ext cx="438150" cy="0"/>
          </a:xfrm>
          <a:prstGeom xmlns:a="http://schemas.openxmlformats.org/drawingml/2006/main" prst="straightConnector1">
            <a:avLst/>
          </a:prstGeom>
          <a:ln xmlns:a="http://schemas.openxmlformats.org/drawingml/2006/main" w="19050">
            <a:solidFill>
              <a:srgbClr val="9BE3BD"/>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11C62F16-6ABE-47DE-AF35-2B13A2CFF412}"/>
              </a:ext>
            </a:extLst>
          </p:cNvPr>
          <p:cNvCxnSpPr>
            <a:stCxn xmlns:a="http://schemas.openxmlformats.org/drawingml/2006/main" id="4" idx="3"/>
            <a:endCxn xmlns:a="http://schemas.openxmlformats.org/drawingml/2006/main" id="5" idx="1"/>
          </p:cNvCxnSpPr>
          <p:nvPr/>
        </p:nvCxnSpPr>
        <p:spPr>
          <a:xfrm xmlns:a="http://schemas.openxmlformats.org/drawingml/2006/main">
            <a:off x="2743200" y="3800475"/>
            <a:ext cx="895350" cy="0"/>
          </a:xfrm>
          <a:prstGeom xmlns:a="http://schemas.openxmlformats.org/drawingml/2006/main" prst="straightConnector1">
            <a:avLst/>
          </a:prstGeom>
          <a:ln xmlns:a="http://schemas.openxmlformats.org/drawingml/2006/main" w="19050">
            <a:solidFill>
              <a:srgbClr val="5AD6E6"/>
            </a:solidFill>
            <a:prstDash val="solid"/>
            <a:tailEnd type="arrow" w="sm" len="sm"/>
          </a:ln>
        </p:spPr>
      </p:cxnSp>
      <p:sp>
        <p:nvSpPr>
          <p:cNvPr id="13" name="">
            <a:extLst xmlns:a="http://schemas.openxmlformats.org/drawingml/2006/main">
              <a:ext uri="{FF2B5EF4-FFF2-40B4-BE49-F238E27FC236}">
                <a16:creationId xmlns:a16="http://schemas.microsoft.com/office/drawing/2014/main" id="{5D5014AD-427B-464C-9C2C-7D0CE3ADA77A}"/>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Process-level parallel work</a:t>
            </a:r>
          </a:p>
        </p:txBody>
      </p:sp>
      <p:sp>
        <p:nvSpPr>
          <p:cNvPr id="2" name="">
            <a:extLst xmlns:a="http://schemas.openxmlformats.org/drawingml/2006/main">
              <a:ext uri="{FF2B5EF4-FFF2-40B4-BE49-F238E27FC236}">
                <a16:creationId xmlns:a16="http://schemas.microsoft.com/office/drawing/2014/main" id="{DC5DF0D8-568A-43C5-A9FC-D57164EF6A45}"/>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38E190-DBA9-4770-9585-A5D6534E2EE1}"/>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Independent integer tasks run in separate processes and feed a reduction.</a:t>
            </a:r>
          </a:p>
        </p:txBody>
      </p:sp>
      <p:sp>
        <p:nvSpPr>
          <p:cNvPr id="4" name="">
            <a:extLst xmlns:a="http://schemas.openxmlformats.org/drawingml/2006/main">
              <a:ext uri="{FF2B5EF4-FFF2-40B4-BE49-F238E27FC236}">
                <a16:creationId xmlns:a16="http://schemas.microsoft.com/office/drawing/2014/main" id="{60192503-F385-4465-ADAB-7FDA26E5D3D9}"/>
              </a:ext>
            </a:extLst>
          </p:cNvPr>
          <p:cNvSpPr>
            <a:spLocks xmlns:a="http://schemas.openxmlformats.org/drawingml/2006/main" noGrp="1"/>
          </p:cNvSpPr>
          <p:nvPr/>
        </p:nvSpPr>
        <p:spPr>
          <a:xfrm xmlns:a="http://schemas.openxmlformats.org/drawingml/2006/main">
            <a:off x="685800" y="3257550"/>
            <a:ext cx="2057400" cy="1085850"/>
          </a:xfrm>
          <a:prstGeom xmlns:a="http://schemas.openxmlformats.org/drawingml/2006/main" prst="roundRect">
            <a:avLst>
              <a:gd name="adj" fmla="val 12281"/>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800" b="0">
                <a:solidFill>
                  <a:srgbClr val="F4F7FB"/>
                </a:solidFill>
                <a:latin typeface="Avenir"/>
                <a:ea typeface="Avenir"/>
                <a:cs typeface="Avenir"/>
              </a:defRPr>
            </a:defPPr>
            <a:lvl1pPr algn="ctr">
              <a:defRPr sz="1800" b="0">
                <a:solidFill>
                  <a:srgbClr val="F4F7FB"/>
                </a:solidFill>
                <a:latin typeface="Avenir"/>
                <a:ea typeface="Avenir"/>
                <a:cs typeface="Avenir"/>
              </a:defRPr>
            </a:lvl1pPr>
            <a:lvl2pPr algn="ctr">
              <a:defRPr sz="1800" b="0">
                <a:solidFill>
                  <a:srgbClr val="F4F7FB"/>
                </a:solidFill>
                <a:latin typeface="Avenir"/>
                <a:ea typeface="Avenir"/>
                <a:cs typeface="Avenir"/>
              </a:defRPr>
            </a:lvl2pPr>
            <a:lvl3pPr algn="ctr">
              <a:defRPr sz="1800" b="0">
                <a:solidFill>
                  <a:srgbClr val="F4F7FB"/>
                </a:solidFill>
                <a:latin typeface="Avenir"/>
                <a:ea typeface="Avenir"/>
                <a:cs typeface="Avenir"/>
              </a:defRPr>
            </a:lvl3pPr>
            <a:lvl4pPr algn="ctr">
              <a:defRPr sz="1800" b="0">
                <a:solidFill>
                  <a:srgbClr val="F4F7FB"/>
                </a:solidFill>
                <a:latin typeface="Avenir"/>
                <a:ea typeface="Avenir"/>
                <a:cs typeface="Avenir"/>
              </a:defRPr>
            </a:lvl4pPr>
            <a:lvl5pPr algn="ctr">
              <a:defRPr sz="1800" b="0">
                <a:solidFill>
                  <a:srgbClr val="F4F7FB"/>
                </a:solidFill>
                <a:latin typeface="Avenir"/>
                <a:ea typeface="Avenir"/>
                <a:cs typeface="Avenir"/>
              </a:defRPr>
            </a:lvl5pPr>
            <a:lvl6pPr algn="ctr">
              <a:defRPr sz="1800" b="0">
                <a:solidFill>
                  <a:srgbClr val="F4F7FB"/>
                </a:solidFill>
                <a:latin typeface="Avenir"/>
                <a:ea typeface="Avenir"/>
                <a:cs typeface="Avenir"/>
              </a:defRPr>
            </a:lvl6pPr>
            <a:lvl7pPr algn="ctr">
              <a:defRPr sz="1800" b="0">
                <a:solidFill>
                  <a:srgbClr val="F4F7FB"/>
                </a:solidFill>
                <a:latin typeface="Avenir"/>
                <a:ea typeface="Avenir"/>
                <a:cs typeface="Avenir"/>
              </a:defRPr>
            </a:lvl7pPr>
            <a:lvl8pPr algn="ctr">
              <a:defRPr sz="1800" b="0">
                <a:solidFill>
                  <a:srgbClr val="F4F7FB"/>
                </a:solidFill>
                <a:latin typeface="Avenir"/>
                <a:ea typeface="Avenir"/>
                <a:cs typeface="Avenir"/>
              </a:defRPr>
            </a:lvl8pPr>
            <a:lvl9pPr algn="ctr">
              <a:defRPr sz="1800" b="0">
                <a:solidFill>
                  <a:srgbClr val="F4F7FB"/>
                </a:solidFill>
                <a:latin typeface="Avenir"/>
                <a:ea typeface="Avenir"/>
                <a:cs typeface="Avenir"/>
              </a:defRPr>
            </a:lvl9pPr>
          </a:lstStyle>
          <a:p xmlns:a="http://schemas.openxmlformats.org/drawingml/2006/main">
            <a:pPr algn="ctr">
              <a:lnSpc>
                <a:spcPct val="105000"/>
              </a:lnSpc>
              <a:buNone/>
              <a:defRPr sz="1800" b="0">
                <a:solidFill>
                  <a:srgbClr val="F4F7FB"/>
                </a:solidFill>
                <a:latin typeface="Avenir"/>
                <a:ea typeface="Avenir"/>
                <a:cs typeface="Avenir"/>
              </a:defRPr>
            </a:pPr>
            <a:r>
              <a:rPr sz="1800" b="0">
                <a:solidFill>
                  <a:srgbClr val="F4F7FB"/>
                </a:solidFill>
                <a:latin typeface="Avenir"/>
                <a:ea typeface="Avenir"/>
                <a:cs typeface="Avenir"/>
              </a:rPr>
              <a:t>Input range</a:t>
            </a:r>
          </a:p>
          <a:p xmlns:a="http://schemas.openxmlformats.org/drawingml/2006/main">
            <a:pPr algn="ctr">
              <a:lnSpc>
                <a:spcPct val="105000"/>
              </a:lnSpc>
              <a:buNone/>
              <a:defRPr sz="1800" b="0">
                <a:solidFill>
                  <a:srgbClr val="F4F7FB"/>
                </a:solidFill>
                <a:latin typeface="Avenir"/>
                <a:ea typeface="Avenir"/>
                <a:cs typeface="Avenir"/>
              </a:defRPr>
            </a:pPr>
            <a:r>
              <a:rPr sz="1800" b="0">
                <a:solidFill>
                  <a:srgbClr val="F4F7FB"/>
                </a:solidFill>
                <a:latin typeface="Avenir"/>
                <a:ea typeface="Avenir"/>
                <a:cs typeface="Avenir"/>
              </a:rPr>
              <a:t>0 … 999</a:t>
            </a:r>
          </a:p>
        </p:txBody>
      </p:sp>
      <p:sp>
        <p:nvSpPr>
          <p:cNvPr id="5" name="">
            <a:extLst xmlns:a="http://schemas.openxmlformats.org/drawingml/2006/main">
              <a:ext uri="{FF2B5EF4-FFF2-40B4-BE49-F238E27FC236}">
                <a16:creationId xmlns:a16="http://schemas.microsoft.com/office/drawing/2014/main" id="{F7CD5F26-57C5-44E7-9FBB-8E8BEDD47D2B}"/>
              </a:ext>
            </a:extLst>
          </p:cNvPr>
          <p:cNvSpPr>
            <a:spLocks xmlns:a="http://schemas.openxmlformats.org/drawingml/2006/main" noGrp="1"/>
          </p:cNvSpPr>
          <p:nvPr/>
        </p:nvSpPr>
        <p:spPr>
          <a:xfrm xmlns:a="http://schemas.openxmlformats.org/drawingml/2006/main">
            <a:off x="3638550" y="2628900"/>
            <a:ext cx="3981450" cy="2343150"/>
          </a:xfrm>
          <a:prstGeom xmlns:a="http://schemas.openxmlformats.org/drawingml/2006/main" prst="roundRect">
            <a:avLst>
              <a:gd name="adj" fmla="val 5691"/>
            </a:avLst>
          </a:prstGeom>
          <a:solidFill xmlns:a="http://schemas.openxmlformats.org/drawingml/2006/main">
            <a:srgbClr val="17263A"/>
          </a:solidFill>
          <a:ln xmlns:a="http://schemas.openxmlformats.org/drawingml/2006/main" w="14288">
            <a:solidFill>
              <a:srgbClr val="5AD6E6"/>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800" b="0">
                <a:solidFill>
                  <a:srgbClr val="F4F7FB"/>
                </a:solidFill>
                <a:latin typeface="Menlo"/>
                <a:ea typeface="Menlo"/>
                <a:cs typeface="Menlo"/>
              </a:defRPr>
            </a:defPPr>
            <a:lvl1pPr algn="ctr">
              <a:defRPr sz="1800" b="0">
                <a:solidFill>
                  <a:srgbClr val="F4F7FB"/>
                </a:solidFill>
                <a:latin typeface="Menlo"/>
                <a:ea typeface="Menlo"/>
                <a:cs typeface="Menlo"/>
              </a:defRPr>
            </a:lvl1pPr>
            <a:lvl2pPr algn="ctr">
              <a:defRPr sz="1800" b="0">
                <a:solidFill>
                  <a:srgbClr val="F4F7FB"/>
                </a:solidFill>
                <a:latin typeface="Menlo"/>
                <a:ea typeface="Menlo"/>
                <a:cs typeface="Menlo"/>
              </a:defRPr>
            </a:lvl2pPr>
            <a:lvl3pPr algn="ctr">
              <a:defRPr sz="1800" b="0">
                <a:solidFill>
                  <a:srgbClr val="F4F7FB"/>
                </a:solidFill>
                <a:latin typeface="Menlo"/>
                <a:ea typeface="Menlo"/>
                <a:cs typeface="Menlo"/>
              </a:defRPr>
            </a:lvl3pPr>
            <a:lvl4pPr algn="ctr">
              <a:defRPr sz="1800" b="0">
                <a:solidFill>
                  <a:srgbClr val="F4F7FB"/>
                </a:solidFill>
                <a:latin typeface="Menlo"/>
                <a:ea typeface="Menlo"/>
                <a:cs typeface="Menlo"/>
              </a:defRPr>
            </a:lvl4pPr>
            <a:lvl5pPr algn="ctr">
              <a:defRPr sz="1800" b="0">
                <a:solidFill>
                  <a:srgbClr val="F4F7FB"/>
                </a:solidFill>
                <a:latin typeface="Menlo"/>
                <a:ea typeface="Menlo"/>
                <a:cs typeface="Menlo"/>
              </a:defRPr>
            </a:lvl5pPr>
            <a:lvl6pPr algn="ctr">
              <a:defRPr sz="1800" b="0">
                <a:solidFill>
                  <a:srgbClr val="F4F7FB"/>
                </a:solidFill>
                <a:latin typeface="Menlo"/>
                <a:ea typeface="Menlo"/>
                <a:cs typeface="Menlo"/>
              </a:defRPr>
            </a:lvl6pPr>
            <a:lvl7pPr algn="ctr">
              <a:defRPr sz="1800" b="0">
                <a:solidFill>
                  <a:srgbClr val="F4F7FB"/>
                </a:solidFill>
                <a:latin typeface="Menlo"/>
                <a:ea typeface="Menlo"/>
                <a:cs typeface="Menlo"/>
              </a:defRPr>
            </a:lvl7pPr>
            <a:lvl8pPr algn="ctr">
              <a:defRPr sz="1800" b="0">
                <a:solidFill>
                  <a:srgbClr val="F4F7FB"/>
                </a:solidFill>
                <a:latin typeface="Menlo"/>
                <a:ea typeface="Menlo"/>
                <a:cs typeface="Menlo"/>
              </a:defRPr>
            </a:lvl8pPr>
            <a:lvl9pPr algn="ctr">
              <a:defRPr sz="1800" b="0">
                <a:solidFill>
                  <a:srgbClr val="F4F7FB"/>
                </a:solidFill>
                <a:latin typeface="Menlo"/>
                <a:ea typeface="Menlo"/>
                <a:cs typeface="Menlo"/>
              </a:defRPr>
            </a:lvl9pPr>
          </a:lstStyle>
          <a:p xmlns:a="http://schemas.openxmlformats.org/drawingml/2006/main">
            <a:pPr algn="ctr">
              <a:lnSpc>
                <a:spcPct val="105000"/>
              </a:lnSpc>
              <a:buNone/>
              <a:defRPr sz="1800" b="0">
                <a:solidFill>
                  <a:srgbClr val="F4F7FB"/>
                </a:solidFill>
                <a:latin typeface="Menlo"/>
                <a:ea typeface="Menlo"/>
                <a:cs typeface="Menlo"/>
              </a:defRPr>
            </a:pPr>
            <a:r>
              <a:rPr sz="1800" b="0">
                <a:solidFill>
                  <a:srgbClr val="F4F7FB"/>
                </a:solidFill>
                <a:latin typeface="Menlo"/>
                <a:ea typeface="Menlo"/>
                <a:cs typeface="Menlo"/>
              </a:rPr>
              <a:t>Process pool</a:t>
            </a:r>
          </a:p>
          <a:p xmlns:a="http://schemas.openxmlformats.org/drawingml/2006/main">
            <a:pPr algn="ctr">
              <a:lnSpc>
                <a:spcPct val="105000"/>
              </a:lnSpc>
              <a:buNone/>
              <a:defRPr sz="1800" b="0">
                <a:solidFill>
                  <a:srgbClr val="F4F7FB"/>
                </a:solidFill>
                <a:latin typeface="Menlo"/>
                <a:ea typeface="Menlo"/>
                <a:cs typeface="Menlo"/>
              </a:defRPr>
            </a:pPr>
            <a:r>
              <a:rPr sz="1800" b="0">
                <a:solidFill>
                  <a:srgbClr val="F4F7FB"/>
                </a:solidFill>
                <a:latin typeface="Menlo"/>
                <a:ea typeface="Menlo"/>
                <a:cs typeface="Menlo"/>
              </a:rPr>
              <a:t>multiple worker processes</a:t>
            </a:r>
          </a:p>
          <a:p xmlns:a="http://schemas.openxmlformats.org/drawingml/2006/main">
            <a:r>
              <a:t/>
            </a:r>
          </a:p>
          <a:p xmlns:a="http://schemas.openxmlformats.org/drawingml/2006/main">
            <a:pPr algn="ctr">
              <a:lnSpc>
                <a:spcPct val="105000"/>
              </a:lnSpc>
              <a:buNone/>
              <a:defRPr sz="1800" b="0">
                <a:solidFill>
                  <a:srgbClr val="F4F7FB"/>
                </a:solidFill>
                <a:latin typeface="Menlo"/>
                <a:ea typeface="Menlo"/>
                <a:cs typeface="Menlo"/>
              </a:defRPr>
            </a:pPr>
            <a:r>
              <a:rPr sz="1800" b="0">
                <a:solidFill>
                  <a:srgbClr val="F4F7FB"/>
                </a:solidFill>
                <a:latin typeface="Menlo"/>
                <a:ea typeface="Menlo"/>
                <a:cs typeface="Menlo"/>
              </a:rPr>
              <a:t>square(0) … square(999)</a:t>
            </a:r>
          </a:p>
        </p:txBody>
      </p:sp>
      <p:sp>
        <p:nvSpPr>
          <p:cNvPr id="6" name="">
            <a:extLst xmlns:a="http://schemas.openxmlformats.org/drawingml/2006/main">
              <a:ext uri="{FF2B5EF4-FFF2-40B4-BE49-F238E27FC236}">
                <a16:creationId xmlns:a16="http://schemas.microsoft.com/office/drawing/2014/main" id="{8E60CE14-1381-4452-994D-8EC7EF06624D}"/>
              </a:ext>
            </a:extLst>
          </p:cNvPr>
          <p:cNvSpPr>
            <a:spLocks xmlns:a="http://schemas.openxmlformats.org/drawingml/2006/main" noGrp="1"/>
          </p:cNvSpPr>
          <p:nvPr/>
        </p:nvSpPr>
        <p:spPr>
          <a:xfrm xmlns:a="http://schemas.openxmlformats.org/drawingml/2006/main">
            <a:off x="8058150" y="3257550"/>
            <a:ext cx="1428750" cy="1085850"/>
          </a:xfrm>
          <a:prstGeom xmlns:a="http://schemas.openxmlformats.org/drawingml/2006/main" prst="roundRect">
            <a:avLst>
              <a:gd name="adj" fmla="val 12281"/>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F4F7FB"/>
                </a:solidFill>
                <a:latin typeface="Avenir"/>
                <a:ea typeface="Avenir"/>
                <a:cs typeface="Avenir"/>
              </a:defRPr>
            </a:defPPr>
            <a:lvl1pPr algn="ctr">
              <a:defRPr sz="1650" b="0">
                <a:solidFill>
                  <a:srgbClr val="F4F7FB"/>
                </a:solidFill>
                <a:latin typeface="Avenir"/>
                <a:ea typeface="Avenir"/>
                <a:cs typeface="Avenir"/>
              </a:defRPr>
            </a:lvl1pPr>
            <a:lvl2pPr algn="ctr">
              <a:defRPr sz="1650" b="0">
                <a:solidFill>
                  <a:srgbClr val="F4F7FB"/>
                </a:solidFill>
                <a:latin typeface="Avenir"/>
                <a:ea typeface="Avenir"/>
                <a:cs typeface="Avenir"/>
              </a:defRPr>
            </a:lvl2pPr>
            <a:lvl3pPr algn="ctr">
              <a:defRPr sz="1650" b="0">
                <a:solidFill>
                  <a:srgbClr val="F4F7FB"/>
                </a:solidFill>
                <a:latin typeface="Avenir"/>
                <a:ea typeface="Avenir"/>
                <a:cs typeface="Avenir"/>
              </a:defRPr>
            </a:lvl3pPr>
            <a:lvl4pPr algn="ctr">
              <a:defRPr sz="1650" b="0">
                <a:solidFill>
                  <a:srgbClr val="F4F7FB"/>
                </a:solidFill>
                <a:latin typeface="Avenir"/>
                <a:ea typeface="Avenir"/>
                <a:cs typeface="Avenir"/>
              </a:defRPr>
            </a:lvl4pPr>
            <a:lvl5pPr algn="ctr">
              <a:defRPr sz="1650" b="0">
                <a:solidFill>
                  <a:srgbClr val="F4F7FB"/>
                </a:solidFill>
                <a:latin typeface="Avenir"/>
                <a:ea typeface="Avenir"/>
                <a:cs typeface="Avenir"/>
              </a:defRPr>
            </a:lvl5pPr>
            <a:lvl6pPr algn="ctr">
              <a:defRPr sz="1650" b="0">
                <a:solidFill>
                  <a:srgbClr val="F4F7FB"/>
                </a:solidFill>
                <a:latin typeface="Avenir"/>
                <a:ea typeface="Avenir"/>
                <a:cs typeface="Avenir"/>
              </a:defRPr>
            </a:lvl6pPr>
            <a:lvl7pPr algn="ctr">
              <a:defRPr sz="1650" b="0">
                <a:solidFill>
                  <a:srgbClr val="F4F7FB"/>
                </a:solidFill>
                <a:latin typeface="Avenir"/>
                <a:ea typeface="Avenir"/>
                <a:cs typeface="Avenir"/>
              </a:defRPr>
            </a:lvl7pPr>
            <a:lvl8pPr algn="ctr">
              <a:defRPr sz="1650" b="0">
                <a:solidFill>
                  <a:srgbClr val="F4F7FB"/>
                </a:solidFill>
                <a:latin typeface="Avenir"/>
                <a:ea typeface="Avenir"/>
                <a:cs typeface="Avenir"/>
              </a:defRPr>
            </a:lvl8pPr>
            <a:lvl9pPr algn="ctr">
              <a:defRPr sz="1650" b="0">
                <a:solidFill>
                  <a:srgbClr val="F4F7FB"/>
                </a:solidFill>
                <a:latin typeface="Avenir"/>
                <a:ea typeface="Avenir"/>
                <a:cs typeface="Avenir"/>
              </a:defRPr>
            </a:lvl9pPr>
          </a:lstStyle>
          <a:p xmlns:a="http://schemas.openxmlformats.org/drawingml/2006/main">
            <a:pPr algn="ctr">
              <a:lnSpc>
                <a:spcPct val="105000"/>
              </a:lnSpc>
              <a:buNone/>
              <a:defRPr sz="1650" b="0">
                <a:solidFill>
                  <a:srgbClr val="F4F7FB"/>
                </a:solidFill>
                <a:latin typeface="Avenir"/>
                <a:ea typeface="Avenir"/>
                <a:cs typeface="Avenir"/>
              </a:defRPr>
            </a:pPr>
            <a:r>
              <a:rPr sz="1650" b="0">
                <a:solidFill>
                  <a:srgbClr val="F4F7FB"/>
                </a:solidFill>
                <a:latin typeface="Avenir"/>
                <a:ea typeface="Avenir"/>
                <a:cs typeface="Avenir"/>
              </a:rPr>
              <a:t>15 integer</a:t>
            </a:r>
          </a:p>
          <a:p xmlns:a="http://schemas.openxmlformats.org/drawingml/2006/main">
            <a:pPr algn="ctr">
              <a:lnSpc>
                <a:spcPct val="105000"/>
              </a:lnSpc>
              <a:buNone/>
              <a:defRPr sz="1650" b="0">
                <a:solidFill>
                  <a:srgbClr val="F4F7FB"/>
                </a:solidFill>
                <a:latin typeface="Avenir"/>
                <a:ea typeface="Avenir"/>
                <a:cs typeface="Avenir"/>
              </a:defRPr>
            </a:pPr>
            <a:r>
              <a:rPr sz="1650" b="0">
                <a:solidFill>
                  <a:srgbClr val="F4F7FB"/>
                </a:solidFill>
                <a:latin typeface="Avenir"/>
                <a:ea typeface="Avenir"/>
                <a:cs typeface="Avenir"/>
              </a:rPr>
              <a:t>reductions</a:t>
            </a:r>
          </a:p>
        </p:txBody>
      </p:sp>
      <p:sp>
        <p:nvSpPr>
          <p:cNvPr id="7" name="">
            <a:extLst xmlns:a="http://schemas.openxmlformats.org/drawingml/2006/main">
              <a:ext uri="{FF2B5EF4-FFF2-40B4-BE49-F238E27FC236}">
                <a16:creationId xmlns:a16="http://schemas.microsoft.com/office/drawing/2014/main" id="{05E9E81C-F89A-42FF-B9B2-008AAE270C06}"/>
              </a:ext>
            </a:extLst>
          </p:cNvPr>
          <p:cNvSpPr>
            <a:spLocks xmlns:a="http://schemas.openxmlformats.org/drawingml/2006/main" noGrp="1"/>
          </p:cNvSpPr>
          <p:nvPr/>
        </p:nvSpPr>
        <p:spPr>
          <a:xfrm xmlns:a="http://schemas.openxmlformats.org/drawingml/2006/main">
            <a:off x="9906000" y="3257550"/>
            <a:ext cx="1657350" cy="1085850"/>
          </a:xfrm>
          <a:prstGeom xmlns:a="http://schemas.openxmlformats.org/drawingml/2006/main" prst="roundRect">
            <a:avLst>
              <a:gd name="adj" fmla="val 12281"/>
            </a:avLst>
          </a:prstGeom>
          <a:solidFill xmlns:a="http://schemas.openxmlformats.org/drawingml/2006/main">
            <a:srgbClr val="17263A"/>
          </a:solidFill>
          <a:ln xmlns:a="http://schemas.openxmlformats.org/drawingml/2006/main" w="14288">
            <a:solidFill>
              <a:srgbClr val="9BE3BD"/>
            </a:solidFill>
            <a:prstDash val="solid"/>
          </a:ln>
        </p:spPr>
        <p:txBody>
          <a:bodyPr xmlns:a="http://schemas.openxmlformats.org/drawingml/2006/main" wrap="square" lIns="133350" tIns="114300" rIns="133350" bIns="114300" anchor="ctr">
            <a:normAutofit fontScale="100000"/>
          </a:bodyPr>
          <a:lstStyle xmlns:a="http://schemas.openxmlformats.org/drawingml/2006/main">
            <a:defPPr algn="ctr">
              <a:defRPr sz="1650" b="0">
                <a:solidFill>
                  <a:srgbClr val="9BE3BD"/>
                </a:solidFill>
                <a:latin typeface="Avenir"/>
                <a:ea typeface="Avenir"/>
                <a:cs typeface="Avenir"/>
              </a:defRPr>
            </a:defPPr>
            <a:lvl1pPr algn="ctr">
              <a:defRPr sz="1650" b="0">
                <a:solidFill>
                  <a:srgbClr val="9BE3BD"/>
                </a:solidFill>
                <a:latin typeface="Avenir"/>
                <a:ea typeface="Avenir"/>
                <a:cs typeface="Avenir"/>
              </a:defRPr>
            </a:lvl1pPr>
            <a:lvl2pPr algn="ctr">
              <a:defRPr sz="1650" b="0">
                <a:solidFill>
                  <a:srgbClr val="9BE3BD"/>
                </a:solidFill>
                <a:latin typeface="Avenir"/>
                <a:ea typeface="Avenir"/>
                <a:cs typeface="Avenir"/>
              </a:defRPr>
            </a:lvl2pPr>
            <a:lvl3pPr algn="ctr">
              <a:defRPr sz="1650" b="0">
                <a:solidFill>
                  <a:srgbClr val="9BE3BD"/>
                </a:solidFill>
                <a:latin typeface="Avenir"/>
                <a:ea typeface="Avenir"/>
                <a:cs typeface="Avenir"/>
              </a:defRPr>
            </a:lvl3pPr>
            <a:lvl4pPr algn="ctr">
              <a:defRPr sz="1650" b="0">
                <a:solidFill>
                  <a:srgbClr val="9BE3BD"/>
                </a:solidFill>
                <a:latin typeface="Avenir"/>
                <a:ea typeface="Avenir"/>
                <a:cs typeface="Avenir"/>
              </a:defRPr>
            </a:lvl4pPr>
            <a:lvl5pPr algn="ctr">
              <a:defRPr sz="1650" b="0">
                <a:solidFill>
                  <a:srgbClr val="9BE3BD"/>
                </a:solidFill>
                <a:latin typeface="Avenir"/>
                <a:ea typeface="Avenir"/>
                <a:cs typeface="Avenir"/>
              </a:defRPr>
            </a:lvl5pPr>
            <a:lvl6pPr algn="ctr">
              <a:defRPr sz="1650" b="0">
                <a:solidFill>
                  <a:srgbClr val="9BE3BD"/>
                </a:solidFill>
                <a:latin typeface="Avenir"/>
                <a:ea typeface="Avenir"/>
                <a:cs typeface="Avenir"/>
              </a:defRPr>
            </a:lvl6pPr>
            <a:lvl7pPr algn="ctr">
              <a:defRPr sz="1650" b="0">
                <a:solidFill>
                  <a:srgbClr val="9BE3BD"/>
                </a:solidFill>
                <a:latin typeface="Avenir"/>
                <a:ea typeface="Avenir"/>
                <a:cs typeface="Avenir"/>
              </a:defRPr>
            </a:lvl7pPr>
            <a:lvl8pPr algn="ctr">
              <a:defRPr sz="1650" b="0">
                <a:solidFill>
                  <a:srgbClr val="9BE3BD"/>
                </a:solidFill>
                <a:latin typeface="Avenir"/>
                <a:ea typeface="Avenir"/>
                <a:cs typeface="Avenir"/>
              </a:defRPr>
            </a:lvl8pPr>
            <a:lvl9pPr algn="ctr">
              <a:defRPr sz="1650" b="0">
                <a:solidFill>
                  <a:srgbClr val="9BE3BD"/>
                </a:solidFill>
                <a:latin typeface="Avenir"/>
                <a:ea typeface="Avenir"/>
                <a:cs typeface="Avenir"/>
              </a:defRPr>
            </a:lvl9pPr>
          </a:lstStyle>
          <a:p xmlns:a="http://schemas.openxmlformats.org/drawingml/2006/main">
            <a:pPr algn="ctr">
              <a:lnSpc>
                <a:spcPct val="105000"/>
              </a:lnSpc>
              <a:buNone/>
              <a:defRPr sz="1650" b="0">
                <a:solidFill>
                  <a:srgbClr val="9BE3BD"/>
                </a:solidFill>
                <a:latin typeface="Avenir"/>
                <a:ea typeface="Avenir"/>
                <a:cs typeface="Avenir"/>
              </a:defRPr>
            </a:pPr>
            <a:r>
              <a:rPr sz="1650" b="0">
                <a:solidFill>
                  <a:srgbClr val="9BE3BD"/>
                </a:solidFill>
                <a:latin typeface="Avenir"/>
                <a:ea typeface="Avenir"/>
                <a:cs typeface="Avenir"/>
              </a:rPr>
              <a:t>332,833,500</a:t>
            </a:r>
          </a:p>
        </p:txBody>
      </p:sp>
      <p:sp>
        <p:nvSpPr>
          <p:cNvPr id="11" name="">
            <a:extLst xmlns:a="http://schemas.openxmlformats.org/drawingml/2006/main">
              <a:ext uri="{FF2B5EF4-FFF2-40B4-BE49-F238E27FC236}">
                <a16:creationId xmlns:a16="http://schemas.microsoft.com/office/drawing/2014/main" id="{AA6A83DA-77A0-4D0A-A5F0-77C142A41D5A}"/>
              </a:ext>
            </a:extLst>
          </p:cNvPr>
          <p:cNvSpPr>
            <a:spLocks xmlns:a="http://schemas.openxmlformats.org/drawingml/2006/main" noGrp="1"/>
          </p:cNvSpPr>
          <p:nvPr/>
        </p:nvSpPr>
        <p:spPr>
          <a:xfrm xmlns:a="http://schemas.openxmlformats.org/drawingml/2006/main">
            <a:off x="704850" y="5429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4C1D1"/>
                </a:solidFill>
                <a:latin typeface="Avenir"/>
                <a:ea typeface="Avenir"/>
                <a:cs typeface="Avenir"/>
              </a:defRPr>
            </a:defPPr>
            <a:lvl1pPr algn="l">
              <a:defRPr sz="1425" b="0">
                <a:solidFill>
                  <a:srgbClr val="B4C1D1"/>
                </a:solidFill>
                <a:latin typeface="Avenir"/>
                <a:ea typeface="Avenir"/>
                <a:cs typeface="Avenir"/>
              </a:defRPr>
            </a:lvl1pPr>
            <a:lvl2pPr algn="l">
              <a:defRPr sz="1425" b="0">
                <a:solidFill>
                  <a:srgbClr val="B4C1D1"/>
                </a:solidFill>
                <a:latin typeface="Avenir"/>
                <a:ea typeface="Avenir"/>
                <a:cs typeface="Avenir"/>
              </a:defRPr>
            </a:lvl2pPr>
            <a:lvl3pPr algn="l">
              <a:defRPr sz="1425" b="0">
                <a:solidFill>
                  <a:srgbClr val="B4C1D1"/>
                </a:solidFill>
                <a:latin typeface="Avenir"/>
                <a:ea typeface="Avenir"/>
                <a:cs typeface="Avenir"/>
              </a:defRPr>
            </a:lvl3pPr>
            <a:lvl4pPr algn="l">
              <a:defRPr sz="1425" b="0">
                <a:solidFill>
                  <a:srgbClr val="B4C1D1"/>
                </a:solidFill>
                <a:latin typeface="Avenir"/>
                <a:ea typeface="Avenir"/>
                <a:cs typeface="Avenir"/>
              </a:defRPr>
            </a:lvl4pPr>
            <a:lvl5pPr algn="l">
              <a:defRPr sz="1425" b="0">
                <a:solidFill>
                  <a:srgbClr val="B4C1D1"/>
                </a:solidFill>
                <a:latin typeface="Avenir"/>
                <a:ea typeface="Avenir"/>
                <a:cs typeface="Avenir"/>
              </a:defRPr>
            </a:lvl5pPr>
            <a:lvl6pPr algn="l">
              <a:defRPr sz="1425" b="0">
                <a:solidFill>
                  <a:srgbClr val="B4C1D1"/>
                </a:solidFill>
                <a:latin typeface="Avenir"/>
                <a:ea typeface="Avenir"/>
                <a:cs typeface="Avenir"/>
              </a:defRPr>
            </a:lvl6pPr>
            <a:lvl7pPr algn="l">
              <a:defRPr sz="1425" b="0">
                <a:solidFill>
                  <a:srgbClr val="B4C1D1"/>
                </a:solidFill>
                <a:latin typeface="Avenir"/>
                <a:ea typeface="Avenir"/>
                <a:cs typeface="Avenir"/>
              </a:defRPr>
            </a:lvl7pPr>
            <a:lvl8pPr algn="l">
              <a:defRPr sz="1425" b="0">
                <a:solidFill>
                  <a:srgbClr val="B4C1D1"/>
                </a:solidFill>
                <a:latin typeface="Avenir"/>
                <a:ea typeface="Avenir"/>
                <a:cs typeface="Avenir"/>
              </a:defRPr>
            </a:lvl8pPr>
            <a:lvl9pPr algn="l">
              <a:defRPr sz="1425" b="0">
                <a:solidFill>
                  <a:srgbClr val="B4C1D1"/>
                </a:solidFill>
                <a:latin typeface="Avenir"/>
                <a:ea typeface="Avenir"/>
                <a:cs typeface="Avenir"/>
              </a:defRPr>
            </a:lvl9pPr>
          </a:lstStyle>
          <a:p xmlns:a="http://schemas.openxmlformats.org/drawingml/2006/main">
            <a:pPr algn="l">
              <a:lnSpc>
                <a:spcPct val="105000"/>
              </a:lnSpc>
              <a:buNone/>
              <a:defRPr sz="1425" b="0">
                <a:solidFill>
                  <a:srgbClr val="B4C1D1"/>
                </a:solidFill>
                <a:latin typeface="Avenir"/>
                <a:ea typeface="Avenir"/>
                <a:cs typeface="Avenir"/>
              </a:defRPr>
            </a:pPr>
            <a:r>
              <a:rPr sz="1425" b="0">
                <a:solidFill>
                  <a:srgbClr val="B4C1D1"/>
                </a:solidFill>
                <a:latin typeface="Avenir"/>
                <a:ea typeface="Avenir"/>
                <a:cs typeface="Avenir"/>
              </a:rPr>
              <a:t>Each task gets an isolated VM frame. The pool size depends on the machine.</a:t>
            </a:r>
          </a:p>
        </p:txBody>
      </p:sp>
      <p:sp>
        <p:nvSpPr>
          <p:cNvPr id="12" name="">
            <a:extLst xmlns:a="http://schemas.openxmlformats.org/drawingml/2006/main">
              <a:ext uri="{FF2B5EF4-FFF2-40B4-BE49-F238E27FC236}">
                <a16:creationId xmlns:a16="http://schemas.microsoft.com/office/drawing/2014/main" id="{DDB071B0-5BDD-48CA-BCE6-0574031D0DB2}"/>
              </a:ext>
            </a:extLst>
          </p:cNvPr>
          <p:cNvSpPr>
            <a:spLocks xmlns:a="http://schemas.openxmlformats.org/drawingml/2006/main" noGrp="1"/>
          </p:cNvSpPr>
          <p:nvPr/>
        </p:nvSpPr>
        <p:spPr>
          <a:xfrm xmlns:a="http://schemas.openxmlformats.org/drawingml/2006/main">
            <a:off x="704850" y="58864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4C1D1"/>
                </a:solidFill>
                <a:latin typeface="Avenir"/>
                <a:ea typeface="Avenir"/>
                <a:cs typeface="Avenir"/>
              </a:defRPr>
            </a:defPPr>
            <a:lvl1pPr algn="l">
              <a:defRPr sz="1350" b="0">
                <a:solidFill>
                  <a:srgbClr val="B4C1D1"/>
                </a:solidFill>
                <a:latin typeface="Avenir"/>
                <a:ea typeface="Avenir"/>
                <a:cs typeface="Avenir"/>
              </a:defRPr>
            </a:lvl1pPr>
            <a:lvl2pPr algn="l">
              <a:defRPr sz="1350" b="0">
                <a:solidFill>
                  <a:srgbClr val="B4C1D1"/>
                </a:solidFill>
                <a:latin typeface="Avenir"/>
                <a:ea typeface="Avenir"/>
                <a:cs typeface="Avenir"/>
              </a:defRPr>
            </a:lvl2pPr>
            <a:lvl3pPr algn="l">
              <a:defRPr sz="1350" b="0">
                <a:solidFill>
                  <a:srgbClr val="B4C1D1"/>
                </a:solidFill>
                <a:latin typeface="Avenir"/>
                <a:ea typeface="Avenir"/>
                <a:cs typeface="Avenir"/>
              </a:defRPr>
            </a:lvl3pPr>
            <a:lvl4pPr algn="l">
              <a:defRPr sz="1350" b="0">
                <a:solidFill>
                  <a:srgbClr val="B4C1D1"/>
                </a:solidFill>
                <a:latin typeface="Avenir"/>
                <a:ea typeface="Avenir"/>
                <a:cs typeface="Avenir"/>
              </a:defRPr>
            </a:lvl4pPr>
            <a:lvl5pPr algn="l">
              <a:defRPr sz="1350" b="0">
                <a:solidFill>
                  <a:srgbClr val="B4C1D1"/>
                </a:solidFill>
                <a:latin typeface="Avenir"/>
                <a:ea typeface="Avenir"/>
                <a:cs typeface="Avenir"/>
              </a:defRPr>
            </a:lvl5pPr>
            <a:lvl6pPr algn="l">
              <a:defRPr sz="1350" b="0">
                <a:solidFill>
                  <a:srgbClr val="B4C1D1"/>
                </a:solidFill>
                <a:latin typeface="Avenir"/>
                <a:ea typeface="Avenir"/>
                <a:cs typeface="Avenir"/>
              </a:defRPr>
            </a:lvl6pPr>
            <a:lvl7pPr algn="l">
              <a:defRPr sz="1350" b="0">
                <a:solidFill>
                  <a:srgbClr val="B4C1D1"/>
                </a:solidFill>
                <a:latin typeface="Avenir"/>
                <a:ea typeface="Avenir"/>
                <a:cs typeface="Avenir"/>
              </a:defRPr>
            </a:lvl7pPr>
            <a:lvl8pPr algn="l">
              <a:defRPr sz="1350" b="0">
                <a:solidFill>
                  <a:srgbClr val="B4C1D1"/>
                </a:solidFill>
                <a:latin typeface="Avenir"/>
                <a:ea typeface="Avenir"/>
                <a:cs typeface="Avenir"/>
              </a:defRPr>
            </a:lvl8pPr>
            <a:lvl9pPr algn="l">
              <a:defRPr sz="1350" b="0">
                <a:solidFill>
                  <a:srgbClr val="B4C1D1"/>
                </a:solidFill>
                <a:latin typeface="Avenir"/>
                <a:ea typeface="Avenir"/>
                <a:cs typeface="Avenir"/>
              </a:defRPr>
            </a:lvl9pPr>
          </a:lstStyle>
          <a:p xmlns:a="http://schemas.openxmlformats.org/drawingml/2006/main">
            <a:pPr algn="l">
              <a:lnSpc>
                <a:spcPct val="105000"/>
              </a:lnSpc>
              <a:buNone/>
              <a:defRPr sz="1350" b="0">
                <a:solidFill>
                  <a:srgbClr val="B4C1D1"/>
                </a:solidFill>
                <a:latin typeface="Avenir"/>
                <a:ea typeface="Avenir"/>
                <a:cs typeface="Avenir"/>
              </a:defRPr>
            </a:pPr>
            <a:r>
              <a:rPr sz="1350" b="0">
                <a:solidFill>
                  <a:srgbClr val="B4C1D1"/>
                </a:solidFill>
                <a:latin typeface="Avenir"/>
                <a:ea typeface="Avenir"/>
                <a:cs typeface="Avenir"/>
              </a:rPr>
              <a:t>Workers cannot print, call other functions, or start nested reductions.</a:t>
            </a:r>
          </a:p>
        </p:txBody>
      </p:sp>
    </p:spTree>
    <p:extLst>
      <p:ext uri="{BB962C8B-B14F-4D97-AF65-F5344CB8AC3E}">
        <p14:creationId xmlns:p14="http://schemas.microsoft.com/office/powerpoint/2010/main" val="1368161255"/>
      </p:ext>
    </p:extLst>
  </p:cSld>
</p:sld>
</file>

<file path=ppt/slides/slide8.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FFBAE8-3718-44C3-9519-B068B014968C}"/>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Integer reduction operations</a:t>
            </a:r>
          </a:p>
        </p:txBody>
      </p:sp>
      <p:sp>
        <p:nvSpPr>
          <p:cNvPr id="2" name="">
            <a:extLst xmlns:a="http://schemas.openxmlformats.org/drawingml/2006/main">
              <a:ext uri="{FF2B5EF4-FFF2-40B4-BE49-F238E27FC236}">
                <a16:creationId xmlns:a16="http://schemas.microsoft.com/office/drawing/2014/main" id="{98D89B48-11CE-455B-9D59-9EE0E69A28EA}"/>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7471B3-D301-4EAF-AEA0-D3DA59CB6C93}"/>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Each operation combines the worker's integer results using a defined rule.</a:t>
            </a:r>
          </a:p>
        </p:txBody>
      </p:sp>
      <p:sp>
        <p:nvSpPr>
          <p:cNvPr id="4" name="">
            <a:extLst xmlns:a="http://schemas.openxmlformats.org/drawingml/2006/main">
              <a:ext uri="{FF2B5EF4-FFF2-40B4-BE49-F238E27FC236}">
                <a16:creationId xmlns:a16="http://schemas.microsoft.com/office/drawing/2014/main" id="{338BF974-B06D-4971-B488-0308142CDFAE}"/>
              </a:ext>
            </a:extLst>
          </p:cNvPr>
          <p:cNvSpPr>
            <a:spLocks xmlns:a="http://schemas.openxmlformats.org/drawingml/2006/main" noGrp="1"/>
          </p:cNvSpPr>
          <p:nvPr/>
        </p:nvSpPr>
        <p:spPr>
          <a:xfrm xmlns:a="http://schemas.openxmlformats.org/drawingml/2006/main">
            <a:off x="762000" y="22098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AD6E6"/>
                </a:solidFill>
                <a:latin typeface="Avenir"/>
                <a:ea typeface="Avenir"/>
                <a:cs typeface="Avenir"/>
              </a:defRPr>
            </a:defPPr>
            <a:lvl1pPr algn="l">
              <a:defRPr sz="1350" b="1">
                <a:solidFill>
                  <a:srgbClr val="5AD6E6"/>
                </a:solidFill>
                <a:latin typeface="Avenir"/>
                <a:ea typeface="Avenir"/>
                <a:cs typeface="Avenir"/>
              </a:defRPr>
            </a:lvl1pPr>
            <a:lvl2pPr algn="l">
              <a:defRPr sz="1350" b="1">
                <a:solidFill>
                  <a:srgbClr val="5AD6E6"/>
                </a:solidFill>
                <a:latin typeface="Avenir"/>
                <a:ea typeface="Avenir"/>
                <a:cs typeface="Avenir"/>
              </a:defRPr>
            </a:lvl2pPr>
            <a:lvl3pPr algn="l">
              <a:defRPr sz="1350" b="1">
                <a:solidFill>
                  <a:srgbClr val="5AD6E6"/>
                </a:solidFill>
                <a:latin typeface="Avenir"/>
                <a:ea typeface="Avenir"/>
                <a:cs typeface="Avenir"/>
              </a:defRPr>
            </a:lvl3pPr>
            <a:lvl4pPr algn="l">
              <a:defRPr sz="1350" b="1">
                <a:solidFill>
                  <a:srgbClr val="5AD6E6"/>
                </a:solidFill>
                <a:latin typeface="Avenir"/>
                <a:ea typeface="Avenir"/>
                <a:cs typeface="Avenir"/>
              </a:defRPr>
            </a:lvl4pPr>
            <a:lvl5pPr algn="l">
              <a:defRPr sz="1350" b="1">
                <a:solidFill>
                  <a:srgbClr val="5AD6E6"/>
                </a:solidFill>
                <a:latin typeface="Avenir"/>
                <a:ea typeface="Avenir"/>
                <a:cs typeface="Avenir"/>
              </a:defRPr>
            </a:lvl5pPr>
            <a:lvl6pPr algn="l">
              <a:defRPr sz="1350" b="1">
                <a:solidFill>
                  <a:srgbClr val="5AD6E6"/>
                </a:solidFill>
                <a:latin typeface="Avenir"/>
                <a:ea typeface="Avenir"/>
                <a:cs typeface="Avenir"/>
              </a:defRPr>
            </a:lvl6pPr>
            <a:lvl7pPr algn="l">
              <a:defRPr sz="1350" b="1">
                <a:solidFill>
                  <a:srgbClr val="5AD6E6"/>
                </a:solidFill>
                <a:latin typeface="Avenir"/>
                <a:ea typeface="Avenir"/>
                <a:cs typeface="Avenir"/>
              </a:defRPr>
            </a:lvl7pPr>
            <a:lvl8pPr algn="l">
              <a:defRPr sz="1350" b="1">
                <a:solidFill>
                  <a:srgbClr val="5AD6E6"/>
                </a:solidFill>
                <a:latin typeface="Avenir"/>
                <a:ea typeface="Avenir"/>
                <a:cs typeface="Avenir"/>
              </a:defRPr>
            </a:lvl8pPr>
            <a:lvl9pPr algn="l">
              <a:defRPr sz="1350" b="1">
                <a:solidFill>
                  <a:srgbClr val="5AD6E6"/>
                </a:solidFill>
                <a:latin typeface="Avenir"/>
                <a:ea typeface="Avenir"/>
                <a:cs typeface="Avenir"/>
              </a:defRPr>
            </a:lvl9pPr>
          </a:lstStyle>
          <a:p xmlns:a="http://schemas.openxmlformats.org/drawingml/2006/main">
            <a:pPr algn="l">
              <a:lnSpc>
                <a:spcPct val="105000"/>
              </a:lnSpc>
              <a:buNone/>
              <a:defRPr sz="1350" b="1">
                <a:solidFill>
                  <a:srgbClr val="5AD6E6"/>
                </a:solidFill>
                <a:latin typeface="Avenir"/>
                <a:ea typeface="Avenir"/>
                <a:cs typeface="Avenir"/>
              </a:defRPr>
            </a:pPr>
            <a:r>
              <a:rPr sz="1350" b="1">
                <a:solidFill>
                  <a:srgbClr val="5AD6E6"/>
                </a:solidFill>
                <a:latin typeface="Avenir"/>
                <a:ea typeface="Avenir"/>
                <a:cs typeface="Avenir"/>
              </a:rPr>
              <a:t>ARITHMETIC</a:t>
            </a:r>
          </a:p>
        </p:txBody>
      </p:sp>
      <p:sp>
        <p:nvSpPr>
          <p:cNvPr id="5" name="">
            <a:extLst xmlns:a="http://schemas.openxmlformats.org/drawingml/2006/main">
              <a:ext uri="{FF2B5EF4-FFF2-40B4-BE49-F238E27FC236}">
                <a16:creationId xmlns:a16="http://schemas.microsoft.com/office/drawing/2014/main" id="{35C6BE53-D38F-417A-B309-9693F7385A88}"/>
              </a:ext>
            </a:extLst>
          </p:cNvPr>
          <p:cNvSpPr>
            <a:spLocks xmlns:a="http://schemas.openxmlformats.org/drawingml/2006/main" noGrp="1"/>
          </p:cNvSpPr>
          <p:nvPr/>
        </p:nvSpPr>
        <p:spPr>
          <a:xfrm xmlns:a="http://schemas.openxmlformats.org/drawingml/2006/main">
            <a:off x="762000" y="2781300"/>
            <a:ext cx="3333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4F7FB"/>
                </a:solidFill>
                <a:latin typeface="Menlo"/>
                <a:ea typeface="Menlo"/>
                <a:cs typeface="Menlo"/>
              </a:defRPr>
            </a:defPPr>
            <a:lvl1pPr algn="l">
              <a:defRPr sz="1575" b="0">
                <a:solidFill>
                  <a:srgbClr val="F4F7FB"/>
                </a:solidFill>
                <a:latin typeface="Menlo"/>
                <a:ea typeface="Menlo"/>
                <a:cs typeface="Menlo"/>
              </a:defRPr>
            </a:lvl1pPr>
            <a:lvl2pPr algn="l">
              <a:defRPr sz="1575" b="0">
                <a:solidFill>
                  <a:srgbClr val="F4F7FB"/>
                </a:solidFill>
                <a:latin typeface="Menlo"/>
                <a:ea typeface="Menlo"/>
                <a:cs typeface="Menlo"/>
              </a:defRPr>
            </a:lvl2pPr>
            <a:lvl3pPr algn="l">
              <a:defRPr sz="1575" b="0">
                <a:solidFill>
                  <a:srgbClr val="F4F7FB"/>
                </a:solidFill>
                <a:latin typeface="Menlo"/>
                <a:ea typeface="Menlo"/>
                <a:cs typeface="Menlo"/>
              </a:defRPr>
            </a:lvl3pPr>
            <a:lvl4pPr algn="l">
              <a:defRPr sz="1575" b="0">
                <a:solidFill>
                  <a:srgbClr val="F4F7FB"/>
                </a:solidFill>
                <a:latin typeface="Menlo"/>
                <a:ea typeface="Menlo"/>
                <a:cs typeface="Menlo"/>
              </a:defRPr>
            </a:lvl4pPr>
            <a:lvl5pPr algn="l">
              <a:defRPr sz="1575" b="0">
                <a:solidFill>
                  <a:srgbClr val="F4F7FB"/>
                </a:solidFill>
                <a:latin typeface="Menlo"/>
                <a:ea typeface="Menlo"/>
                <a:cs typeface="Menlo"/>
              </a:defRPr>
            </a:lvl5pPr>
            <a:lvl6pPr algn="l">
              <a:defRPr sz="1575" b="0">
                <a:solidFill>
                  <a:srgbClr val="F4F7FB"/>
                </a:solidFill>
                <a:latin typeface="Menlo"/>
                <a:ea typeface="Menlo"/>
                <a:cs typeface="Menlo"/>
              </a:defRPr>
            </a:lvl6pPr>
            <a:lvl7pPr algn="l">
              <a:defRPr sz="1575" b="0">
                <a:solidFill>
                  <a:srgbClr val="F4F7FB"/>
                </a:solidFill>
                <a:latin typeface="Menlo"/>
                <a:ea typeface="Menlo"/>
                <a:cs typeface="Menlo"/>
              </a:defRPr>
            </a:lvl7pPr>
            <a:lvl8pPr algn="l">
              <a:defRPr sz="1575" b="0">
                <a:solidFill>
                  <a:srgbClr val="F4F7FB"/>
                </a:solidFill>
                <a:latin typeface="Menlo"/>
                <a:ea typeface="Menlo"/>
                <a:cs typeface="Menlo"/>
              </a:defRPr>
            </a:lvl8pPr>
            <a:lvl9pPr algn="l">
              <a:defRPr sz="1575" b="0">
                <a:solidFill>
                  <a:srgbClr val="F4F7FB"/>
                </a:solidFill>
                <a:latin typeface="Menlo"/>
                <a:ea typeface="Menlo"/>
                <a:cs typeface="Menlo"/>
              </a:defRPr>
            </a:lvl9pPr>
          </a:lstStyle>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parallel_sum</a:t>
            </a:r>
          </a:p>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parallel_product</a:t>
            </a:r>
          </a:p>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parallel_average</a:t>
            </a:r>
          </a:p>
          <a:p xmlns:a="http://schemas.openxmlformats.org/drawingml/2006/main">
            <a:r>
              <a:t/>
            </a:r>
          </a:p>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Average uses floor division.</a:t>
            </a:r>
          </a:p>
        </p:txBody>
      </p:sp>
      <p:sp>
        <p:nvSpPr>
          <p:cNvPr id="6" name="">
            <a:extLst xmlns:a="http://schemas.openxmlformats.org/drawingml/2006/main">
              <a:ext uri="{FF2B5EF4-FFF2-40B4-BE49-F238E27FC236}">
                <a16:creationId xmlns:a16="http://schemas.microsoft.com/office/drawing/2014/main" id="{ED60FDD3-4BB6-4336-BE46-C8E547C17164}"/>
              </a:ext>
            </a:extLst>
          </p:cNvPr>
          <p:cNvSpPr>
            <a:spLocks xmlns:a="http://schemas.openxmlformats.org/drawingml/2006/main" noGrp="1"/>
          </p:cNvSpPr>
          <p:nvPr/>
        </p:nvSpPr>
        <p:spPr>
          <a:xfrm xmlns:a="http://schemas.openxmlformats.org/drawingml/2006/main">
            <a:off x="4191000" y="2171700"/>
            <a:ext cx="14288" cy="30670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0F9651C-2463-425F-8DEE-A6EBA40CACF8}"/>
              </a:ext>
            </a:extLst>
          </p:cNvPr>
          <p:cNvSpPr>
            <a:spLocks xmlns:a="http://schemas.openxmlformats.org/drawingml/2006/main" noGrp="1"/>
          </p:cNvSpPr>
          <p:nvPr/>
        </p:nvSpPr>
        <p:spPr>
          <a:xfrm xmlns:a="http://schemas.openxmlformats.org/drawingml/2006/main">
            <a:off x="4514850" y="22098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E3BD"/>
                </a:solidFill>
                <a:latin typeface="Avenir"/>
                <a:ea typeface="Avenir"/>
                <a:cs typeface="Avenir"/>
              </a:defRPr>
            </a:defPPr>
            <a:lvl1pPr algn="l">
              <a:defRPr sz="1350" b="1">
                <a:solidFill>
                  <a:srgbClr val="9BE3BD"/>
                </a:solidFill>
                <a:latin typeface="Avenir"/>
                <a:ea typeface="Avenir"/>
                <a:cs typeface="Avenir"/>
              </a:defRPr>
            </a:lvl1pPr>
            <a:lvl2pPr algn="l">
              <a:defRPr sz="1350" b="1">
                <a:solidFill>
                  <a:srgbClr val="9BE3BD"/>
                </a:solidFill>
                <a:latin typeface="Avenir"/>
                <a:ea typeface="Avenir"/>
                <a:cs typeface="Avenir"/>
              </a:defRPr>
            </a:lvl2pPr>
            <a:lvl3pPr algn="l">
              <a:defRPr sz="1350" b="1">
                <a:solidFill>
                  <a:srgbClr val="9BE3BD"/>
                </a:solidFill>
                <a:latin typeface="Avenir"/>
                <a:ea typeface="Avenir"/>
                <a:cs typeface="Avenir"/>
              </a:defRPr>
            </a:lvl3pPr>
            <a:lvl4pPr algn="l">
              <a:defRPr sz="1350" b="1">
                <a:solidFill>
                  <a:srgbClr val="9BE3BD"/>
                </a:solidFill>
                <a:latin typeface="Avenir"/>
                <a:ea typeface="Avenir"/>
                <a:cs typeface="Avenir"/>
              </a:defRPr>
            </a:lvl4pPr>
            <a:lvl5pPr algn="l">
              <a:defRPr sz="1350" b="1">
                <a:solidFill>
                  <a:srgbClr val="9BE3BD"/>
                </a:solidFill>
                <a:latin typeface="Avenir"/>
                <a:ea typeface="Avenir"/>
                <a:cs typeface="Avenir"/>
              </a:defRPr>
            </a:lvl5pPr>
            <a:lvl6pPr algn="l">
              <a:defRPr sz="1350" b="1">
                <a:solidFill>
                  <a:srgbClr val="9BE3BD"/>
                </a:solidFill>
                <a:latin typeface="Avenir"/>
                <a:ea typeface="Avenir"/>
                <a:cs typeface="Avenir"/>
              </a:defRPr>
            </a:lvl6pPr>
            <a:lvl7pPr algn="l">
              <a:defRPr sz="1350" b="1">
                <a:solidFill>
                  <a:srgbClr val="9BE3BD"/>
                </a:solidFill>
                <a:latin typeface="Avenir"/>
                <a:ea typeface="Avenir"/>
                <a:cs typeface="Avenir"/>
              </a:defRPr>
            </a:lvl7pPr>
            <a:lvl8pPr algn="l">
              <a:defRPr sz="1350" b="1">
                <a:solidFill>
                  <a:srgbClr val="9BE3BD"/>
                </a:solidFill>
                <a:latin typeface="Avenir"/>
                <a:ea typeface="Avenir"/>
                <a:cs typeface="Avenir"/>
              </a:defRPr>
            </a:lvl8pPr>
            <a:lvl9pPr algn="l">
              <a:defRPr sz="1350" b="1">
                <a:solidFill>
                  <a:srgbClr val="9BE3BD"/>
                </a:solidFill>
                <a:latin typeface="Avenir"/>
                <a:ea typeface="Avenir"/>
                <a:cs typeface="Avenir"/>
              </a:defRPr>
            </a:lvl9pPr>
          </a:lstStyle>
          <a:p xmlns:a="http://schemas.openxmlformats.org/drawingml/2006/main">
            <a:pPr algn="l">
              <a:lnSpc>
                <a:spcPct val="105000"/>
              </a:lnSpc>
              <a:buNone/>
              <a:defRPr sz="1350" b="1">
                <a:solidFill>
                  <a:srgbClr val="9BE3BD"/>
                </a:solidFill>
                <a:latin typeface="Avenir"/>
                <a:ea typeface="Avenir"/>
                <a:cs typeface="Avenir"/>
              </a:defRPr>
            </a:pPr>
            <a:r>
              <a:rPr sz="1350" b="1">
                <a:solidFill>
                  <a:srgbClr val="9BE3BD"/>
                </a:solidFill>
                <a:latin typeface="Avenir"/>
                <a:ea typeface="Avenir"/>
                <a:cs typeface="Avenir"/>
              </a:rPr>
              <a:t>EXTREMES AND SELECTION</a:t>
            </a:r>
          </a:p>
        </p:txBody>
      </p:sp>
      <p:sp>
        <p:nvSpPr>
          <p:cNvPr id="8" name="">
            <a:extLst xmlns:a="http://schemas.openxmlformats.org/drawingml/2006/main">
              <a:ext uri="{FF2B5EF4-FFF2-40B4-BE49-F238E27FC236}">
                <a16:creationId xmlns:a16="http://schemas.microsoft.com/office/drawing/2014/main" id="{B4AE8FBB-50CB-44C1-BA37-CACDA9016CEF}"/>
              </a:ext>
            </a:extLst>
          </p:cNvPr>
          <p:cNvSpPr>
            <a:spLocks xmlns:a="http://schemas.openxmlformats.org/drawingml/2006/main" noGrp="1"/>
          </p:cNvSpPr>
          <p:nvPr/>
        </p:nvSpPr>
        <p:spPr>
          <a:xfrm xmlns:a="http://schemas.openxmlformats.org/drawingml/2006/main">
            <a:off x="4514850" y="2781300"/>
            <a:ext cx="3333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4F7FB"/>
                </a:solidFill>
                <a:latin typeface="Menlo"/>
                <a:ea typeface="Menlo"/>
                <a:cs typeface="Menlo"/>
              </a:defRPr>
            </a:defPPr>
            <a:lvl1pPr algn="l">
              <a:defRPr sz="1575" b="0">
                <a:solidFill>
                  <a:srgbClr val="F4F7FB"/>
                </a:solidFill>
                <a:latin typeface="Menlo"/>
                <a:ea typeface="Menlo"/>
                <a:cs typeface="Menlo"/>
              </a:defRPr>
            </a:lvl1pPr>
            <a:lvl2pPr algn="l">
              <a:defRPr sz="1575" b="0">
                <a:solidFill>
                  <a:srgbClr val="F4F7FB"/>
                </a:solidFill>
                <a:latin typeface="Menlo"/>
                <a:ea typeface="Menlo"/>
                <a:cs typeface="Menlo"/>
              </a:defRPr>
            </a:lvl2pPr>
            <a:lvl3pPr algn="l">
              <a:defRPr sz="1575" b="0">
                <a:solidFill>
                  <a:srgbClr val="F4F7FB"/>
                </a:solidFill>
                <a:latin typeface="Menlo"/>
                <a:ea typeface="Menlo"/>
                <a:cs typeface="Menlo"/>
              </a:defRPr>
            </a:lvl3pPr>
            <a:lvl4pPr algn="l">
              <a:defRPr sz="1575" b="0">
                <a:solidFill>
                  <a:srgbClr val="F4F7FB"/>
                </a:solidFill>
                <a:latin typeface="Menlo"/>
                <a:ea typeface="Menlo"/>
                <a:cs typeface="Menlo"/>
              </a:defRPr>
            </a:lvl4pPr>
            <a:lvl5pPr algn="l">
              <a:defRPr sz="1575" b="0">
                <a:solidFill>
                  <a:srgbClr val="F4F7FB"/>
                </a:solidFill>
                <a:latin typeface="Menlo"/>
                <a:ea typeface="Menlo"/>
                <a:cs typeface="Menlo"/>
              </a:defRPr>
            </a:lvl5pPr>
            <a:lvl6pPr algn="l">
              <a:defRPr sz="1575" b="0">
                <a:solidFill>
                  <a:srgbClr val="F4F7FB"/>
                </a:solidFill>
                <a:latin typeface="Menlo"/>
                <a:ea typeface="Menlo"/>
                <a:cs typeface="Menlo"/>
              </a:defRPr>
            </a:lvl6pPr>
            <a:lvl7pPr algn="l">
              <a:defRPr sz="1575" b="0">
                <a:solidFill>
                  <a:srgbClr val="F4F7FB"/>
                </a:solidFill>
                <a:latin typeface="Menlo"/>
                <a:ea typeface="Menlo"/>
                <a:cs typeface="Menlo"/>
              </a:defRPr>
            </a:lvl7pPr>
            <a:lvl8pPr algn="l">
              <a:defRPr sz="1575" b="0">
                <a:solidFill>
                  <a:srgbClr val="F4F7FB"/>
                </a:solidFill>
                <a:latin typeface="Menlo"/>
                <a:ea typeface="Menlo"/>
                <a:cs typeface="Menlo"/>
              </a:defRPr>
            </a:lvl8pPr>
            <a:lvl9pPr algn="l">
              <a:defRPr sz="1575" b="0">
                <a:solidFill>
                  <a:srgbClr val="F4F7FB"/>
                </a:solidFill>
                <a:latin typeface="Menlo"/>
                <a:ea typeface="Menlo"/>
                <a:cs typeface="Menlo"/>
              </a:defRPr>
            </a:lvl9pPr>
          </a:lstStyle>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parallel_min / parallel_max</a:t>
            </a:r>
          </a:p>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parallel_argmin</a:t>
            </a:r>
          </a:p>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parallel_argmax</a:t>
            </a:r>
          </a:p>
          <a:p xmlns:a="http://schemas.openxmlformats.org/drawingml/2006/main">
            <a:r>
              <a:t/>
            </a:r>
          </a:p>
          <a:p xmlns:a="http://schemas.openxmlformats.org/drawingml/2006/main">
            <a:pPr algn="l">
              <a:lnSpc>
                <a:spcPct val="124000"/>
              </a:lnSpc>
              <a:buNone/>
              <a:defRPr sz="1575" b="0">
                <a:solidFill>
                  <a:srgbClr val="F4F7FB"/>
                </a:solidFill>
                <a:latin typeface="Menlo"/>
                <a:ea typeface="Menlo"/>
                <a:cs typeface="Menlo"/>
              </a:defRPr>
            </a:pPr>
            <a:r>
              <a:rPr sz="1575" b="0">
                <a:solidFill>
                  <a:srgbClr val="F4F7FB"/>
                </a:solidFill>
                <a:latin typeface="Menlo"/>
                <a:ea typeface="Menlo"/>
                <a:cs typeface="Menlo"/>
              </a:rPr>
              <a:t>Arg reductions return the input; ties choose the lowest input.</a:t>
            </a:r>
          </a:p>
        </p:txBody>
      </p:sp>
      <p:sp>
        <p:nvSpPr>
          <p:cNvPr id="9" name="">
            <a:extLst xmlns:a="http://schemas.openxmlformats.org/drawingml/2006/main">
              <a:ext uri="{FF2B5EF4-FFF2-40B4-BE49-F238E27FC236}">
                <a16:creationId xmlns:a16="http://schemas.microsoft.com/office/drawing/2014/main" id="{D9FCF853-B036-475B-A518-F6EB61268AC4}"/>
              </a:ext>
            </a:extLst>
          </p:cNvPr>
          <p:cNvSpPr>
            <a:spLocks xmlns:a="http://schemas.openxmlformats.org/drawingml/2006/main" noGrp="1"/>
          </p:cNvSpPr>
          <p:nvPr/>
        </p:nvSpPr>
        <p:spPr>
          <a:xfrm xmlns:a="http://schemas.openxmlformats.org/drawingml/2006/main">
            <a:off x="7943850" y="2171700"/>
            <a:ext cx="14288" cy="30670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1C4B72-96B7-437C-8F34-70A5FC1D5FB9}"/>
              </a:ext>
            </a:extLst>
          </p:cNvPr>
          <p:cNvSpPr>
            <a:spLocks xmlns:a="http://schemas.openxmlformats.org/drawingml/2006/main" noGrp="1"/>
          </p:cNvSpPr>
          <p:nvPr/>
        </p:nvSpPr>
        <p:spPr>
          <a:xfrm xmlns:a="http://schemas.openxmlformats.org/drawingml/2006/main">
            <a:off x="8267700" y="22098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C86A"/>
                </a:solidFill>
                <a:latin typeface="Avenir"/>
                <a:ea typeface="Avenir"/>
                <a:cs typeface="Avenir"/>
              </a:defRPr>
            </a:defPPr>
            <a:lvl1pPr algn="l">
              <a:defRPr sz="1350" b="1">
                <a:solidFill>
                  <a:srgbClr val="FFC86A"/>
                </a:solidFill>
                <a:latin typeface="Avenir"/>
                <a:ea typeface="Avenir"/>
                <a:cs typeface="Avenir"/>
              </a:defRPr>
            </a:lvl1pPr>
            <a:lvl2pPr algn="l">
              <a:defRPr sz="1350" b="1">
                <a:solidFill>
                  <a:srgbClr val="FFC86A"/>
                </a:solidFill>
                <a:latin typeface="Avenir"/>
                <a:ea typeface="Avenir"/>
                <a:cs typeface="Avenir"/>
              </a:defRPr>
            </a:lvl2pPr>
            <a:lvl3pPr algn="l">
              <a:defRPr sz="1350" b="1">
                <a:solidFill>
                  <a:srgbClr val="FFC86A"/>
                </a:solidFill>
                <a:latin typeface="Avenir"/>
                <a:ea typeface="Avenir"/>
                <a:cs typeface="Avenir"/>
              </a:defRPr>
            </a:lvl3pPr>
            <a:lvl4pPr algn="l">
              <a:defRPr sz="1350" b="1">
                <a:solidFill>
                  <a:srgbClr val="FFC86A"/>
                </a:solidFill>
                <a:latin typeface="Avenir"/>
                <a:ea typeface="Avenir"/>
                <a:cs typeface="Avenir"/>
              </a:defRPr>
            </a:lvl4pPr>
            <a:lvl5pPr algn="l">
              <a:defRPr sz="1350" b="1">
                <a:solidFill>
                  <a:srgbClr val="FFC86A"/>
                </a:solidFill>
                <a:latin typeface="Avenir"/>
                <a:ea typeface="Avenir"/>
                <a:cs typeface="Avenir"/>
              </a:defRPr>
            </a:lvl5pPr>
            <a:lvl6pPr algn="l">
              <a:defRPr sz="1350" b="1">
                <a:solidFill>
                  <a:srgbClr val="FFC86A"/>
                </a:solidFill>
                <a:latin typeface="Avenir"/>
                <a:ea typeface="Avenir"/>
                <a:cs typeface="Avenir"/>
              </a:defRPr>
            </a:lvl6pPr>
            <a:lvl7pPr algn="l">
              <a:defRPr sz="1350" b="1">
                <a:solidFill>
                  <a:srgbClr val="FFC86A"/>
                </a:solidFill>
                <a:latin typeface="Avenir"/>
                <a:ea typeface="Avenir"/>
                <a:cs typeface="Avenir"/>
              </a:defRPr>
            </a:lvl7pPr>
            <a:lvl8pPr algn="l">
              <a:defRPr sz="1350" b="1">
                <a:solidFill>
                  <a:srgbClr val="FFC86A"/>
                </a:solidFill>
                <a:latin typeface="Avenir"/>
                <a:ea typeface="Avenir"/>
                <a:cs typeface="Avenir"/>
              </a:defRPr>
            </a:lvl8pPr>
            <a:lvl9pPr algn="l">
              <a:defRPr sz="1350" b="1">
                <a:solidFill>
                  <a:srgbClr val="FFC86A"/>
                </a:solidFill>
                <a:latin typeface="Avenir"/>
                <a:ea typeface="Avenir"/>
                <a:cs typeface="Avenir"/>
              </a:defRPr>
            </a:lvl9pPr>
          </a:lstStyle>
          <a:p xmlns:a="http://schemas.openxmlformats.org/drawingml/2006/main">
            <a:pPr algn="l">
              <a:lnSpc>
                <a:spcPct val="105000"/>
              </a:lnSpc>
              <a:buNone/>
              <a:defRPr sz="1350" b="1">
                <a:solidFill>
                  <a:srgbClr val="FFC86A"/>
                </a:solidFill>
                <a:latin typeface="Avenir"/>
                <a:ea typeface="Avenir"/>
                <a:cs typeface="Avenir"/>
              </a:defRPr>
            </a:pPr>
            <a:r>
              <a:rPr sz="1350" b="1">
                <a:solidFill>
                  <a:srgbClr val="FFC86A"/>
                </a:solidFill>
                <a:latin typeface="Avenir"/>
                <a:ea typeface="Avenir"/>
                <a:cs typeface="Avenir"/>
              </a:rPr>
              <a:t>PREDICATE AND INTEGER</a:t>
            </a:r>
          </a:p>
        </p:txBody>
      </p:sp>
      <p:sp>
        <p:nvSpPr>
          <p:cNvPr id="11" name="">
            <a:extLst xmlns:a="http://schemas.openxmlformats.org/drawingml/2006/main">
              <a:ext uri="{FF2B5EF4-FFF2-40B4-BE49-F238E27FC236}">
                <a16:creationId xmlns:a16="http://schemas.microsoft.com/office/drawing/2014/main" id="{9438E6E4-34A7-4BE0-8CFC-47A1DD3BD15F}"/>
              </a:ext>
            </a:extLst>
          </p:cNvPr>
          <p:cNvSpPr>
            <a:spLocks xmlns:a="http://schemas.openxmlformats.org/drawingml/2006/main" noGrp="1"/>
          </p:cNvSpPr>
          <p:nvPr/>
        </p:nvSpPr>
        <p:spPr>
          <a:xfrm xmlns:a="http://schemas.openxmlformats.org/drawingml/2006/main">
            <a:off x="8267700" y="2781300"/>
            <a:ext cx="3333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4F7FB"/>
                </a:solidFill>
                <a:latin typeface="Avenir"/>
                <a:ea typeface="Avenir"/>
                <a:cs typeface="Avenir"/>
              </a:defRPr>
            </a:defPPr>
            <a:lvl1pPr algn="l">
              <a:defRPr sz="1575" b="0">
                <a:solidFill>
                  <a:srgbClr val="F4F7FB"/>
                </a:solidFill>
                <a:latin typeface="Avenir"/>
                <a:ea typeface="Avenir"/>
                <a:cs typeface="Avenir"/>
              </a:defRPr>
            </a:lvl1pPr>
            <a:lvl2pPr algn="l">
              <a:defRPr sz="1575" b="0">
                <a:solidFill>
                  <a:srgbClr val="F4F7FB"/>
                </a:solidFill>
                <a:latin typeface="Avenir"/>
                <a:ea typeface="Avenir"/>
                <a:cs typeface="Avenir"/>
              </a:defRPr>
            </a:lvl2pPr>
            <a:lvl3pPr algn="l">
              <a:defRPr sz="1575" b="0">
                <a:solidFill>
                  <a:srgbClr val="F4F7FB"/>
                </a:solidFill>
                <a:latin typeface="Avenir"/>
                <a:ea typeface="Avenir"/>
                <a:cs typeface="Avenir"/>
              </a:defRPr>
            </a:lvl3pPr>
            <a:lvl4pPr algn="l">
              <a:defRPr sz="1575" b="0">
                <a:solidFill>
                  <a:srgbClr val="F4F7FB"/>
                </a:solidFill>
                <a:latin typeface="Avenir"/>
                <a:ea typeface="Avenir"/>
                <a:cs typeface="Avenir"/>
              </a:defRPr>
            </a:lvl4pPr>
            <a:lvl5pPr algn="l">
              <a:defRPr sz="1575" b="0">
                <a:solidFill>
                  <a:srgbClr val="F4F7FB"/>
                </a:solidFill>
                <a:latin typeface="Avenir"/>
                <a:ea typeface="Avenir"/>
                <a:cs typeface="Avenir"/>
              </a:defRPr>
            </a:lvl5pPr>
            <a:lvl6pPr algn="l">
              <a:defRPr sz="1575" b="0">
                <a:solidFill>
                  <a:srgbClr val="F4F7FB"/>
                </a:solidFill>
                <a:latin typeface="Avenir"/>
                <a:ea typeface="Avenir"/>
                <a:cs typeface="Avenir"/>
              </a:defRPr>
            </a:lvl6pPr>
            <a:lvl7pPr algn="l">
              <a:defRPr sz="1575" b="0">
                <a:solidFill>
                  <a:srgbClr val="F4F7FB"/>
                </a:solidFill>
                <a:latin typeface="Avenir"/>
                <a:ea typeface="Avenir"/>
                <a:cs typeface="Avenir"/>
              </a:defRPr>
            </a:lvl7pPr>
            <a:lvl8pPr algn="l">
              <a:defRPr sz="1575" b="0">
                <a:solidFill>
                  <a:srgbClr val="F4F7FB"/>
                </a:solidFill>
                <a:latin typeface="Avenir"/>
                <a:ea typeface="Avenir"/>
                <a:cs typeface="Avenir"/>
              </a:defRPr>
            </a:lvl8pPr>
            <a:lvl9pPr algn="l">
              <a:defRPr sz="1575" b="0">
                <a:solidFill>
                  <a:srgbClr val="F4F7FB"/>
                </a:solidFill>
                <a:latin typeface="Avenir"/>
                <a:ea typeface="Avenir"/>
                <a:cs typeface="Avenir"/>
              </a:defRPr>
            </a:lvl9pPr>
          </a:lstStyle>
          <a:p xmlns:a="http://schemas.openxmlformats.org/drawingml/2006/main">
            <a:pPr algn="l">
              <a:lnSpc>
                <a:spcPct val="124000"/>
              </a:lnSpc>
              <a:buNone/>
              <a:defRPr sz="1575" b="0">
                <a:solidFill>
                  <a:srgbClr val="F4F7FB"/>
                </a:solidFill>
                <a:latin typeface="Avenir"/>
                <a:ea typeface="Avenir"/>
                <a:cs typeface="Avenir"/>
              </a:defRPr>
            </a:pPr>
            <a:r>
              <a:rPr sz="1575" b="0">
                <a:solidFill>
                  <a:srgbClr val="F4F7FB"/>
                </a:solidFill>
                <a:latin typeface="Avenir"/>
                <a:ea typeface="Avenir"/>
                <a:cs typeface="Avenir"/>
              </a:rPr>
              <a:t>parallel_count (nonzero)</a:t>
            </a:r>
          </a:p>
          <a:p xmlns:a="http://schemas.openxmlformats.org/drawingml/2006/main">
            <a:pPr algn="l">
              <a:lnSpc>
                <a:spcPct val="124000"/>
              </a:lnSpc>
              <a:buNone/>
              <a:defRPr sz="1575" b="0">
                <a:solidFill>
                  <a:srgbClr val="F4F7FB"/>
                </a:solidFill>
                <a:latin typeface="Avenir"/>
                <a:ea typeface="Avenir"/>
                <a:cs typeface="Avenir"/>
              </a:defRPr>
            </a:pPr>
            <a:r>
              <a:rPr sz="1575" b="0">
                <a:solidFill>
                  <a:srgbClr val="F4F7FB"/>
                </a:solidFill>
                <a:latin typeface="Avenir"/>
                <a:ea typeface="Avenir"/>
                <a:cs typeface="Avenir"/>
              </a:rPr>
              <a:t>parallel_any / parallel_all</a:t>
            </a:r>
          </a:p>
          <a:p xmlns:a="http://schemas.openxmlformats.org/drawingml/2006/main">
            <a:pPr algn="l">
              <a:lnSpc>
                <a:spcPct val="124000"/>
              </a:lnSpc>
              <a:buNone/>
              <a:defRPr sz="1575" b="0">
                <a:solidFill>
                  <a:srgbClr val="F4F7FB"/>
                </a:solidFill>
                <a:latin typeface="Avenir"/>
                <a:ea typeface="Avenir"/>
                <a:cs typeface="Avenir"/>
              </a:defRPr>
            </a:pPr>
            <a:r>
              <a:rPr sz="1575" b="0">
                <a:solidFill>
                  <a:srgbClr val="F4F7FB"/>
                </a:solidFill>
                <a:latin typeface="Avenir"/>
                <a:ea typeface="Avenir"/>
                <a:cs typeface="Avenir"/>
              </a:rPr>
              <a:t>parallel_bit_and / bit_or / bit_xor</a:t>
            </a:r>
          </a:p>
          <a:p xmlns:a="http://schemas.openxmlformats.org/drawingml/2006/main">
            <a:pPr algn="l">
              <a:lnSpc>
                <a:spcPct val="124000"/>
              </a:lnSpc>
              <a:buNone/>
              <a:defRPr sz="1575" b="0">
                <a:solidFill>
                  <a:srgbClr val="F4F7FB"/>
                </a:solidFill>
                <a:latin typeface="Avenir"/>
                <a:ea typeface="Avenir"/>
                <a:cs typeface="Avenir"/>
              </a:defRPr>
            </a:pPr>
            <a:r>
              <a:rPr sz="1575" b="0">
                <a:solidFill>
                  <a:srgbClr val="F4F7FB"/>
                </a:solidFill>
                <a:latin typeface="Avenir"/>
                <a:ea typeface="Avenir"/>
                <a:cs typeface="Avenir"/>
              </a:rPr>
              <a:t>parallel_gcd / parallel_lcm</a:t>
            </a:r>
          </a:p>
        </p:txBody>
      </p:sp>
      <p:sp>
        <p:nvSpPr>
          <p:cNvPr id="12" name="">
            <a:extLst xmlns:a="http://schemas.openxmlformats.org/drawingml/2006/main">
              <a:ext uri="{FF2B5EF4-FFF2-40B4-BE49-F238E27FC236}">
                <a16:creationId xmlns:a16="http://schemas.microsoft.com/office/drawing/2014/main" id="{83B78C1A-8B82-4611-84B0-C3FBEC6CA1FB}"/>
              </a:ext>
            </a:extLst>
          </p:cNvPr>
          <p:cNvSpPr>
            <a:spLocks xmlns:a="http://schemas.openxmlformats.org/drawingml/2006/main" noGrp="1"/>
          </p:cNvSpPr>
          <p:nvPr/>
        </p:nvSpPr>
        <p:spPr>
          <a:xfrm xmlns:a="http://schemas.openxmlformats.org/drawingml/2006/main">
            <a:off x="762000" y="5467350"/>
            <a:ext cx="10591800" cy="14288"/>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AB40EA-D499-423F-ACD7-B1334C0688BF}"/>
              </a:ext>
            </a:extLst>
          </p:cNvPr>
          <p:cNvSpPr>
            <a:spLocks xmlns:a="http://schemas.openxmlformats.org/drawingml/2006/main" noGrp="1"/>
          </p:cNvSpPr>
          <p:nvPr/>
        </p:nvSpPr>
        <p:spPr>
          <a:xfrm xmlns:a="http://schemas.openxmlformats.org/drawingml/2006/main">
            <a:off x="762000" y="5734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4C1D1"/>
                </a:solidFill>
                <a:latin typeface="Avenir"/>
                <a:ea typeface="Avenir"/>
                <a:cs typeface="Avenir"/>
              </a:defRPr>
            </a:defPPr>
            <a:lvl1pPr algn="l">
              <a:defRPr sz="1350" b="0">
                <a:solidFill>
                  <a:srgbClr val="B4C1D1"/>
                </a:solidFill>
                <a:latin typeface="Avenir"/>
                <a:ea typeface="Avenir"/>
                <a:cs typeface="Avenir"/>
              </a:defRPr>
            </a:lvl1pPr>
            <a:lvl2pPr algn="l">
              <a:defRPr sz="1350" b="0">
                <a:solidFill>
                  <a:srgbClr val="B4C1D1"/>
                </a:solidFill>
                <a:latin typeface="Avenir"/>
                <a:ea typeface="Avenir"/>
                <a:cs typeface="Avenir"/>
              </a:defRPr>
            </a:lvl2pPr>
            <a:lvl3pPr algn="l">
              <a:defRPr sz="1350" b="0">
                <a:solidFill>
                  <a:srgbClr val="B4C1D1"/>
                </a:solidFill>
                <a:latin typeface="Avenir"/>
                <a:ea typeface="Avenir"/>
                <a:cs typeface="Avenir"/>
              </a:defRPr>
            </a:lvl3pPr>
            <a:lvl4pPr algn="l">
              <a:defRPr sz="1350" b="0">
                <a:solidFill>
                  <a:srgbClr val="B4C1D1"/>
                </a:solidFill>
                <a:latin typeface="Avenir"/>
                <a:ea typeface="Avenir"/>
                <a:cs typeface="Avenir"/>
              </a:defRPr>
            </a:lvl4pPr>
            <a:lvl5pPr algn="l">
              <a:defRPr sz="1350" b="0">
                <a:solidFill>
                  <a:srgbClr val="B4C1D1"/>
                </a:solidFill>
                <a:latin typeface="Avenir"/>
                <a:ea typeface="Avenir"/>
                <a:cs typeface="Avenir"/>
              </a:defRPr>
            </a:lvl5pPr>
            <a:lvl6pPr algn="l">
              <a:defRPr sz="1350" b="0">
                <a:solidFill>
                  <a:srgbClr val="B4C1D1"/>
                </a:solidFill>
                <a:latin typeface="Avenir"/>
                <a:ea typeface="Avenir"/>
                <a:cs typeface="Avenir"/>
              </a:defRPr>
            </a:lvl6pPr>
            <a:lvl7pPr algn="l">
              <a:defRPr sz="1350" b="0">
                <a:solidFill>
                  <a:srgbClr val="B4C1D1"/>
                </a:solidFill>
                <a:latin typeface="Avenir"/>
                <a:ea typeface="Avenir"/>
                <a:cs typeface="Avenir"/>
              </a:defRPr>
            </a:lvl7pPr>
            <a:lvl8pPr algn="l">
              <a:defRPr sz="1350" b="0">
                <a:solidFill>
                  <a:srgbClr val="B4C1D1"/>
                </a:solidFill>
                <a:latin typeface="Avenir"/>
                <a:ea typeface="Avenir"/>
                <a:cs typeface="Avenir"/>
              </a:defRPr>
            </a:lvl8pPr>
            <a:lvl9pPr algn="l">
              <a:defRPr sz="1350" b="0">
                <a:solidFill>
                  <a:srgbClr val="B4C1D1"/>
                </a:solidFill>
                <a:latin typeface="Avenir"/>
                <a:ea typeface="Avenir"/>
                <a:cs typeface="Avenir"/>
              </a:defRPr>
            </a:lvl9pPr>
          </a:lstStyle>
          <a:p xmlns:a="http://schemas.openxmlformats.org/drawingml/2006/main">
            <a:pPr algn="l">
              <a:lnSpc>
                <a:spcPct val="105000"/>
              </a:lnSpc>
              <a:buNone/>
              <a:defRPr sz="1350" b="0">
                <a:solidFill>
                  <a:srgbClr val="B4C1D1"/>
                </a:solidFill>
                <a:latin typeface="Avenir"/>
                <a:ea typeface="Avenir"/>
                <a:cs typeface="Avenir"/>
              </a:defRPr>
            </a:pPr>
            <a:r>
              <a:rPr sz="1350" b="0">
                <a:solidFill>
                  <a:srgbClr val="B4C1D1"/>
                </a:solidFill>
                <a:latin typeface="Avenir"/>
                <a:ea typeface="Avenir"/>
                <a:cs typeface="Avenir"/>
              </a:rPr>
              <a:t>Empty inputs use documented identities where possible; min, max, average, argmin, and argmax report an error.</a:t>
            </a:r>
          </a:p>
        </p:txBody>
      </p:sp>
    </p:spTree>
    <p:extLst>
      <p:ext uri="{BB962C8B-B14F-4D97-AF65-F5344CB8AC3E}">
        <p14:creationId xmlns:p14="http://schemas.microsoft.com/office/powerpoint/2010/main" val="1380702705"/>
      </p:ext>
    </p:extLst>
  </p:cSld>
</p:sld>
</file>

<file path=ppt/slides/slide9.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AB9E5A2-3B37-4821-BE14-C2BDD98227CA}"/>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Evidence from the included examples</a:t>
            </a:r>
          </a:p>
        </p:txBody>
      </p:sp>
      <p:sp>
        <p:nvSpPr>
          <p:cNvPr id="2" name="">
            <a:extLst xmlns:a="http://schemas.openxmlformats.org/drawingml/2006/main">
              <a:ext uri="{FF2B5EF4-FFF2-40B4-BE49-F238E27FC236}">
                <a16:creationId xmlns:a16="http://schemas.microsoft.com/office/drawing/2014/main" id="{778D3E76-B164-4824-A697-34C05DDA0E28}"/>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240DEA-1580-46B1-BFC0-C8DDF362CA5A}"/>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Instruction counts show work performed; wall time measures the whole run.</a:t>
            </a:r>
          </a:p>
        </p:txBody>
      </p:sp>
      <p:sp>
        <p:nvSpPr>
          <p:cNvPr id="4" name="">
            <a:extLst xmlns:a="http://schemas.openxmlformats.org/drawingml/2006/main">
              <a:ext uri="{FF2B5EF4-FFF2-40B4-BE49-F238E27FC236}">
                <a16:creationId xmlns:a16="http://schemas.microsoft.com/office/drawing/2014/main" id="{1AD7CFCD-BD78-470F-AD55-06482CC6CB46}"/>
              </a:ext>
            </a:extLst>
          </p:cNvPr>
          <p:cNvSpPr>
            <a:spLocks xmlns:a="http://schemas.openxmlformats.org/drawingml/2006/main" noGrp="1"/>
          </p:cNvSpPr>
          <p:nvPr/>
        </p:nvSpPr>
        <p:spPr>
          <a:xfrm xmlns:a="http://schemas.openxmlformats.org/drawingml/2006/main">
            <a:off x="76200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AD6E6"/>
                </a:solidFill>
                <a:latin typeface="Avenir"/>
                <a:ea typeface="Avenir"/>
                <a:cs typeface="Avenir"/>
              </a:defRPr>
            </a:defPPr>
            <a:lvl1pPr algn="l">
              <a:defRPr sz="1575" b="1">
                <a:solidFill>
                  <a:srgbClr val="5AD6E6"/>
                </a:solidFill>
                <a:latin typeface="Avenir"/>
                <a:ea typeface="Avenir"/>
                <a:cs typeface="Avenir"/>
              </a:defRPr>
            </a:lvl1pPr>
            <a:lvl2pPr algn="l">
              <a:defRPr sz="1575" b="1">
                <a:solidFill>
                  <a:srgbClr val="5AD6E6"/>
                </a:solidFill>
                <a:latin typeface="Avenir"/>
                <a:ea typeface="Avenir"/>
                <a:cs typeface="Avenir"/>
              </a:defRPr>
            </a:lvl2pPr>
            <a:lvl3pPr algn="l">
              <a:defRPr sz="1575" b="1">
                <a:solidFill>
                  <a:srgbClr val="5AD6E6"/>
                </a:solidFill>
                <a:latin typeface="Avenir"/>
                <a:ea typeface="Avenir"/>
                <a:cs typeface="Avenir"/>
              </a:defRPr>
            </a:lvl3pPr>
            <a:lvl4pPr algn="l">
              <a:defRPr sz="1575" b="1">
                <a:solidFill>
                  <a:srgbClr val="5AD6E6"/>
                </a:solidFill>
                <a:latin typeface="Avenir"/>
                <a:ea typeface="Avenir"/>
                <a:cs typeface="Avenir"/>
              </a:defRPr>
            </a:lvl4pPr>
            <a:lvl5pPr algn="l">
              <a:defRPr sz="1575" b="1">
                <a:solidFill>
                  <a:srgbClr val="5AD6E6"/>
                </a:solidFill>
                <a:latin typeface="Avenir"/>
                <a:ea typeface="Avenir"/>
                <a:cs typeface="Avenir"/>
              </a:defRPr>
            </a:lvl5pPr>
            <a:lvl6pPr algn="l">
              <a:defRPr sz="1575" b="1">
                <a:solidFill>
                  <a:srgbClr val="5AD6E6"/>
                </a:solidFill>
                <a:latin typeface="Avenir"/>
                <a:ea typeface="Avenir"/>
                <a:cs typeface="Avenir"/>
              </a:defRPr>
            </a:lvl6pPr>
            <a:lvl7pPr algn="l">
              <a:defRPr sz="1575" b="1">
                <a:solidFill>
                  <a:srgbClr val="5AD6E6"/>
                </a:solidFill>
                <a:latin typeface="Avenir"/>
                <a:ea typeface="Avenir"/>
                <a:cs typeface="Avenir"/>
              </a:defRPr>
            </a:lvl7pPr>
            <a:lvl8pPr algn="l">
              <a:defRPr sz="1575" b="1">
                <a:solidFill>
                  <a:srgbClr val="5AD6E6"/>
                </a:solidFill>
                <a:latin typeface="Avenir"/>
                <a:ea typeface="Avenir"/>
                <a:cs typeface="Avenir"/>
              </a:defRPr>
            </a:lvl8pPr>
            <a:lvl9pPr algn="l">
              <a:defRPr sz="1575" b="1">
                <a:solidFill>
                  <a:srgbClr val="5AD6E6"/>
                </a:solidFill>
                <a:latin typeface="Avenir"/>
                <a:ea typeface="Avenir"/>
                <a:cs typeface="Avenir"/>
              </a:defRPr>
            </a:lvl9pPr>
          </a:lstStyle>
          <a:p xmlns:a="http://schemas.openxmlformats.org/drawingml/2006/main">
            <a:pPr algn="l">
              <a:lnSpc>
                <a:spcPct val="105000"/>
              </a:lnSpc>
              <a:buNone/>
              <a:defRPr sz="1575" b="1">
                <a:solidFill>
                  <a:srgbClr val="5AD6E6"/>
                </a:solidFill>
                <a:latin typeface="Avenir"/>
                <a:ea typeface="Avenir"/>
                <a:cs typeface="Avenir"/>
              </a:defRPr>
            </a:pPr>
            <a:r>
              <a:rPr sz="1575" b="1">
                <a:solidFill>
                  <a:srgbClr val="5AD6E6"/>
                </a:solidFill>
                <a:latin typeface="Avenir"/>
                <a:ea typeface="Avenir"/>
                <a:cs typeface="Avenir"/>
              </a:rPr>
              <a:t>Optimization workload</a:t>
            </a:r>
          </a:p>
        </p:txBody>
      </p:sp>
      <p:sp>
        <p:nvSpPr>
          <p:cNvPr id="5" name="">
            <a:extLst xmlns:a="http://schemas.openxmlformats.org/drawingml/2006/main">
              <a:ext uri="{FF2B5EF4-FFF2-40B4-BE49-F238E27FC236}">
                <a16:creationId xmlns:a16="http://schemas.microsoft.com/office/drawing/2014/main" id="{969CA79B-B943-41EE-9FF8-0AA3ED674C01}"/>
              </a:ext>
            </a:extLst>
          </p:cNvPr>
          <p:cNvSpPr>
            <a:spLocks xmlns:a="http://schemas.openxmlformats.org/drawingml/2006/main" noGrp="1"/>
          </p:cNvSpPr>
          <p:nvPr/>
        </p:nvSpPr>
        <p:spPr>
          <a:xfrm xmlns:a="http://schemas.openxmlformats.org/drawingml/2006/main">
            <a:off x="762000" y="30289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F4F7FB"/>
                </a:solidFill>
                <a:latin typeface="Avenir"/>
                <a:ea typeface="Avenir"/>
                <a:cs typeface="Avenir"/>
              </a:defRPr>
            </a:defPPr>
            <a:lvl1pPr algn="l">
              <a:defRPr sz="3375" b="1">
                <a:solidFill>
                  <a:srgbClr val="F4F7FB"/>
                </a:solidFill>
                <a:latin typeface="Avenir"/>
                <a:ea typeface="Avenir"/>
                <a:cs typeface="Avenir"/>
              </a:defRPr>
            </a:lvl1pPr>
            <a:lvl2pPr algn="l">
              <a:defRPr sz="3375" b="1">
                <a:solidFill>
                  <a:srgbClr val="F4F7FB"/>
                </a:solidFill>
                <a:latin typeface="Avenir"/>
                <a:ea typeface="Avenir"/>
                <a:cs typeface="Avenir"/>
              </a:defRPr>
            </a:lvl2pPr>
            <a:lvl3pPr algn="l">
              <a:defRPr sz="3375" b="1">
                <a:solidFill>
                  <a:srgbClr val="F4F7FB"/>
                </a:solidFill>
                <a:latin typeface="Avenir"/>
                <a:ea typeface="Avenir"/>
                <a:cs typeface="Avenir"/>
              </a:defRPr>
            </a:lvl3pPr>
            <a:lvl4pPr algn="l">
              <a:defRPr sz="3375" b="1">
                <a:solidFill>
                  <a:srgbClr val="F4F7FB"/>
                </a:solidFill>
                <a:latin typeface="Avenir"/>
                <a:ea typeface="Avenir"/>
                <a:cs typeface="Avenir"/>
              </a:defRPr>
            </a:lvl4pPr>
            <a:lvl5pPr algn="l">
              <a:defRPr sz="3375" b="1">
                <a:solidFill>
                  <a:srgbClr val="F4F7FB"/>
                </a:solidFill>
                <a:latin typeface="Avenir"/>
                <a:ea typeface="Avenir"/>
                <a:cs typeface="Avenir"/>
              </a:defRPr>
            </a:lvl5pPr>
            <a:lvl6pPr algn="l">
              <a:defRPr sz="3375" b="1">
                <a:solidFill>
                  <a:srgbClr val="F4F7FB"/>
                </a:solidFill>
                <a:latin typeface="Avenir"/>
                <a:ea typeface="Avenir"/>
                <a:cs typeface="Avenir"/>
              </a:defRPr>
            </a:lvl6pPr>
            <a:lvl7pPr algn="l">
              <a:defRPr sz="3375" b="1">
                <a:solidFill>
                  <a:srgbClr val="F4F7FB"/>
                </a:solidFill>
                <a:latin typeface="Avenir"/>
                <a:ea typeface="Avenir"/>
                <a:cs typeface="Avenir"/>
              </a:defRPr>
            </a:lvl7pPr>
            <a:lvl8pPr algn="l">
              <a:defRPr sz="3375" b="1">
                <a:solidFill>
                  <a:srgbClr val="F4F7FB"/>
                </a:solidFill>
                <a:latin typeface="Avenir"/>
                <a:ea typeface="Avenir"/>
                <a:cs typeface="Avenir"/>
              </a:defRPr>
            </a:lvl8pPr>
            <a:lvl9pPr algn="l">
              <a:defRPr sz="3375" b="1">
                <a:solidFill>
                  <a:srgbClr val="F4F7FB"/>
                </a:solidFill>
                <a:latin typeface="Avenir"/>
                <a:ea typeface="Avenir"/>
                <a:cs typeface="Avenir"/>
              </a:defRPr>
            </a:lvl9pPr>
          </a:lstStyle>
          <a:p xmlns:a="http://schemas.openxmlformats.org/drawingml/2006/main">
            <a:pPr algn="l">
              <a:lnSpc>
                <a:spcPct val="105000"/>
              </a:lnSpc>
              <a:buNone/>
              <a:defRPr sz="3375" b="1">
                <a:solidFill>
                  <a:srgbClr val="F4F7FB"/>
                </a:solidFill>
                <a:latin typeface="Avenir"/>
                <a:ea typeface="Avenir"/>
                <a:cs typeface="Avenir"/>
              </a:defRPr>
            </a:pPr>
            <a:r>
              <a:rPr sz="3375" b="1">
                <a:solidFill>
                  <a:srgbClr val="F4F7FB"/>
                </a:solidFill>
                <a:latin typeface="Avenir"/>
                <a:ea typeface="Avenir"/>
                <a:cs typeface="Avenir"/>
              </a:rPr>
              <a:t>693 → 477</a:t>
            </a:r>
          </a:p>
        </p:txBody>
      </p:sp>
      <p:sp>
        <p:nvSpPr>
          <p:cNvPr id="6" name="">
            <a:extLst xmlns:a="http://schemas.openxmlformats.org/drawingml/2006/main">
              <a:ext uri="{FF2B5EF4-FFF2-40B4-BE49-F238E27FC236}">
                <a16:creationId xmlns:a16="http://schemas.microsoft.com/office/drawing/2014/main" id="{BC24750D-8CBF-4E08-B8E4-6734D48B3CD9}"/>
              </a:ext>
            </a:extLst>
          </p:cNvPr>
          <p:cNvSpPr>
            <a:spLocks xmlns:a="http://schemas.openxmlformats.org/drawingml/2006/main" noGrp="1"/>
          </p:cNvSpPr>
          <p:nvPr/>
        </p:nvSpPr>
        <p:spPr>
          <a:xfrm xmlns:a="http://schemas.openxmlformats.org/drawingml/2006/main">
            <a:off x="762000" y="39433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Executed VM instructions</a:t>
            </a:r>
          </a:p>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Output remains 17,220</a:t>
            </a:r>
          </a:p>
        </p:txBody>
      </p:sp>
      <p:sp>
        <p:nvSpPr>
          <p:cNvPr id="7" name="">
            <a:extLst xmlns:a="http://schemas.openxmlformats.org/drawingml/2006/main">
              <a:ext uri="{FF2B5EF4-FFF2-40B4-BE49-F238E27FC236}">
                <a16:creationId xmlns:a16="http://schemas.microsoft.com/office/drawing/2014/main" id="{F4294F33-C21E-40E5-BCAE-4E33C76E5A0E}"/>
              </a:ext>
            </a:extLst>
          </p:cNvPr>
          <p:cNvSpPr>
            <a:spLocks xmlns:a="http://schemas.openxmlformats.org/drawingml/2006/main" noGrp="1"/>
          </p:cNvSpPr>
          <p:nvPr/>
        </p:nvSpPr>
        <p:spPr>
          <a:xfrm xmlns:a="http://schemas.openxmlformats.org/drawingml/2006/main">
            <a:off x="4210050" y="2324100"/>
            <a:ext cx="14288" cy="23431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179AA1-AEDA-4075-A5B2-29CDA317C3B3}"/>
              </a:ext>
            </a:extLst>
          </p:cNvPr>
          <p:cNvSpPr>
            <a:spLocks xmlns:a="http://schemas.openxmlformats.org/drawingml/2006/main" noGrp="1"/>
          </p:cNvSpPr>
          <p:nvPr/>
        </p:nvSpPr>
        <p:spPr>
          <a:xfrm xmlns:a="http://schemas.openxmlformats.org/drawingml/2006/main">
            <a:off x="455295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9BE3BD"/>
                </a:solidFill>
                <a:latin typeface="Avenir"/>
                <a:ea typeface="Avenir"/>
                <a:cs typeface="Avenir"/>
              </a:defRPr>
            </a:defPPr>
            <a:lvl1pPr algn="l">
              <a:defRPr sz="1575" b="1">
                <a:solidFill>
                  <a:srgbClr val="9BE3BD"/>
                </a:solidFill>
                <a:latin typeface="Avenir"/>
                <a:ea typeface="Avenir"/>
                <a:cs typeface="Avenir"/>
              </a:defRPr>
            </a:lvl1pPr>
            <a:lvl2pPr algn="l">
              <a:defRPr sz="1575" b="1">
                <a:solidFill>
                  <a:srgbClr val="9BE3BD"/>
                </a:solidFill>
                <a:latin typeface="Avenir"/>
                <a:ea typeface="Avenir"/>
                <a:cs typeface="Avenir"/>
              </a:defRPr>
            </a:lvl2pPr>
            <a:lvl3pPr algn="l">
              <a:defRPr sz="1575" b="1">
                <a:solidFill>
                  <a:srgbClr val="9BE3BD"/>
                </a:solidFill>
                <a:latin typeface="Avenir"/>
                <a:ea typeface="Avenir"/>
                <a:cs typeface="Avenir"/>
              </a:defRPr>
            </a:lvl3pPr>
            <a:lvl4pPr algn="l">
              <a:defRPr sz="1575" b="1">
                <a:solidFill>
                  <a:srgbClr val="9BE3BD"/>
                </a:solidFill>
                <a:latin typeface="Avenir"/>
                <a:ea typeface="Avenir"/>
                <a:cs typeface="Avenir"/>
              </a:defRPr>
            </a:lvl4pPr>
            <a:lvl5pPr algn="l">
              <a:defRPr sz="1575" b="1">
                <a:solidFill>
                  <a:srgbClr val="9BE3BD"/>
                </a:solidFill>
                <a:latin typeface="Avenir"/>
                <a:ea typeface="Avenir"/>
                <a:cs typeface="Avenir"/>
              </a:defRPr>
            </a:lvl5pPr>
            <a:lvl6pPr algn="l">
              <a:defRPr sz="1575" b="1">
                <a:solidFill>
                  <a:srgbClr val="9BE3BD"/>
                </a:solidFill>
                <a:latin typeface="Avenir"/>
                <a:ea typeface="Avenir"/>
                <a:cs typeface="Avenir"/>
              </a:defRPr>
            </a:lvl6pPr>
            <a:lvl7pPr algn="l">
              <a:defRPr sz="1575" b="1">
                <a:solidFill>
                  <a:srgbClr val="9BE3BD"/>
                </a:solidFill>
                <a:latin typeface="Avenir"/>
                <a:ea typeface="Avenir"/>
                <a:cs typeface="Avenir"/>
              </a:defRPr>
            </a:lvl7pPr>
            <a:lvl8pPr algn="l">
              <a:defRPr sz="1575" b="1">
                <a:solidFill>
                  <a:srgbClr val="9BE3BD"/>
                </a:solidFill>
                <a:latin typeface="Avenir"/>
                <a:ea typeface="Avenir"/>
                <a:cs typeface="Avenir"/>
              </a:defRPr>
            </a:lvl8pPr>
            <a:lvl9pPr algn="l">
              <a:defRPr sz="1575" b="1">
                <a:solidFill>
                  <a:srgbClr val="9BE3BD"/>
                </a:solidFill>
                <a:latin typeface="Avenir"/>
                <a:ea typeface="Avenir"/>
                <a:cs typeface="Avenir"/>
              </a:defRPr>
            </a:lvl9pPr>
          </a:lstStyle>
          <a:p xmlns:a="http://schemas.openxmlformats.org/drawingml/2006/main">
            <a:pPr algn="l">
              <a:lnSpc>
                <a:spcPct val="105000"/>
              </a:lnSpc>
              <a:buNone/>
              <a:defRPr sz="1575" b="1">
                <a:solidFill>
                  <a:srgbClr val="9BE3BD"/>
                </a:solidFill>
                <a:latin typeface="Avenir"/>
                <a:ea typeface="Avenir"/>
                <a:cs typeface="Avenir"/>
              </a:defRPr>
            </a:pPr>
            <a:r>
              <a:rPr sz="1575" b="1">
                <a:solidFill>
                  <a:srgbClr val="9BE3BD"/>
                </a:solidFill>
                <a:latin typeface="Avenir"/>
                <a:ea typeface="Avenir"/>
                <a:cs typeface="Avenir"/>
              </a:rPr>
              <a:t>CFG loop demo</a:t>
            </a:r>
          </a:p>
        </p:txBody>
      </p:sp>
      <p:sp>
        <p:nvSpPr>
          <p:cNvPr id="9" name="">
            <a:extLst xmlns:a="http://schemas.openxmlformats.org/drawingml/2006/main">
              <a:ext uri="{FF2B5EF4-FFF2-40B4-BE49-F238E27FC236}">
                <a16:creationId xmlns:a16="http://schemas.microsoft.com/office/drawing/2014/main" id="{8CBC3CA7-4DFB-49AE-833D-8E339EE132CD}"/>
              </a:ext>
            </a:extLst>
          </p:cNvPr>
          <p:cNvSpPr>
            <a:spLocks xmlns:a="http://schemas.openxmlformats.org/drawingml/2006/main" noGrp="1"/>
          </p:cNvSpPr>
          <p:nvPr/>
        </p:nvSpPr>
        <p:spPr>
          <a:xfrm xmlns:a="http://schemas.openxmlformats.org/drawingml/2006/main">
            <a:off x="4552950" y="30289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1">
                <a:solidFill>
                  <a:srgbClr val="F4F7FB"/>
                </a:solidFill>
                <a:latin typeface="Avenir"/>
                <a:ea typeface="Avenir"/>
                <a:cs typeface="Avenir"/>
              </a:defRPr>
            </a:defPPr>
            <a:lvl1pPr algn="l">
              <a:defRPr sz="3375" b="1">
                <a:solidFill>
                  <a:srgbClr val="F4F7FB"/>
                </a:solidFill>
                <a:latin typeface="Avenir"/>
                <a:ea typeface="Avenir"/>
                <a:cs typeface="Avenir"/>
              </a:defRPr>
            </a:lvl1pPr>
            <a:lvl2pPr algn="l">
              <a:defRPr sz="3375" b="1">
                <a:solidFill>
                  <a:srgbClr val="F4F7FB"/>
                </a:solidFill>
                <a:latin typeface="Avenir"/>
                <a:ea typeface="Avenir"/>
                <a:cs typeface="Avenir"/>
              </a:defRPr>
            </a:lvl2pPr>
            <a:lvl3pPr algn="l">
              <a:defRPr sz="3375" b="1">
                <a:solidFill>
                  <a:srgbClr val="F4F7FB"/>
                </a:solidFill>
                <a:latin typeface="Avenir"/>
                <a:ea typeface="Avenir"/>
                <a:cs typeface="Avenir"/>
              </a:defRPr>
            </a:lvl3pPr>
            <a:lvl4pPr algn="l">
              <a:defRPr sz="3375" b="1">
                <a:solidFill>
                  <a:srgbClr val="F4F7FB"/>
                </a:solidFill>
                <a:latin typeface="Avenir"/>
                <a:ea typeface="Avenir"/>
                <a:cs typeface="Avenir"/>
              </a:defRPr>
            </a:lvl4pPr>
            <a:lvl5pPr algn="l">
              <a:defRPr sz="3375" b="1">
                <a:solidFill>
                  <a:srgbClr val="F4F7FB"/>
                </a:solidFill>
                <a:latin typeface="Avenir"/>
                <a:ea typeface="Avenir"/>
                <a:cs typeface="Avenir"/>
              </a:defRPr>
            </a:lvl5pPr>
            <a:lvl6pPr algn="l">
              <a:defRPr sz="3375" b="1">
                <a:solidFill>
                  <a:srgbClr val="F4F7FB"/>
                </a:solidFill>
                <a:latin typeface="Avenir"/>
                <a:ea typeface="Avenir"/>
                <a:cs typeface="Avenir"/>
              </a:defRPr>
            </a:lvl6pPr>
            <a:lvl7pPr algn="l">
              <a:defRPr sz="3375" b="1">
                <a:solidFill>
                  <a:srgbClr val="F4F7FB"/>
                </a:solidFill>
                <a:latin typeface="Avenir"/>
                <a:ea typeface="Avenir"/>
                <a:cs typeface="Avenir"/>
              </a:defRPr>
            </a:lvl7pPr>
            <a:lvl8pPr algn="l">
              <a:defRPr sz="3375" b="1">
                <a:solidFill>
                  <a:srgbClr val="F4F7FB"/>
                </a:solidFill>
                <a:latin typeface="Avenir"/>
                <a:ea typeface="Avenir"/>
                <a:cs typeface="Avenir"/>
              </a:defRPr>
            </a:lvl8pPr>
            <a:lvl9pPr algn="l">
              <a:defRPr sz="3375" b="1">
                <a:solidFill>
                  <a:srgbClr val="F4F7FB"/>
                </a:solidFill>
                <a:latin typeface="Avenir"/>
                <a:ea typeface="Avenir"/>
                <a:cs typeface="Avenir"/>
              </a:defRPr>
            </a:lvl9pPr>
          </a:lstStyle>
          <a:p xmlns:a="http://schemas.openxmlformats.org/drawingml/2006/main">
            <a:pPr algn="l">
              <a:lnSpc>
                <a:spcPct val="105000"/>
              </a:lnSpc>
              <a:buNone/>
              <a:defRPr sz="3375" b="1">
                <a:solidFill>
                  <a:srgbClr val="F4F7FB"/>
                </a:solidFill>
                <a:latin typeface="Avenir"/>
                <a:ea typeface="Avenir"/>
                <a:cs typeface="Avenir"/>
              </a:defRPr>
            </a:pPr>
            <a:r>
              <a:rPr sz="3375" b="1">
                <a:solidFill>
                  <a:srgbClr val="F4F7FB"/>
                </a:solidFill>
                <a:latin typeface="Avenir"/>
                <a:ea typeface="Avenir"/>
                <a:cs typeface="Avenir"/>
              </a:rPr>
              <a:t>169 → 167</a:t>
            </a:r>
          </a:p>
        </p:txBody>
      </p:sp>
      <p:sp>
        <p:nvSpPr>
          <p:cNvPr id="10" name="">
            <a:extLst xmlns:a="http://schemas.openxmlformats.org/drawingml/2006/main">
              <a:ext uri="{FF2B5EF4-FFF2-40B4-BE49-F238E27FC236}">
                <a16:creationId xmlns:a16="http://schemas.microsoft.com/office/drawing/2014/main" id="{2DB7E80F-E47D-4FCD-BFF9-9E5CCE62A031}"/>
              </a:ext>
            </a:extLst>
          </p:cNvPr>
          <p:cNvSpPr>
            <a:spLocks xmlns:a="http://schemas.openxmlformats.org/drawingml/2006/main" noGrp="1"/>
          </p:cNvSpPr>
          <p:nvPr/>
        </p:nvSpPr>
        <p:spPr>
          <a:xfrm xmlns:a="http://schemas.openxmlformats.org/drawingml/2006/main">
            <a:off x="4552950" y="39433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Executed instructions</a:t>
            </a:r>
          </a:p>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Output remains 55</a:t>
            </a:r>
          </a:p>
        </p:txBody>
      </p:sp>
      <p:sp>
        <p:nvSpPr>
          <p:cNvPr id="11" name="">
            <a:extLst xmlns:a="http://schemas.openxmlformats.org/drawingml/2006/main">
              <a:ext uri="{FF2B5EF4-FFF2-40B4-BE49-F238E27FC236}">
                <a16:creationId xmlns:a16="http://schemas.microsoft.com/office/drawing/2014/main" id="{278770C1-C346-4D56-B232-3905E5132BD1}"/>
              </a:ext>
            </a:extLst>
          </p:cNvPr>
          <p:cNvSpPr>
            <a:spLocks xmlns:a="http://schemas.openxmlformats.org/drawingml/2006/main" noGrp="1"/>
          </p:cNvSpPr>
          <p:nvPr/>
        </p:nvSpPr>
        <p:spPr>
          <a:xfrm xmlns:a="http://schemas.openxmlformats.org/drawingml/2006/main">
            <a:off x="8001000" y="2324100"/>
            <a:ext cx="14288" cy="234315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156204-8FB2-4F1A-AC7E-CB6BF3D6699B}"/>
              </a:ext>
            </a:extLst>
          </p:cNvPr>
          <p:cNvSpPr>
            <a:spLocks xmlns:a="http://schemas.openxmlformats.org/drawingml/2006/main" noGrp="1"/>
          </p:cNvSpPr>
          <p:nvPr/>
        </p:nvSpPr>
        <p:spPr>
          <a:xfrm xmlns:a="http://schemas.openxmlformats.org/drawingml/2006/main">
            <a:off x="836295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FC86A"/>
                </a:solidFill>
                <a:latin typeface="Avenir"/>
                <a:ea typeface="Avenir"/>
                <a:cs typeface="Avenir"/>
              </a:defRPr>
            </a:defPPr>
            <a:lvl1pPr algn="l">
              <a:defRPr sz="1575" b="1">
                <a:solidFill>
                  <a:srgbClr val="FFC86A"/>
                </a:solidFill>
                <a:latin typeface="Avenir"/>
                <a:ea typeface="Avenir"/>
                <a:cs typeface="Avenir"/>
              </a:defRPr>
            </a:lvl1pPr>
            <a:lvl2pPr algn="l">
              <a:defRPr sz="1575" b="1">
                <a:solidFill>
                  <a:srgbClr val="FFC86A"/>
                </a:solidFill>
                <a:latin typeface="Avenir"/>
                <a:ea typeface="Avenir"/>
                <a:cs typeface="Avenir"/>
              </a:defRPr>
            </a:lvl2pPr>
            <a:lvl3pPr algn="l">
              <a:defRPr sz="1575" b="1">
                <a:solidFill>
                  <a:srgbClr val="FFC86A"/>
                </a:solidFill>
                <a:latin typeface="Avenir"/>
                <a:ea typeface="Avenir"/>
                <a:cs typeface="Avenir"/>
              </a:defRPr>
            </a:lvl3pPr>
            <a:lvl4pPr algn="l">
              <a:defRPr sz="1575" b="1">
                <a:solidFill>
                  <a:srgbClr val="FFC86A"/>
                </a:solidFill>
                <a:latin typeface="Avenir"/>
                <a:ea typeface="Avenir"/>
                <a:cs typeface="Avenir"/>
              </a:defRPr>
            </a:lvl4pPr>
            <a:lvl5pPr algn="l">
              <a:defRPr sz="1575" b="1">
                <a:solidFill>
                  <a:srgbClr val="FFC86A"/>
                </a:solidFill>
                <a:latin typeface="Avenir"/>
                <a:ea typeface="Avenir"/>
                <a:cs typeface="Avenir"/>
              </a:defRPr>
            </a:lvl5pPr>
            <a:lvl6pPr algn="l">
              <a:defRPr sz="1575" b="1">
                <a:solidFill>
                  <a:srgbClr val="FFC86A"/>
                </a:solidFill>
                <a:latin typeface="Avenir"/>
                <a:ea typeface="Avenir"/>
                <a:cs typeface="Avenir"/>
              </a:defRPr>
            </a:lvl6pPr>
            <a:lvl7pPr algn="l">
              <a:defRPr sz="1575" b="1">
                <a:solidFill>
                  <a:srgbClr val="FFC86A"/>
                </a:solidFill>
                <a:latin typeface="Avenir"/>
                <a:ea typeface="Avenir"/>
                <a:cs typeface="Avenir"/>
              </a:defRPr>
            </a:lvl7pPr>
            <a:lvl8pPr algn="l">
              <a:defRPr sz="1575" b="1">
                <a:solidFill>
                  <a:srgbClr val="FFC86A"/>
                </a:solidFill>
                <a:latin typeface="Avenir"/>
                <a:ea typeface="Avenir"/>
                <a:cs typeface="Avenir"/>
              </a:defRPr>
            </a:lvl8pPr>
            <a:lvl9pPr algn="l">
              <a:defRPr sz="1575" b="1">
                <a:solidFill>
                  <a:srgbClr val="FFC86A"/>
                </a:solidFill>
                <a:latin typeface="Avenir"/>
                <a:ea typeface="Avenir"/>
                <a:cs typeface="Avenir"/>
              </a:defRPr>
            </a:lvl9pPr>
          </a:lstStyle>
          <a:p xmlns:a="http://schemas.openxmlformats.org/drawingml/2006/main">
            <a:pPr algn="l">
              <a:lnSpc>
                <a:spcPct val="105000"/>
              </a:lnSpc>
              <a:buNone/>
              <a:defRPr sz="1575" b="1">
                <a:solidFill>
                  <a:srgbClr val="FFC86A"/>
                </a:solidFill>
                <a:latin typeface="Avenir"/>
                <a:ea typeface="Avenir"/>
                <a:cs typeface="Avenir"/>
              </a:defRPr>
            </a:pPr>
            <a:r>
              <a:rPr sz="1575" b="1">
                <a:solidFill>
                  <a:srgbClr val="FFC86A"/>
                </a:solidFill>
                <a:latin typeface="Avenir"/>
                <a:ea typeface="Avenir"/>
                <a:cs typeface="Avenir"/>
              </a:rPr>
              <a:t>Sum of squares</a:t>
            </a:r>
          </a:p>
        </p:txBody>
      </p:sp>
      <p:sp>
        <p:nvSpPr>
          <p:cNvPr id="13" name="">
            <a:extLst xmlns:a="http://schemas.openxmlformats.org/drawingml/2006/main">
              <a:ext uri="{FF2B5EF4-FFF2-40B4-BE49-F238E27FC236}">
                <a16:creationId xmlns:a16="http://schemas.microsoft.com/office/drawing/2014/main" id="{E1D3854A-C59E-42CC-A675-38E722316DD6}"/>
              </a:ext>
            </a:extLst>
          </p:cNvPr>
          <p:cNvSpPr>
            <a:spLocks xmlns:a="http://schemas.openxmlformats.org/drawingml/2006/main" noGrp="1"/>
          </p:cNvSpPr>
          <p:nvPr/>
        </p:nvSpPr>
        <p:spPr>
          <a:xfrm xmlns:a="http://schemas.openxmlformats.org/drawingml/2006/main">
            <a:off x="8362950" y="30289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F4F7FB"/>
                </a:solidFill>
                <a:latin typeface="Avenir"/>
                <a:ea typeface="Avenir"/>
                <a:cs typeface="Avenir"/>
              </a:defRPr>
            </a:defPPr>
            <a:lvl1pPr algn="l">
              <a:defRPr sz="2625" b="1">
                <a:solidFill>
                  <a:srgbClr val="F4F7FB"/>
                </a:solidFill>
                <a:latin typeface="Avenir"/>
                <a:ea typeface="Avenir"/>
                <a:cs typeface="Avenir"/>
              </a:defRPr>
            </a:lvl1pPr>
            <a:lvl2pPr algn="l">
              <a:defRPr sz="2625" b="1">
                <a:solidFill>
                  <a:srgbClr val="F4F7FB"/>
                </a:solidFill>
                <a:latin typeface="Avenir"/>
                <a:ea typeface="Avenir"/>
                <a:cs typeface="Avenir"/>
              </a:defRPr>
            </a:lvl2pPr>
            <a:lvl3pPr algn="l">
              <a:defRPr sz="2625" b="1">
                <a:solidFill>
                  <a:srgbClr val="F4F7FB"/>
                </a:solidFill>
                <a:latin typeface="Avenir"/>
                <a:ea typeface="Avenir"/>
                <a:cs typeface="Avenir"/>
              </a:defRPr>
            </a:lvl3pPr>
            <a:lvl4pPr algn="l">
              <a:defRPr sz="2625" b="1">
                <a:solidFill>
                  <a:srgbClr val="F4F7FB"/>
                </a:solidFill>
                <a:latin typeface="Avenir"/>
                <a:ea typeface="Avenir"/>
                <a:cs typeface="Avenir"/>
              </a:defRPr>
            </a:lvl4pPr>
            <a:lvl5pPr algn="l">
              <a:defRPr sz="2625" b="1">
                <a:solidFill>
                  <a:srgbClr val="F4F7FB"/>
                </a:solidFill>
                <a:latin typeface="Avenir"/>
                <a:ea typeface="Avenir"/>
                <a:cs typeface="Avenir"/>
              </a:defRPr>
            </a:lvl5pPr>
            <a:lvl6pPr algn="l">
              <a:defRPr sz="2625" b="1">
                <a:solidFill>
                  <a:srgbClr val="F4F7FB"/>
                </a:solidFill>
                <a:latin typeface="Avenir"/>
                <a:ea typeface="Avenir"/>
                <a:cs typeface="Avenir"/>
              </a:defRPr>
            </a:lvl6pPr>
            <a:lvl7pPr algn="l">
              <a:defRPr sz="2625" b="1">
                <a:solidFill>
                  <a:srgbClr val="F4F7FB"/>
                </a:solidFill>
                <a:latin typeface="Avenir"/>
                <a:ea typeface="Avenir"/>
                <a:cs typeface="Avenir"/>
              </a:defRPr>
            </a:lvl7pPr>
            <a:lvl8pPr algn="l">
              <a:defRPr sz="2625" b="1">
                <a:solidFill>
                  <a:srgbClr val="F4F7FB"/>
                </a:solidFill>
                <a:latin typeface="Avenir"/>
                <a:ea typeface="Avenir"/>
                <a:cs typeface="Avenir"/>
              </a:defRPr>
            </a:lvl8pPr>
            <a:lvl9pPr algn="l">
              <a:defRPr sz="2625" b="1">
                <a:solidFill>
                  <a:srgbClr val="F4F7FB"/>
                </a:solidFill>
                <a:latin typeface="Avenir"/>
                <a:ea typeface="Avenir"/>
                <a:cs typeface="Avenir"/>
              </a:defRPr>
            </a:lvl9pPr>
          </a:lstStyle>
          <a:p xmlns:a="http://schemas.openxmlformats.org/drawingml/2006/main">
            <a:pPr algn="l">
              <a:lnSpc>
                <a:spcPct val="105000"/>
              </a:lnSpc>
              <a:buNone/>
              <a:defRPr sz="2625" b="1">
                <a:solidFill>
                  <a:srgbClr val="F4F7FB"/>
                </a:solidFill>
                <a:latin typeface="Avenir"/>
                <a:ea typeface="Avenir"/>
                <a:cs typeface="Avenir"/>
              </a:defRPr>
            </a:pPr>
            <a:r>
              <a:rPr sz="2625" b="1">
                <a:solidFill>
                  <a:srgbClr val="F4F7FB"/>
                </a:solidFill>
                <a:latin typeface="Avenir"/>
                <a:ea typeface="Avenir"/>
                <a:cs typeface="Avenir"/>
              </a:rPr>
              <a:t>19,019 vs 10,013</a:t>
            </a:r>
          </a:p>
        </p:txBody>
      </p:sp>
      <p:sp>
        <p:nvSpPr>
          <p:cNvPr id="14" name="">
            <a:extLst xmlns:a="http://schemas.openxmlformats.org/drawingml/2006/main">
              <a:ext uri="{FF2B5EF4-FFF2-40B4-BE49-F238E27FC236}">
                <a16:creationId xmlns:a16="http://schemas.microsoft.com/office/drawing/2014/main" id="{6A84326C-9B23-408C-8CC4-97703483266A}"/>
              </a:ext>
            </a:extLst>
          </p:cNvPr>
          <p:cNvSpPr>
            <a:spLocks xmlns:a="http://schemas.openxmlformats.org/drawingml/2006/main" noGrp="1"/>
          </p:cNvSpPr>
          <p:nvPr/>
        </p:nvSpPr>
        <p:spPr>
          <a:xfrm xmlns:a="http://schemas.openxmlformats.org/drawingml/2006/main">
            <a:off x="8362950" y="39433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4C1D1"/>
                </a:solidFill>
                <a:latin typeface="Avenir"/>
                <a:ea typeface="Avenir"/>
                <a:cs typeface="Avenir"/>
              </a:defRPr>
            </a:defPPr>
            <a:lvl1pPr algn="l">
              <a:defRPr sz="1500" b="0">
                <a:solidFill>
                  <a:srgbClr val="B4C1D1"/>
                </a:solidFill>
                <a:latin typeface="Avenir"/>
                <a:ea typeface="Avenir"/>
                <a:cs typeface="Avenir"/>
              </a:defRPr>
            </a:lvl1pPr>
            <a:lvl2pPr algn="l">
              <a:defRPr sz="1500" b="0">
                <a:solidFill>
                  <a:srgbClr val="B4C1D1"/>
                </a:solidFill>
                <a:latin typeface="Avenir"/>
                <a:ea typeface="Avenir"/>
                <a:cs typeface="Avenir"/>
              </a:defRPr>
            </a:lvl2pPr>
            <a:lvl3pPr algn="l">
              <a:defRPr sz="1500" b="0">
                <a:solidFill>
                  <a:srgbClr val="B4C1D1"/>
                </a:solidFill>
                <a:latin typeface="Avenir"/>
                <a:ea typeface="Avenir"/>
                <a:cs typeface="Avenir"/>
              </a:defRPr>
            </a:lvl3pPr>
            <a:lvl4pPr algn="l">
              <a:defRPr sz="1500" b="0">
                <a:solidFill>
                  <a:srgbClr val="B4C1D1"/>
                </a:solidFill>
                <a:latin typeface="Avenir"/>
                <a:ea typeface="Avenir"/>
                <a:cs typeface="Avenir"/>
              </a:defRPr>
            </a:lvl4pPr>
            <a:lvl5pPr algn="l">
              <a:defRPr sz="1500" b="0">
                <a:solidFill>
                  <a:srgbClr val="B4C1D1"/>
                </a:solidFill>
                <a:latin typeface="Avenir"/>
                <a:ea typeface="Avenir"/>
                <a:cs typeface="Avenir"/>
              </a:defRPr>
            </a:lvl5pPr>
            <a:lvl6pPr algn="l">
              <a:defRPr sz="1500" b="0">
                <a:solidFill>
                  <a:srgbClr val="B4C1D1"/>
                </a:solidFill>
                <a:latin typeface="Avenir"/>
                <a:ea typeface="Avenir"/>
                <a:cs typeface="Avenir"/>
              </a:defRPr>
            </a:lvl6pPr>
            <a:lvl7pPr algn="l">
              <a:defRPr sz="1500" b="0">
                <a:solidFill>
                  <a:srgbClr val="B4C1D1"/>
                </a:solidFill>
                <a:latin typeface="Avenir"/>
                <a:ea typeface="Avenir"/>
                <a:cs typeface="Avenir"/>
              </a:defRPr>
            </a:lvl7pPr>
            <a:lvl8pPr algn="l">
              <a:defRPr sz="1500" b="0">
                <a:solidFill>
                  <a:srgbClr val="B4C1D1"/>
                </a:solidFill>
                <a:latin typeface="Avenir"/>
                <a:ea typeface="Avenir"/>
                <a:cs typeface="Avenir"/>
              </a:defRPr>
            </a:lvl8pPr>
            <a:lvl9pPr algn="l">
              <a:defRPr sz="1500" b="0">
                <a:solidFill>
                  <a:srgbClr val="B4C1D1"/>
                </a:solidFill>
                <a:latin typeface="Avenir"/>
                <a:ea typeface="Avenir"/>
                <a:cs typeface="Avenir"/>
              </a:defRPr>
            </a:lvl9pPr>
          </a:lstStyle>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Sequential vs parent +</a:t>
            </a:r>
          </a:p>
          <a:p xmlns:a="http://schemas.openxmlformats.org/drawingml/2006/main">
            <a:pPr algn="l">
              <a:lnSpc>
                <a:spcPct val="114000"/>
              </a:lnSpc>
              <a:buNone/>
              <a:defRPr sz="1500" b="0">
                <a:solidFill>
                  <a:srgbClr val="B4C1D1"/>
                </a:solidFill>
                <a:latin typeface="Avenir"/>
                <a:ea typeface="Avenir"/>
                <a:cs typeface="Avenir"/>
              </a:defRPr>
            </a:pPr>
            <a:r>
              <a:rPr sz="1500" b="0">
                <a:solidFill>
                  <a:srgbClr val="B4C1D1"/>
                </a:solidFill>
                <a:latin typeface="Avenir"/>
                <a:ea typeface="Avenir"/>
                <a:cs typeface="Avenir"/>
              </a:rPr>
              <a:t>worker VM instructions</a:t>
            </a:r>
          </a:p>
        </p:txBody>
      </p:sp>
      <p:sp>
        <p:nvSpPr>
          <p:cNvPr id="15" name="">
            <a:extLst xmlns:a="http://schemas.openxmlformats.org/drawingml/2006/main">
              <a:ext uri="{FF2B5EF4-FFF2-40B4-BE49-F238E27FC236}">
                <a16:creationId xmlns:a16="http://schemas.microsoft.com/office/drawing/2014/main" id="{8C256D79-C1DC-41A3-BBD5-33D35901DF3D}"/>
              </a:ext>
            </a:extLst>
          </p:cNvPr>
          <p:cNvSpPr>
            <a:spLocks xmlns:a="http://schemas.openxmlformats.org/drawingml/2006/main" noGrp="1"/>
          </p:cNvSpPr>
          <p:nvPr/>
        </p:nvSpPr>
        <p:spPr>
          <a:xfrm xmlns:a="http://schemas.openxmlformats.org/drawingml/2006/main">
            <a:off x="762000" y="5219700"/>
            <a:ext cx="10591800" cy="14288"/>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0134405-6683-4D33-9174-C51D45B75B37}"/>
              </a:ext>
            </a:extLst>
          </p:cNvPr>
          <p:cNvSpPr>
            <a:spLocks xmlns:a="http://schemas.openxmlformats.org/drawingml/2006/main" noGrp="1"/>
          </p:cNvSpPr>
          <p:nvPr/>
        </p:nvSpPr>
        <p:spPr>
          <a:xfrm xmlns:a="http://schemas.openxmlformats.org/drawingml/2006/main">
            <a:off x="762000" y="5505450"/>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4F7FB"/>
                </a:solidFill>
                <a:latin typeface="Avenir"/>
                <a:ea typeface="Avenir"/>
                <a:cs typeface="Avenir"/>
              </a:defRPr>
            </a:defPPr>
            <a:lvl1pPr algn="l">
              <a:defRPr sz="1500" b="0">
                <a:solidFill>
                  <a:srgbClr val="F4F7FB"/>
                </a:solidFill>
                <a:latin typeface="Avenir"/>
                <a:ea typeface="Avenir"/>
                <a:cs typeface="Avenir"/>
              </a:defRPr>
            </a:lvl1pPr>
            <a:lvl2pPr algn="l">
              <a:defRPr sz="1500" b="0">
                <a:solidFill>
                  <a:srgbClr val="F4F7FB"/>
                </a:solidFill>
                <a:latin typeface="Avenir"/>
                <a:ea typeface="Avenir"/>
                <a:cs typeface="Avenir"/>
              </a:defRPr>
            </a:lvl2pPr>
            <a:lvl3pPr algn="l">
              <a:defRPr sz="1500" b="0">
                <a:solidFill>
                  <a:srgbClr val="F4F7FB"/>
                </a:solidFill>
                <a:latin typeface="Avenir"/>
                <a:ea typeface="Avenir"/>
                <a:cs typeface="Avenir"/>
              </a:defRPr>
            </a:lvl3pPr>
            <a:lvl4pPr algn="l">
              <a:defRPr sz="1500" b="0">
                <a:solidFill>
                  <a:srgbClr val="F4F7FB"/>
                </a:solidFill>
                <a:latin typeface="Avenir"/>
                <a:ea typeface="Avenir"/>
                <a:cs typeface="Avenir"/>
              </a:defRPr>
            </a:lvl4pPr>
            <a:lvl5pPr algn="l">
              <a:defRPr sz="1500" b="0">
                <a:solidFill>
                  <a:srgbClr val="F4F7FB"/>
                </a:solidFill>
                <a:latin typeface="Avenir"/>
                <a:ea typeface="Avenir"/>
                <a:cs typeface="Avenir"/>
              </a:defRPr>
            </a:lvl5pPr>
            <a:lvl6pPr algn="l">
              <a:defRPr sz="1500" b="0">
                <a:solidFill>
                  <a:srgbClr val="F4F7FB"/>
                </a:solidFill>
                <a:latin typeface="Avenir"/>
                <a:ea typeface="Avenir"/>
                <a:cs typeface="Avenir"/>
              </a:defRPr>
            </a:lvl6pPr>
            <a:lvl7pPr algn="l">
              <a:defRPr sz="1500" b="0">
                <a:solidFill>
                  <a:srgbClr val="F4F7FB"/>
                </a:solidFill>
                <a:latin typeface="Avenir"/>
                <a:ea typeface="Avenir"/>
                <a:cs typeface="Avenir"/>
              </a:defRPr>
            </a:lvl7pPr>
            <a:lvl8pPr algn="l">
              <a:defRPr sz="1500" b="0">
                <a:solidFill>
                  <a:srgbClr val="F4F7FB"/>
                </a:solidFill>
                <a:latin typeface="Avenir"/>
                <a:ea typeface="Avenir"/>
                <a:cs typeface="Avenir"/>
              </a:defRPr>
            </a:lvl8pPr>
            <a:lvl9pPr algn="l">
              <a:defRPr sz="1500" b="0">
                <a:solidFill>
                  <a:srgbClr val="F4F7FB"/>
                </a:solidFill>
                <a:latin typeface="Avenir"/>
                <a:ea typeface="Avenir"/>
                <a:cs typeface="Avenir"/>
              </a:defRPr>
            </a:lvl9pPr>
          </a:lstStyle>
          <a:p xmlns:a="http://schemas.openxmlformats.org/drawingml/2006/main">
            <a:pPr algn="l">
              <a:lnSpc>
                <a:spcPct val="105000"/>
              </a:lnSpc>
              <a:buNone/>
              <a:defRPr sz="1500" b="0">
                <a:solidFill>
                  <a:srgbClr val="F4F7FB"/>
                </a:solidFill>
                <a:latin typeface="Avenir"/>
                <a:ea typeface="Avenir"/>
                <a:cs typeface="Avenir"/>
              </a:defRPr>
            </a:pPr>
            <a:r>
              <a:rPr sz="1500" b="0">
                <a:solidFill>
                  <a:srgbClr val="F4F7FB"/>
                </a:solidFill>
                <a:latin typeface="Avenir"/>
                <a:ea typeface="Avenir"/>
                <a:cs typeface="Avenir"/>
              </a:rPr>
              <a:t>1,000 inputs · 3 runs · same output; local parallel time was higher</a:t>
            </a:r>
          </a:p>
        </p:txBody>
      </p:sp>
      <p:sp>
        <p:nvSpPr>
          <p:cNvPr id="17" name="">
            <a:extLst xmlns:a="http://schemas.openxmlformats.org/drawingml/2006/main">
              <a:ext uri="{FF2B5EF4-FFF2-40B4-BE49-F238E27FC236}">
                <a16:creationId xmlns:a16="http://schemas.microsoft.com/office/drawing/2014/main" id="{F7E76F5C-B83E-47E9-9218-50789F8DBC77}"/>
              </a:ext>
            </a:extLst>
          </p:cNvPr>
          <p:cNvSpPr>
            <a:spLocks xmlns:a="http://schemas.openxmlformats.org/drawingml/2006/main" noGrp="1"/>
          </p:cNvSpPr>
          <p:nvPr/>
        </p:nvSpPr>
        <p:spPr>
          <a:xfrm xmlns:a="http://schemas.openxmlformats.org/drawingml/2006/main">
            <a:off x="762000" y="600075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FC86A"/>
                </a:solidFill>
                <a:latin typeface="Avenir"/>
                <a:ea typeface="Avenir"/>
                <a:cs typeface="Avenir"/>
              </a:defRPr>
            </a:defPPr>
            <a:lvl1pPr algn="l">
              <a:defRPr sz="1350" b="0">
                <a:solidFill>
                  <a:srgbClr val="FFC86A"/>
                </a:solidFill>
                <a:latin typeface="Avenir"/>
                <a:ea typeface="Avenir"/>
                <a:cs typeface="Avenir"/>
              </a:defRPr>
            </a:lvl1pPr>
            <a:lvl2pPr algn="l">
              <a:defRPr sz="1350" b="0">
                <a:solidFill>
                  <a:srgbClr val="FFC86A"/>
                </a:solidFill>
                <a:latin typeface="Avenir"/>
                <a:ea typeface="Avenir"/>
                <a:cs typeface="Avenir"/>
              </a:defRPr>
            </a:lvl2pPr>
            <a:lvl3pPr algn="l">
              <a:defRPr sz="1350" b="0">
                <a:solidFill>
                  <a:srgbClr val="FFC86A"/>
                </a:solidFill>
                <a:latin typeface="Avenir"/>
                <a:ea typeface="Avenir"/>
                <a:cs typeface="Avenir"/>
              </a:defRPr>
            </a:lvl3pPr>
            <a:lvl4pPr algn="l">
              <a:defRPr sz="1350" b="0">
                <a:solidFill>
                  <a:srgbClr val="FFC86A"/>
                </a:solidFill>
                <a:latin typeface="Avenir"/>
                <a:ea typeface="Avenir"/>
                <a:cs typeface="Avenir"/>
              </a:defRPr>
            </a:lvl4pPr>
            <a:lvl5pPr algn="l">
              <a:defRPr sz="1350" b="0">
                <a:solidFill>
                  <a:srgbClr val="FFC86A"/>
                </a:solidFill>
                <a:latin typeface="Avenir"/>
                <a:ea typeface="Avenir"/>
                <a:cs typeface="Avenir"/>
              </a:defRPr>
            </a:lvl5pPr>
            <a:lvl6pPr algn="l">
              <a:defRPr sz="1350" b="0">
                <a:solidFill>
                  <a:srgbClr val="FFC86A"/>
                </a:solidFill>
                <a:latin typeface="Avenir"/>
                <a:ea typeface="Avenir"/>
                <a:cs typeface="Avenir"/>
              </a:defRPr>
            </a:lvl6pPr>
            <a:lvl7pPr algn="l">
              <a:defRPr sz="1350" b="0">
                <a:solidFill>
                  <a:srgbClr val="FFC86A"/>
                </a:solidFill>
                <a:latin typeface="Avenir"/>
                <a:ea typeface="Avenir"/>
                <a:cs typeface="Avenir"/>
              </a:defRPr>
            </a:lvl7pPr>
            <a:lvl8pPr algn="l">
              <a:defRPr sz="1350" b="0">
                <a:solidFill>
                  <a:srgbClr val="FFC86A"/>
                </a:solidFill>
                <a:latin typeface="Avenir"/>
                <a:ea typeface="Avenir"/>
                <a:cs typeface="Avenir"/>
              </a:defRPr>
            </a:lvl8pPr>
            <a:lvl9pPr algn="l">
              <a:defRPr sz="1350" b="0">
                <a:solidFill>
                  <a:srgbClr val="FFC86A"/>
                </a:solidFill>
                <a:latin typeface="Avenir"/>
                <a:ea typeface="Avenir"/>
                <a:cs typeface="Avenir"/>
              </a:defRPr>
            </a:lvl9pPr>
          </a:lstStyle>
          <a:p xmlns:a="http://schemas.openxmlformats.org/drawingml/2006/main">
            <a:pPr algn="l">
              <a:lnSpc>
                <a:spcPct val="105000"/>
              </a:lnSpc>
              <a:buNone/>
              <a:defRPr sz="1350" b="0">
                <a:solidFill>
                  <a:srgbClr val="FFC86A"/>
                </a:solidFill>
                <a:latin typeface="Avenir"/>
                <a:ea typeface="Avenir"/>
                <a:cs typeface="Avenir"/>
              </a:defRPr>
            </a:pPr>
            <a:r>
              <a:rPr sz="1350" b="0">
                <a:solidFill>
                  <a:srgbClr val="FFC86A"/>
                </a:solidFill>
                <a:latin typeface="Avenir"/>
                <a:ea typeface="Avenir"/>
                <a:cs typeface="Avenir"/>
              </a:rPr>
              <a:t>Process startup dominates here. Run `python3 performance_study.py` on the presentation machine.</a:t>
            </a:r>
          </a:p>
        </p:txBody>
      </p:sp>
    </p:spTree>
    <p:extLst>
      <p:ext uri="{BB962C8B-B14F-4D97-AF65-F5344CB8AC3E}">
        <p14:creationId xmlns:p14="http://schemas.microsoft.com/office/powerpoint/2010/main" val="985843313"/>
      </p:ext>
    </p:extLst>
  </p:cSld>
</p:sld>
</file>

<file path=ppt/slides/slide10.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618B2A-DF79-4FF7-9DAA-B4241E8A2F70}"/>
              </a:ext>
            </a:extLst>
          </p:cNvPr>
          <p:cNvSpPr>
            <a:spLocks xmlns:a="http://schemas.openxmlformats.org/drawingml/2006/main" noGrp="1"/>
          </p:cNvSpPr>
          <p:nvPr/>
        </p:nvSpPr>
        <p:spPr>
          <a:xfrm xmlns:a="http://schemas.openxmlformats.org/drawingml/2006/main">
            <a:off x="685800" y="4191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F4F7FB"/>
                </a:solidFill>
                <a:latin typeface="Avenir"/>
                <a:ea typeface="Avenir"/>
                <a:cs typeface="Avenir"/>
              </a:defRPr>
            </a:defPPr>
            <a:lvl1pPr algn="l">
              <a:defRPr sz="3525" b="1">
                <a:solidFill>
                  <a:srgbClr val="F4F7FB"/>
                </a:solidFill>
                <a:latin typeface="Avenir"/>
                <a:ea typeface="Avenir"/>
                <a:cs typeface="Avenir"/>
              </a:defRPr>
            </a:lvl1pPr>
            <a:lvl2pPr algn="l">
              <a:defRPr sz="3525" b="1">
                <a:solidFill>
                  <a:srgbClr val="F4F7FB"/>
                </a:solidFill>
                <a:latin typeface="Avenir"/>
                <a:ea typeface="Avenir"/>
                <a:cs typeface="Avenir"/>
              </a:defRPr>
            </a:lvl2pPr>
            <a:lvl3pPr algn="l">
              <a:defRPr sz="3525" b="1">
                <a:solidFill>
                  <a:srgbClr val="F4F7FB"/>
                </a:solidFill>
                <a:latin typeface="Avenir"/>
                <a:ea typeface="Avenir"/>
                <a:cs typeface="Avenir"/>
              </a:defRPr>
            </a:lvl3pPr>
            <a:lvl4pPr algn="l">
              <a:defRPr sz="3525" b="1">
                <a:solidFill>
                  <a:srgbClr val="F4F7FB"/>
                </a:solidFill>
                <a:latin typeface="Avenir"/>
                <a:ea typeface="Avenir"/>
                <a:cs typeface="Avenir"/>
              </a:defRPr>
            </a:lvl4pPr>
            <a:lvl5pPr algn="l">
              <a:defRPr sz="3525" b="1">
                <a:solidFill>
                  <a:srgbClr val="F4F7FB"/>
                </a:solidFill>
                <a:latin typeface="Avenir"/>
                <a:ea typeface="Avenir"/>
                <a:cs typeface="Avenir"/>
              </a:defRPr>
            </a:lvl5pPr>
            <a:lvl6pPr algn="l">
              <a:defRPr sz="3525" b="1">
                <a:solidFill>
                  <a:srgbClr val="F4F7FB"/>
                </a:solidFill>
                <a:latin typeface="Avenir"/>
                <a:ea typeface="Avenir"/>
                <a:cs typeface="Avenir"/>
              </a:defRPr>
            </a:lvl6pPr>
            <a:lvl7pPr algn="l">
              <a:defRPr sz="3525" b="1">
                <a:solidFill>
                  <a:srgbClr val="F4F7FB"/>
                </a:solidFill>
                <a:latin typeface="Avenir"/>
                <a:ea typeface="Avenir"/>
                <a:cs typeface="Avenir"/>
              </a:defRPr>
            </a:lvl7pPr>
            <a:lvl8pPr algn="l">
              <a:defRPr sz="3525" b="1">
                <a:solidFill>
                  <a:srgbClr val="F4F7FB"/>
                </a:solidFill>
                <a:latin typeface="Avenir"/>
                <a:ea typeface="Avenir"/>
                <a:cs typeface="Avenir"/>
              </a:defRPr>
            </a:lvl8pPr>
            <a:lvl9pPr algn="l">
              <a:defRPr sz="3525" b="1">
                <a:solidFill>
                  <a:srgbClr val="F4F7FB"/>
                </a:solidFill>
                <a:latin typeface="Avenir"/>
                <a:ea typeface="Avenir"/>
                <a:cs typeface="Avenir"/>
              </a:defRPr>
            </a:lvl9pPr>
          </a:lstStyle>
          <a:p xmlns:a="http://schemas.openxmlformats.org/drawingml/2006/main">
            <a:pPr algn="l">
              <a:lnSpc>
                <a:spcPct val="105000"/>
              </a:lnSpc>
              <a:buNone/>
              <a:defRPr sz="3525" b="1">
                <a:solidFill>
                  <a:srgbClr val="F4F7FB"/>
                </a:solidFill>
                <a:latin typeface="Avenir"/>
                <a:ea typeface="Avenir"/>
                <a:cs typeface="Avenir"/>
              </a:defRPr>
            </a:pPr>
            <a:r>
              <a:rPr sz="3525" b="1">
                <a:solidFill>
                  <a:srgbClr val="F4F7FB"/>
                </a:solidFill>
                <a:latin typeface="Avenir"/>
                <a:ea typeface="Avenir"/>
                <a:cs typeface="Avenir"/>
              </a:rPr>
              <a:t>Current boundary and next steps</a:t>
            </a:r>
          </a:p>
        </p:txBody>
      </p:sp>
      <p:sp>
        <p:nvSpPr>
          <p:cNvPr id="2" name="">
            <a:extLst xmlns:a="http://schemas.openxmlformats.org/drawingml/2006/main">
              <a:ext uri="{FF2B5EF4-FFF2-40B4-BE49-F238E27FC236}">
                <a16:creationId xmlns:a16="http://schemas.microsoft.com/office/drawing/2014/main" id="{DF71A638-8CE5-45C8-8BB1-D8657B229940}"/>
              </a:ext>
            </a:extLst>
          </p:cNvPr>
          <p:cNvSpPr>
            <a:spLocks xmlns:a="http://schemas.openxmlformats.org/drawingml/2006/main" noGrp="1"/>
          </p:cNvSpPr>
          <p:nvPr/>
        </p:nvSpPr>
        <p:spPr>
          <a:xfrm xmlns:a="http://schemas.openxmlformats.org/drawingml/2006/main">
            <a:off x="685800" y="1162050"/>
            <a:ext cx="819150" cy="38100"/>
          </a:xfrm>
          <a:prstGeom xmlns:a="http://schemas.openxmlformats.org/drawingml/2006/main" prst="rect">
            <a:avLst/>
          </a:prstGeom>
          <a:solidFill xmlns:a="http://schemas.openxmlformats.org/drawingml/2006/main">
            <a:srgbClr val="5AD6E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1E204E-BA52-40D9-A3C3-C69E82A2A84D}"/>
              </a:ext>
            </a:extLst>
          </p:cNvPr>
          <p:cNvSpPr>
            <a:spLocks xmlns:a="http://schemas.openxmlformats.org/drawingml/2006/main" noGrp="1"/>
          </p:cNvSpPr>
          <p:nvPr/>
        </p:nvSpPr>
        <p:spPr>
          <a:xfrm xmlns:a="http://schemas.openxmlformats.org/drawingml/2006/main">
            <a:off x="685800" y="1390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4C1D1"/>
                </a:solidFill>
                <a:latin typeface="Avenir"/>
                <a:ea typeface="Avenir"/>
                <a:cs typeface="Avenir"/>
              </a:defRPr>
            </a:defPPr>
            <a:lvl1pPr algn="l">
              <a:defRPr sz="1725" b="0">
                <a:solidFill>
                  <a:srgbClr val="B4C1D1"/>
                </a:solidFill>
                <a:latin typeface="Avenir"/>
                <a:ea typeface="Avenir"/>
                <a:cs typeface="Avenir"/>
              </a:defRPr>
            </a:lvl1pPr>
            <a:lvl2pPr algn="l">
              <a:defRPr sz="1725" b="0">
                <a:solidFill>
                  <a:srgbClr val="B4C1D1"/>
                </a:solidFill>
                <a:latin typeface="Avenir"/>
                <a:ea typeface="Avenir"/>
                <a:cs typeface="Avenir"/>
              </a:defRPr>
            </a:lvl2pPr>
            <a:lvl3pPr algn="l">
              <a:defRPr sz="1725" b="0">
                <a:solidFill>
                  <a:srgbClr val="B4C1D1"/>
                </a:solidFill>
                <a:latin typeface="Avenir"/>
                <a:ea typeface="Avenir"/>
                <a:cs typeface="Avenir"/>
              </a:defRPr>
            </a:lvl3pPr>
            <a:lvl4pPr algn="l">
              <a:defRPr sz="1725" b="0">
                <a:solidFill>
                  <a:srgbClr val="B4C1D1"/>
                </a:solidFill>
                <a:latin typeface="Avenir"/>
                <a:ea typeface="Avenir"/>
                <a:cs typeface="Avenir"/>
              </a:defRPr>
            </a:lvl4pPr>
            <a:lvl5pPr algn="l">
              <a:defRPr sz="1725" b="0">
                <a:solidFill>
                  <a:srgbClr val="B4C1D1"/>
                </a:solidFill>
                <a:latin typeface="Avenir"/>
                <a:ea typeface="Avenir"/>
                <a:cs typeface="Avenir"/>
              </a:defRPr>
            </a:lvl5pPr>
            <a:lvl6pPr algn="l">
              <a:defRPr sz="1725" b="0">
                <a:solidFill>
                  <a:srgbClr val="B4C1D1"/>
                </a:solidFill>
                <a:latin typeface="Avenir"/>
                <a:ea typeface="Avenir"/>
                <a:cs typeface="Avenir"/>
              </a:defRPr>
            </a:lvl6pPr>
            <a:lvl7pPr algn="l">
              <a:defRPr sz="1725" b="0">
                <a:solidFill>
                  <a:srgbClr val="B4C1D1"/>
                </a:solidFill>
                <a:latin typeface="Avenir"/>
                <a:ea typeface="Avenir"/>
                <a:cs typeface="Avenir"/>
              </a:defRPr>
            </a:lvl7pPr>
            <a:lvl8pPr algn="l">
              <a:defRPr sz="1725" b="0">
                <a:solidFill>
                  <a:srgbClr val="B4C1D1"/>
                </a:solidFill>
                <a:latin typeface="Avenir"/>
                <a:ea typeface="Avenir"/>
                <a:cs typeface="Avenir"/>
              </a:defRPr>
            </a:lvl8pPr>
            <a:lvl9pPr algn="l">
              <a:defRPr sz="1725" b="0">
                <a:solidFill>
                  <a:srgbClr val="B4C1D1"/>
                </a:solidFill>
                <a:latin typeface="Avenir"/>
                <a:ea typeface="Avenir"/>
                <a:cs typeface="Avenir"/>
              </a:defRPr>
            </a:lvl9pPr>
          </a:lstStyle>
          <a:p xmlns:a="http://schemas.openxmlformats.org/drawingml/2006/main">
            <a:pPr algn="l">
              <a:lnSpc>
                <a:spcPct val="105000"/>
              </a:lnSpc>
              <a:buNone/>
              <a:defRPr sz="1725" b="0">
                <a:solidFill>
                  <a:srgbClr val="B4C1D1"/>
                </a:solidFill>
                <a:latin typeface="Avenir"/>
                <a:ea typeface="Avenir"/>
                <a:cs typeface="Avenir"/>
              </a:defRPr>
            </a:pPr>
            <a:r>
              <a:rPr sz="1725" b="0">
                <a:solidFill>
                  <a:srgbClr val="B4C1D1"/>
                </a:solidFill>
                <a:latin typeface="Avenir"/>
                <a:ea typeface="Avenir"/>
                <a:cs typeface="Avenir"/>
              </a:rPr>
              <a:t>A clear scope makes the implementation easier to demonstrate and verify.</a:t>
            </a:r>
          </a:p>
        </p:txBody>
      </p:sp>
      <p:sp>
        <p:nvSpPr>
          <p:cNvPr id="4" name="">
            <a:extLst xmlns:a="http://schemas.openxmlformats.org/drawingml/2006/main">
              <a:ext uri="{FF2B5EF4-FFF2-40B4-BE49-F238E27FC236}">
                <a16:creationId xmlns:a16="http://schemas.microsoft.com/office/drawing/2014/main" id="{29DECFB7-2376-464D-A111-773431D74256}"/>
              </a:ext>
            </a:extLst>
          </p:cNvPr>
          <p:cNvSpPr>
            <a:spLocks xmlns:a="http://schemas.openxmlformats.org/drawingml/2006/main" noGrp="1"/>
          </p:cNvSpPr>
          <p:nvPr/>
        </p:nvSpPr>
        <p:spPr>
          <a:xfrm xmlns:a="http://schemas.openxmlformats.org/drawingml/2006/main">
            <a:off x="762000" y="21907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9BE3BD"/>
                </a:solidFill>
                <a:latin typeface="Avenir"/>
                <a:ea typeface="Avenir"/>
                <a:cs typeface="Avenir"/>
              </a:defRPr>
            </a:defPPr>
            <a:lvl1pPr algn="l">
              <a:defRPr sz="1500" b="1">
                <a:solidFill>
                  <a:srgbClr val="9BE3BD"/>
                </a:solidFill>
                <a:latin typeface="Avenir"/>
                <a:ea typeface="Avenir"/>
                <a:cs typeface="Avenir"/>
              </a:defRPr>
            </a:lvl1pPr>
            <a:lvl2pPr algn="l">
              <a:defRPr sz="1500" b="1">
                <a:solidFill>
                  <a:srgbClr val="9BE3BD"/>
                </a:solidFill>
                <a:latin typeface="Avenir"/>
                <a:ea typeface="Avenir"/>
                <a:cs typeface="Avenir"/>
              </a:defRPr>
            </a:lvl2pPr>
            <a:lvl3pPr algn="l">
              <a:defRPr sz="1500" b="1">
                <a:solidFill>
                  <a:srgbClr val="9BE3BD"/>
                </a:solidFill>
                <a:latin typeface="Avenir"/>
                <a:ea typeface="Avenir"/>
                <a:cs typeface="Avenir"/>
              </a:defRPr>
            </a:lvl3pPr>
            <a:lvl4pPr algn="l">
              <a:defRPr sz="1500" b="1">
                <a:solidFill>
                  <a:srgbClr val="9BE3BD"/>
                </a:solidFill>
                <a:latin typeface="Avenir"/>
                <a:ea typeface="Avenir"/>
                <a:cs typeface="Avenir"/>
              </a:defRPr>
            </a:lvl4pPr>
            <a:lvl5pPr algn="l">
              <a:defRPr sz="1500" b="1">
                <a:solidFill>
                  <a:srgbClr val="9BE3BD"/>
                </a:solidFill>
                <a:latin typeface="Avenir"/>
                <a:ea typeface="Avenir"/>
                <a:cs typeface="Avenir"/>
              </a:defRPr>
            </a:lvl5pPr>
            <a:lvl6pPr algn="l">
              <a:defRPr sz="1500" b="1">
                <a:solidFill>
                  <a:srgbClr val="9BE3BD"/>
                </a:solidFill>
                <a:latin typeface="Avenir"/>
                <a:ea typeface="Avenir"/>
                <a:cs typeface="Avenir"/>
              </a:defRPr>
            </a:lvl6pPr>
            <a:lvl7pPr algn="l">
              <a:defRPr sz="1500" b="1">
                <a:solidFill>
                  <a:srgbClr val="9BE3BD"/>
                </a:solidFill>
                <a:latin typeface="Avenir"/>
                <a:ea typeface="Avenir"/>
                <a:cs typeface="Avenir"/>
              </a:defRPr>
            </a:lvl7pPr>
            <a:lvl8pPr algn="l">
              <a:defRPr sz="1500" b="1">
                <a:solidFill>
                  <a:srgbClr val="9BE3BD"/>
                </a:solidFill>
                <a:latin typeface="Avenir"/>
                <a:ea typeface="Avenir"/>
                <a:cs typeface="Avenir"/>
              </a:defRPr>
            </a:lvl8pPr>
            <a:lvl9pPr algn="l">
              <a:defRPr sz="1500" b="1">
                <a:solidFill>
                  <a:srgbClr val="9BE3BD"/>
                </a:solidFill>
                <a:latin typeface="Avenir"/>
                <a:ea typeface="Avenir"/>
                <a:cs typeface="Avenir"/>
              </a:defRPr>
            </a:lvl9pPr>
          </a:lstStyle>
          <a:p xmlns:a="http://schemas.openxmlformats.org/drawingml/2006/main">
            <a:pPr algn="l">
              <a:lnSpc>
                <a:spcPct val="105000"/>
              </a:lnSpc>
              <a:buNone/>
              <a:defRPr sz="1500" b="1">
                <a:solidFill>
                  <a:srgbClr val="9BE3BD"/>
                </a:solidFill>
                <a:latin typeface="Avenir"/>
                <a:ea typeface="Avenir"/>
                <a:cs typeface="Avenir"/>
              </a:defRPr>
            </a:pPr>
            <a:r>
              <a:rPr sz="1500" b="1">
                <a:solidFill>
                  <a:srgbClr val="9BE3BD"/>
                </a:solidFill>
                <a:latin typeface="Avenir"/>
                <a:ea typeface="Avenir"/>
                <a:cs typeface="Avenir"/>
              </a:rPr>
              <a:t>Implemented now</a:t>
            </a:r>
          </a:p>
        </p:txBody>
      </p:sp>
      <p:sp>
        <p:nvSpPr>
          <p:cNvPr id="5" name="">
            <a:extLst xmlns:a="http://schemas.openxmlformats.org/drawingml/2006/main">
              <a:ext uri="{FF2B5EF4-FFF2-40B4-BE49-F238E27FC236}">
                <a16:creationId xmlns:a16="http://schemas.microsoft.com/office/drawing/2014/main" id="{07C12EE9-7FB7-485A-8ABE-1841FF6ACA91}"/>
              </a:ext>
            </a:extLst>
          </p:cNvPr>
          <p:cNvSpPr>
            <a:spLocks xmlns:a="http://schemas.openxmlformats.org/drawingml/2006/main" noGrp="1"/>
          </p:cNvSpPr>
          <p:nvPr/>
        </p:nvSpPr>
        <p:spPr>
          <a:xfrm xmlns:a="http://schemas.openxmlformats.org/drawingml/2006/main">
            <a:off x="762000" y="2705100"/>
            <a:ext cx="4905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Avenir"/>
                <a:ea typeface="Avenir"/>
                <a:cs typeface="Avenir"/>
              </a:defRPr>
            </a:defPPr>
            <a:lvl1pPr algn="l">
              <a:defRPr sz="1725" b="0">
                <a:solidFill>
                  <a:srgbClr val="F4F7FB"/>
                </a:solidFill>
                <a:latin typeface="Avenir"/>
                <a:ea typeface="Avenir"/>
                <a:cs typeface="Avenir"/>
              </a:defRPr>
            </a:lvl1pPr>
            <a:lvl2pPr algn="l">
              <a:defRPr sz="1725" b="0">
                <a:solidFill>
                  <a:srgbClr val="F4F7FB"/>
                </a:solidFill>
                <a:latin typeface="Avenir"/>
                <a:ea typeface="Avenir"/>
                <a:cs typeface="Avenir"/>
              </a:defRPr>
            </a:lvl2pPr>
            <a:lvl3pPr algn="l">
              <a:defRPr sz="1725" b="0">
                <a:solidFill>
                  <a:srgbClr val="F4F7FB"/>
                </a:solidFill>
                <a:latin typeface="Avenir"/>
                <a:ea typeface="Avenir"/>
                <a:cs typeface="Avenir"/>
              </a:defRPr>
            </a:lvl3pPr>
            <a:lvl4pPr algn="l">
              <a:defRPr sz="1725" b="0">
                <a:solidFill>
                  <a:srgbClr val="F4F7FB"/>
                </a:solidFill>
                <a:latin typeface="Avenir"/>
                <a:ea typeface="Avenir"/>
                <a:cs typeface="Avenir"/>
              </a:defRPr>
            </a:lvl4pPr>
            <a:lvl5pPr algn="l">
              <a:defRPr sz="1725" b="0">
                <a:solidFill>
                  <a:srgbClr val="F4F7FB"/>
                </a:solidFill>
                <a:latin typeface="Avenir"/>
                <a:ea typeface="Avenir"/>
                <a:cs typeface="Avenir"/>
              </a:defRPr>
            </a:lvl5pPr>
            <a:lvl6pPr algn="l">
              <a:defRPr sz="1725" b="0">
                <a:solidFill>
                  <a:srgbClr val="F4F7FB"/>
                </a:solidFill>
                <a:latin typeface="Avenir"/>
                <a:ea typeface="Avenir"/>
                <a:cs typeface="Avenir"/>
              </a:defRPr>
            </a:lvl6pPr>
            <a:lvl7pPr algn="l">
              <a:defRPr sz="1725" b="0">
                <a:solidFill>
                  <a:srgbClr val="F4F7FB"/>
                </a:solidFill>
                <a:latin typeface="Avenir"/>
                <a:ea typeface="Avenir"/>
                <a:cs typeface="Avenir"/>
              </a:defRPr>
            </a:lvl7pPr>
            <a:lvl8pPr algn="l">
              <a:defRPr sz="1725" b="0">
                <a:solidFill>
                  <a:srgbClr val="F4F7FB"/>
                </a:solidFill>
                <a:latin typeface="Avenir"/>
                <a:ea typeface="Avenir"/>
                <a:cs typeface="Avenir"/>
              </a:defRPr>
            </a:lvl8pPr>
            <a:lvl9pPr algn="l">
              <a:defRPr sz="1725" b="0">
                <a:solidFill>
                  <a:srgbClr val="F4F7FB"/>
                </a:solidFill>
                <a:latin typeface="Avenir"/>
                <a:ea typeface="Avenir"/>
                <a:cs typeface="Avenir"/>
              </a:defRPr>
            </a:lvl9pPr>
          </a:lstStyle>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Integer Python subset + fixed tuples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Three-address IR and CFG display</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CFG constants and liveness passes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Versioned bytecode and stack VM</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Fifteen process-parallel reductions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Repeated performance study and comparisons</a:t>
            </a:r>
          </a:p>
        </p:txBody>
      </p:sp>
      <p:sp>
        <p:nvSpPr>
          <p:cNvPr id="6" name="">
            <a:extLst xmlns:a="http://schemas.openxmlformats.org/drawingml/2006/main">
              <a:ext uri="{FF2B5EF4-FFF2-40B4-BE49-F238E27FC236}">
                <a16:creationId xmlns:a16="http://schemas.microsoft.com/office/drawing/2014/main" id="{60550459-B27A-44B9-A821-4631866D3875}"/>
              </a:ext>
            </a:extLst>
          </p:cNvPr>
          <p:cNvSpPr>
            <a:spLocks xmlns:a="http://schemas.openxmlformats.org/drawingml/2006/main" noGrp="1"/>
          </p:cNvSpPr>
          <p:nvPr/>
        </p:nvSpPr>
        <p:spPr>
          <a:xfrm xmlns:a="http://schemas.openxmlformats.org/drawingml/2006/main">
            <a:off x="6019800" y="2152650"/>
            <a:ext cx="19050" cy="3429000"/>
          </a:xfrm>
          <a:prstGeom xmlns:a="http://schemas.openxmlformats.org/drawingml/2006/main" prst="rect">
            <a:avLst/>
          </a:prstGeom>
          <a:solidFill xmlns:a="http://schemas.openxmlformats.org/drawingml/2006/main">
            <a:srgbClr val="4760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058A4B-2475-430F-B9D7-2A1C21D5B747}"/>
              </a:ext>
            </a:extLst>
          </p:cNvPr>
          <p:cNvSpPr>
            <a:spLocks xmlns:a="http://schemas.openxmlformats.org/drawingml/2006/main" noGrp="1"/>
          </p:cNvSpPr>
          <p:nvPr/>
        </p:nvSpPr>
        <p:spPr>
          <a:xfrm xmlns:a="http://schemas.openxmlformats.org/drawingml/2006/main">
            <a:off x="6572250" y="21907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C86A"/>
                </a:solidFill>
                <a:latin typeface="Avenir"/>
                <a:ea typeface="Avenir"/>
                <a:cs typeface="Avenir"/>
              </a:defRPr>
            </a:defPPr>
            <a:lvl1pPr algn="l">
              <a:defRPr sz="1500" b="1">
                <a:solidFill>
                  <a:srgbClr val="FFC86A"/>
                </a:solidFill>
                <a:latin typeface="Avenir"/>
                <a:ea typeface="Avenir"/>
                <a:cs typeface="Avenir"/>
              </a:defRPr>
            </a:lvl1pPr>
            <a:lvl2pPr algn="l">
              <a:defRPr sz="1500" b="1">
                <a:solidFill>
                  <a:srgbClr val="FFC86A"/>
                </a:solidFill>
                <a:latin typeface="Avenir"/>
                <a:ea typeface="Avenir"/>
                <a:cs typeface="Avenir"/>
              </a:defRPr>
            </a:lvl2pPr>
            <a:lvl3pPr algn="l">
              <a:defRPr sz="1500" b="1">
                <a:solidFill>
                  <a:srgbClr val="FFC86A"/>
                </a:solidFill>
                <a:latin typeface="Avenir"/>
                <a:ea typeface="Avenir"/>
                <a:cs typeface="Avenir"/>
              </a:defRPr>
            </a:lvl3pPr>
            <a:lvl4pPr algn="l">
              <a:defRPr sz="1500" b="1">
                <a:solidFill>
                  <a:srgbClr val="FFC86A"/>
                </a:solidFill>
                <a:latin typeface="Avenir"/>
                <a:ea typeface="Avenir"/>
                <a:cs typeface="Avenir"/>
              </a:defRPr>
            </a:lvl4pPr>
            <a:lvl5pPr algn="l">
              <a:defRPr sz="1500" b="1">
                <a:solidFill>
                  <a:srgbClr val="FFC86A"/>
                </a:solidFill>
                <a:latin typeface="Avenir"/>
                <a:ea typeface="Avenir"/>
                <a:cs typeface="Avenir"/>
              </a:defRPr>
            </a:lvl5pPr>
            <a:lvl6pPr algn="l">
              <a:defRPr sz="1500" b="1">
                <a:solidFill>
                  <a:srgbClr val="FFC86A"/>
                </a:solidFill>
                <a:latin typeface="Avenir"/>
                <a:ea typeface="Avenir"/>
                <a:cs typeface="Avenir"/>
              </a:defRPr>
            </a:lvl6pPr>
            <a:lvl7pPr algn="l">
              <a:defRPr sz="1500" b="1">
                <a:solidFill>
                  <a:srgbClr val="FFC86A"/>
                </a:solidFill>
                <a:latin typeface="Avenir"/>
                <a:ea typeface="Avenir"/>
                <a:cs typeface="Avenir"/>
              </a:defRPr>
            </a:lvl7pPr>
            <a:lvl8pPr algn="l">
              <a:defRPr sz="1500" b="1">
                <a:solidFill>
                  <a:srgbClr val="FFC86A"/>
                </a:solidFill>
                <a:latin typeface="Avenir"/>
                <a:ea typeface="Avenir"/>
                <a:cs typeface="Avenir"/>
              </a:defRPr>
            </a:lvl8pPr>
            <a:lvl9pPr algn="l">
              <a:defRPr sz="1500" b="1">
                <a:solidFill>
                  <a:srgbClr val="FFC86A"/>
                </a:solidFill>
                <a:latin typeface="Avenir"/>
                <a:ea typeface="Avenir"/>
                <a:cs typeface="Avenir"/>
              </a:defRPr>
            </a:lvl9pPr>
          </a:lstStyle>
          <a:p xmlns:a="http://schemas.openxmlformats.org/drawingml/2006/main">
            <a:pPr algn="l">
              <a:lnSpc>
                <a:spcPct val="105000"/>
              </a:lnSpc>
              <a:buNone/>
              <a:defRPr sz="1500" b="1">
                <a:solidFill>
                  <a:srgbClr val="FFC86A"/>
                </a:solidFill>
                <a:latin typeface="Avenir"/>
                <a:ea typeface="Avenir"/>
                <a:cs typeface="Avenir"/>
              </a:defRPr>
            </a:pPr>
            <a:r>
              <a:rPr sz="1500" b="1">
                <a:solidFill>
                  <a:srgbClr val="FFC86A"/>
                </a:solidFill>
                <a:latin typeface="Avenir"/>
                <a:ea typeface="Avenir"/>
                <a:cs typeface="Avenir"/>
              </a:rPr>
              <a:t>Next extensions</a:t>
            </a:r>
          </a:p>
        </p:txBody>
      </p:sp>
      <p:sp>
        <p:nvSpPr>
          <p:cNvPr id="8" name="">
            <a:extLst xmlns:a="http://schemas.openxmlformats.org/drawingml/2006/main">
              <a:ext uri="{FF2B5EF4-FFF2-40B4-BE49-F238E27FC236}">
                <a16:creationId xmlns:a16="http://schemas.microsoft.com/office/drawing/2014/main" id="{1F7285B6-549F-482D-B7D4-D6BFFCB955C2}"/>
              </a:ext>
            </a:extLst>
          </p:cNvPr>
          <p:cNvSpPr>
            <a:spLocks xmlns:a="http://schemas.openxmlformats.org/drawingml/2006/main" noGrp="1"/>
          </p:cNvSpPr>
          <p:nvPr/>
        </p:nvSpPr>
        <p:spPr>
          <a:xfrm xmlns:a="http://schemas.openxmlformats.org/drawingml/2006/main">
            <a:off x="6572250" y="270510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4F7FB"/>
                </a:solidFill>
                <a:latin typeface="Avenir"/>
                <a:ea typeface="Avenir"/>
                <a:cs typeface="Avenir"/>
              </a:defRPr>
            </a:defPPr>
            <a:lvl1pPr algn="l">
              <a:defRPr sz="1725" b="0">
                <a:solidFill>
                  <a:srgbClr val="F4F7FB"/>
                </a:solidFill>
                <a:latin typeface="Avenir"/>
                <a:ea typeface="Avenir"/>
                <a:cs typeface="Avenir"/>
              </a:defRPr>
            </a:lvl1pPr>
            <a:lvl2pPr algn="l">
              <a:defRPr sz="1725" b="0">
                <a:solidFill>
                  <a:srgbClr val="F4F7FB"/>
                </a:solidFill>
                <a:latin typeface="Avenir"/>
                <a:ea typeface="Avenir"/>
                <a:cs typeface="Avenir"/>
              </a:defRPr>
            </a:lvl2pPr>
            <a:lvl3pPr algn="l">
              <a:defRPr sz="1725" b="0">
                <a:solidFill>
                  <a:srgbClr val="F4F7FB"/>
                </a:solidFill>
                <a:latin typeface="Avenir"/>
                <a:ea typeface="Avenir"/>
                <a:cs typeface="Avenir"/>
              </a:defRPr>
            </a:lvl3pPr>
            <a:lvl4pPr algn="l">
              <a:defRPr sz="1725" b="0">
                <a:solidFill>
                  <a:srgbClr val="F4F7FB"/>
                </a:solidFill>
                <a:latin typeface="Avenir"/>
                <a:ea typeface="Avenir"/>
                <a:cs typeface="Avenir"/>
              </a:defRPr>
            </a:lvl4pPr>
            <a:lvl5pPr algn="l">
              <a:defRPr sz="1725" b="0">
                <a:solidFill>
                  <a:srgbClr val="F4F7FB"/>
                </a:solidFill>
                <a:latin typeface="Avenir"/>
                <a:ea typeface="Avenir"/>
                <a:cs typeface="Avenir"/>
              </a:defRPr>
            </a:lvl5pPr>
            <a:lvl6pPr algn="l">
              <a:defRPr sz="1725" b="0">
                <a:solidFill>
                  <a:srgbClr val="F4F7FB"/>
                </a:solidFill>
                <a:latin typeface="Avenir"/>
                <a:ea typeface="Avenir"/>
                <a:cs typeface="Avenir"/>
              </a:defRPr>
            </a:lvl6pPr>
            <a:lvl7pPr algn="l">
              <a:defRPr sz="1725" b="0">
                <a:solidFill>
                  <a:srgbClr val="F4F7FB"/>
                </a:solidFill>
                <a:latin typeface="Avenir"/>
                <a:ea typeface="Avenir"/>
                <a:cs typeface="Avenir"/>
              </a:defRPr>
            </a:lvl7pPr>
            <a:lvl8pPr algn="l">
              <a:defRPr sz="1725" b="0">
                <a:solidFill>
                  <a:srgbClr val="F4F7FB"/>
                </a:solidFill>
                <a:latin typeface="Avenir"/>
                <a:ea typeface="Avenir"/>
                <a:cs typeface="Avenir"/>
              </a:defRPr>
            </a:lvl8pPr>
            <a:lvl9pPr algn="l">
              <a:defRPr sz="1725" b="0">
                <a:solidFill>
                  <a:srgbClr val="F4F7FB"/>
                </a:solidFill>
                <a:latin typeface="Avenir"/>
                <a:ea typeface="Avenir"/>
                <a:cs typeface="Avenir"/>
              </a:defRPr>
            </a:lvl9pPr>
          </a:lstStyle>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Lists, dictionaries, and dynamic types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SSA and reaching-definitions passes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Automatic parallelization of loops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Broader benchmark programs and machines</a:t>
            </a:r>
          </a:p>
          <a:p xmlns:a="http://schemas.openxmlformats.org/drawingml/2006/main">
            <a:pPr algn="l">
              <a:lnSpc>
                <a:spcPct val="116000"/>
              </a:lnSpc>
              <a:buNone/>
              <a:defRPr sz="1725" b="0">
                <a:solidFill>
                  <a:srgbClr val="F4F7FB"/>
                </a:solidFill>
                <a:latin typeface="Avenir"/>
                <a:ea typeface="Avenir"/>
                <a:cs typeface="Avenir"/>
              </a:defRPr>
            </a:pPr>
            <a:r>
              <a:rPr sz="1725" b="0">
                <a:solidFill>
                  <a:srgbClr val="F4F7FB"/>
                </a:solidFill>
                <a:latin typeface="Avenir"/>
                <a:ea typeface="Avenir"/>
                <a:cs typeface="Avenir"/>
              </a:rPr>
              <a:t>Bytecode migration tools for future versions</a:t>
            </a:r>
          </a:p>
        </p:txBody>
      </p:sp>
      <p:sp>
        <p:nvSpPr>
          <p:cNvPr id="9" name="">
            <a:extLst xmlns:a="http://schemas.openxmlformats.org/drawingml/2006/main">
              <a:ext uri="{FF2B5EF4-FFF2-40B4-BE49-F238E27FC236}">
                <a16:creationId xmlns:a16="http://schemas.microsoft.com/office/drawing/2014/main" id="{EFD837BE-15D3-4ECC-9BFA-EB67AD8119EA}"/>
              </a:ext>
            </a:extLst>
          </p:cNvPr>
          <p:cNvSpPr>
            <a:spLocks xmlns:a="http://schemas.openxmlformats.org/drawingml/2006/main" noGrp="1"/>
          </p:cNvSpPr>
          <p:nvPr/>
        </p:nvSpPr>
        <p:spPr>
          <a:xfrm xmlns:a="http://schemas.openxmlformats.org/drawingml/2006/main">
            <a:off x="762000" y="58864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AD6E6"/>
                </a:solidFill>
                <a:latin typeface="Avenir"/>
                <a:ea typeface="Avenir"/>
                <a:cs typeface="Avenir"/>
              </a:defRPr>
            </a:defPPr>
            <a:lvl1pPr algn="l">
              <a:defRPr sz="1575" b="0">
                <a:solidFill>
                  <a:srgbClr val="5AD6E6"/>
                </a:solidFill>
                <a:latin typeface="Avenir"/>
                <a:ea typeface="Avenir"/>
                <a:cs typeface="Avenir"/>
              </a:defRPr>
            </a:lvl1pPr>
            <a:lvl2pPr algn="l">
              <a:defRPr sz="1575" b="0">
                <a:solidFill>
                  <a:srgbClr val="5AD6E6"/>
                </a:solidFill>
                <a:latin typeface="Avenir"/>
                <a:ea typeface="Avenir"/>
                <a:cs typeface="Avenir"/>
              </a:defRPr>
            </a:lvl2pPr>
            <a:lvl3pPr algn="l">
              <a:defRPr sz="1575" b="0">
                <a:solidFill>
                  <a:srgbClr val="5AD6E6"/>
                </a:solidFill>
                <a:latin typeface="Avenir"/>
                <a:ea typeface="Avenir"/>
                <a:cs typeface="Avenir"/>
              </a:defRPr>
            </a:lvl3pPr>
            <a:lvl4pPr algn="l">
              <a:defRPr sz="1575" b="0">
                <a:solidFill>
                  <a:srgbClr val="5AD6E6"/>
                </a:solidFill>
                <a:latin typeface="Avenir"/>
                <a:ea typeface="Avenir"/>
                <a:cs typeface="Avenir"/>
              </a:defRPr>
            </a:lvl4pPr>
            <a:lvl5pPr algn="l">
              <a:defRPr sz="1575" b="0">
                <a:solidFill>
                  <a:srgbClr val="5AD6E6"/>
                </a:solidFill>
                <a:latin typeface="Avenir"/>
                <a:ea typeface="Avenir"/>
                <a:cs typeface="Avenir"/>
              </a:defRPr>
            </a:lvl5pPr>
            <a:lvl6pPr algn="l">
              <a:defRPr sz="1575" b="0">
                <a:solidFill>
                  <a:srgbClr val="5AD6E6"/>
                </a:solidFill>
                <a:latin typeface="Avenir"/>
                <a:ea typeface="Avenir"/>
                <a:cs typeface="Avenir"/>
              </a:defRPr>
            </a:lvl6pPr>
            <a:lvl7pPr algn="l">
              <a:defRPr sz="1575" b="0">
                <a:solidFill>
                  <a:srgbClr val="5AD6E6"/>
                </a:solidFill>
                <a:latin typeface="Avenir"/>
                <a:ea typeface="Avenir"/>
                <a:cs typeface="Avenir"/>
              </a:defRPr>
            </a:lvl7pPr>
            <a:lvl8pPr algn="l">
              <a:defRPr sz="1575" b="0">
                <a:solidFill>
                  <a:srgbClr val="5AD6E6"/>
                </a:solidFill>
                <a:latin typeface="Avenir"/>
                <a:ea typeface="Avenir"/>
                <a:cs typeface="Avenir"/>
              </a:defRPr>
            </a:lvl8pPr>
            <a:lvl9pPr algn="l">
              <a:defRPr sz="1575" b="0">
                <a:solidFill>
                  <a:srgbClr val="5AD6E6"/>
                </a:solidFill>
                <a:latin typeface="Avenir"/>
                <a:ea typeface="Avenir"/>
                <a:cs typeface="Avenir"/>
              </a:defRPr>
            </a:lvl9pPr>
          </a:lstStyle>
          <a:p xmlns:a="http://schemas.openxmlformats.org/drawingml/2006/main">
            <a:pPr algn="l">
              <a:lnSpc>
                <a:spcPct val="105000"/>
              </a:lnSpc>
              <a:buNone/>
              <a:defRPr sz="1575" b="0">
                <a:solidFill>
                  <a:srgbClr val="5AD6E6"/>
                </a:solidFill>
                <a:latin typeface="Avenir"/>
                <a:ea typeface="Avenir"/>
                <a:cs typeface="Avenir"/>
              </a:defRPr>
            </a:pPr>
            <a:r>
              <a:rPr sz="1575" b="0">
                <a:solidFill>
                  <a:srgbClr val="5AD6E6"/>
                </a:solidFill>
                <a:latin typeface="Avenir"/>
                <a:ea typeface="Avenir"/>
                <a:cs typeface="Avenir"/>
              </a:rPr>
              <a:t>Current test suite: 46 passing tests</a:t>
            </a:r>
          </a:p>
        </p:txBody>
      </p:sp>
      <p:sp>
        <p:nvSpPr>
          <p:cNvPr id="10" name="">
            <a:extLst xmlns:a="http://schemas.openxmlformats.org/drawingml/2006/main">
              <a:ext uri="{FF2B5EF4-FFF2-40B4-BE49-F238E27FC236}">
                <a16:creationId xmlns:a16="http://schemas.microsoft.com/office/drawing/2014/main" id="{53BC9A71-7886-4384-A192-B4E6A0289289}"/>
              </a:ext>
            </a:extLst>
          </p:cNvPr>
          <p:cNvSpPr>
            <a:spLocks xmlns:a="http://schemas.openxmlformats.org/drawingml/2006/main" noGrp="1"/>
          </p:cNvSpPr>
          <p:nvPr/>
        </p:nvSpPr>
        <p:spPr>
          <a:xfrm xmlns:a="http://schemas.openxmlformats.org/drawingml/2006/main">
            <a:off x="8915400" y="58102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325" b="1">
                <a:solidFill>
                  <a:srgbClr val="F4F7FB"/>
                </a:solidFill>
                <a:latin typeface="Avenir"/>
                <a:ea typeface="Avenir"/>
                <a:cs typeface="Avenir"/>
              </a:defRPr>
            </a:defPPr>
            <a:lvl1pPr algn="r">
              <a:defRPr sz="2325" b="1">
                <a:solidFill>
                  <a:srgbClr val="F4F7FB"/>
                </a:solidFill>
                <a:latin typeface="Avenir"/>
                <a:ea typeface="Avenir"/>
                <a:cs typeface="Avenir"/>
              </a:defRPr>
            </a:lvl1pPr>
            <a:lvl2pPr algn="r">
              <a:defRPr sz="2325" b="1">
                <a:solidFill>
                  <a:srgbClr val="F4F7FB"/>
                </a:solidFill>
                <a:latin typeface="Avenir"/>
                <a:ea typeface="Avenir"/>
                <a:cs typeface="Avenir"/>
              </a:defRPr>
            </a:lvl2pPr>
            <a:lvl3pPr algn="r">
              <a:defRPr sz="2325" b="1">
                <a:solidFill>
                  <a:srgbClr val="F4F7FB"/>
                </a:solidFill>
                <a:latin typeface="Avenir"/>
                <a:ea typeface="Avenir"/>
                <a:cs typeface="Avenir"/>
              </a:defRPr>
            </a:lvl3pPr>
            <a:lvl4pPr algn="r">
              <a:defRPr sz="2325" b="1">
                <a:solidFill>
                  <a:srgbClr val="F4F7FB"/>
                </a:solidFill>
                <a:latin typeface="Avenir"/>
                <a:ea typeface="Avenir"/>
                <a:cs typeface="Avenir"/>
              </a:defRPr>
            </a:lvl4pPr>
            <a:lvl5pPr algn="r">
              <a:defRPr sz="2325" b="1">
                <a:solidFill>
                  <a:srgbClr val="F4F7FB"/>
                </a:solidFill>
                <a:latin typeface="Avenir"/>
                <a:ea typeface="Avenir"/>
                <a:cs typeface="Avenir"/>
              </a:defRPr>
            </a:lvl5pPr>
            <a:lvl6pPr algn="r">
              <a:defRPr sz="2325" b="1">
                <a:solidFill>
                  <a:srgbClr val="F4F7FB"/>
                </a:solidFill>
                <a:latin typeface="Avenir"/>
                <a:ea typeface="Avenir"/>
                <a:cs typeface="Avenir"/>
              </a:defRPr>
            </a:lvl6pPr>
            <a:lvl7pPr algn="r">
              <a:defRPr sz="2325" b="1">
                <a:solidFill>
                  <a:srgbClr val="F4F7FB"/>
                </a:solidFill>
                <a:latin typeface="Avenir"/>
                <a:ea typeface="Avenir"/>
                <a:cs typeface="Avenir"/>
              </a:defRPr>
            </a:lvl7pPr>
            <a:lvl8pPr algn="r">
              <a:defRPr sz="2325" b="1">
                <a:solidFill>
                  <a:srgbClr val="F4F7FB"/>
                </a:solidFill>
                <a:latin typeface="Avenir"/>
                <a:ea typeface="Avenir"/>
                <a:cs typeface="Avenir"/>
              </a:defRPr>
            </a:lvl8pPr>
            <a:lvl9pPr algn="r">
              <a:defRPr sz="2325" b="1">
                <a:solidFill>
                  <a:srgbClr val="F4F7FB"/>
                </a:solidFill>
                <a:latin typeface="Avenir"/>
                <a:ea typeface="Avenir"/>
                <a:cs typeface="Avenir"/>
              </a:defRPr>
            </a:lvl9pPr>
          </a:lstStyle>
          <a:p xmlns:a="http://schemas.openxmlformats.org/drawingml/2006/main">
            <a:pPr algn="r">
              <a:lnSpc>
                <a:spcPct val="105000"/>
              </a:lnSpc>
              <a:buNone/>
              <a:defRPr sz="2325" b="1">
                <a:solidFill>
                  <a:srgbClr val="F4F7FB"/>
                </a:solidFill>
                <a:latin typeface="Avenir"/>
                <a:ea typeface="Avenir"/>
                <a:cs typeface="Avenir"/>
              </a:defRPr>
            </a:pPr>
            <a:r>
              <a:rPr sz="2325" b="1">
                <a:solidFill>
                  <a:srgbClr val="F4F7FB"/>
                </a:solidFill>
                <a:latin typeface="Avenir"/>
                <a:ea typeface="Avenir"/>
                <a:cs typeface="Avenir"/>
              </a:rPr>
              <a:t>Questions</a:t>
            </a:r>
          </a:p>
        </p:txBody>
      </p:sp>
    </p:spTree>
    <p:extLst>
      <p:ext uri="{BB962C8B-B14F-4D97-AF65-F5344CB8AC3E}">
        <p14:creationId xmlns:p14="http://schemas.microsoft.com/office/powerpoint/2010/main" val="19508982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2026-10-22T10:48:00.1820000Z</dcterms:created>
  <dcterms:modified xsi:type="dcterms:W3CDTF">2026-10-22T10:48:00.1820000Z</dcterms:modified>
</coreProperties>
</file>