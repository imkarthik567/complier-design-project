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231df6f5d9e4b63" /><Relationship Type="http://schemas.openxmlformats.org/officeDocument/2006/relationships/extended-properties" Target="/docProps/app.xml" Id="R23217930ee424a5f" /><Relationship Type="http://schemas.openxmlformats.org/officeDocument/2006/relationships/officeDocument" Target="/ppt/presentation.xml" Id="R89ac27c10e1f44ae" /></Relationships>
</file>

<file path=ppt/presentation.xml><?xml version="1.0" encoding="utf-8"?>
<p:presentation xmlns:p="http://schemas.openxmlformats.org/presentationml/2006/main">
  <p:sldMasterIdLst>
    <p:sldMasterId xmlns:r="http://schemas.openxmlformats.org/officeDocument/2006/relationships" id="2147483648" r:id="Ra39611f5668c49a8"/>
  </p:sldMasterIdLst>
  <p:notesMasterIdLst>
    <p:notesMasterId xmlns:r="http://schemas.openxmlformats.org/officeDocument/2006/relationships" r:id="R0e51b78b0ca347f9"/>
  </p:notesMasterIdLst>
  <p:sldIdLst>
    <p:sldId xmlns:r="http://schemas.openxmlformats.org/officeDocument/2006/relationships" id="256" r:id="R41dd3d60a3374daf"/>
    <p:sldId xmlns:r="http://schemas.openxmlformats.org/officeDocument/2006/relationships" id="257" r:id="Rbc22874f3e8546e4"/>
    <p:sldId xmlns:r="http://schemas.openxmlformats.org/officeDocument/2006/relationships" id="258" r:id="R9ad4ff75ece842eb"/>
    <p:sldId xmlns:r="http://schemas.openxmlformats.org/officeDocument/2006/relationships" id="259" r:id="Rd797f7541dd94b57"/>
    <p:sldId xmlns:r="http://schemas.openxmlformats.org/officeDocument/2006/relationships" id="260" r:id="R457c5dc57186418c"/>
    <p:sldId xmlns:r="http://schemas.openxmlformats.org/officeDocument/2006/relationships" id="261" r:id="Rf39926301cc44f22"/>
    <p:sldId xmlns:r="http://schemas.openxmlformats.org/officeDocument/2006/relationships" id="262" r:id="Ra76e836691f84c32"/>
    <p:sldId xmlns:r="http://schemas.openxmlformats.org/officeDocument/2006/relationships" id="263" r:id="R87683b47e34b43b6"/>
    <p:sldId xmlns:r="http://schemas.openxmlformats.org/officeDocument/2006/relationships" id="264" r:id="R9b1d643d053a41d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676000204544361" /><Relationship Type="http://schemas.openxmlformats.org/officeDocument/2006/relationships/slideMaster" Target="/ppt/slideMasters/slideMaster1.xml" Id="Ra39611f5668c49a8" /><Relationship Type="http://schemas.openxmlformats.org/officeDocument/2006/relationships/notesMaster" Target="/ppt/notesMasters/notesMaster1.xml" Id="R0e51b78b0ca347f9" /><Relationship Type="http://schemas.openxmlformats.org/officeDocument/2006/relationships/presProps" Target="/ppt/presProps.xml" Id="R1079349bc7824cbc" /><Relationship Type="http://schemas.openxmlformats.org/officeDocument/2006/relationships/tableStyles" Target="/ppt/tableStyles.xml" Id="R802b29f991ee47a7" /><Relationship Type="http://schemas.openxmlformats.org/officeDocument/2006/relationships/slide" Target="/ppt/slides/slide1.xml" Id="R41dd3d60a3374daf" /><Relationship Type="http://schemas.openxmlformats.org/officeDocument/2006/relationships/slide" Target="/ppt/slides/slide2.xml" Id="Rbc22874f3e8546e4" /><Relationship Type="http://schemas.openxmlformats.org/officeDocument/2006/relationships/slide" Target="/ppt/slides/slide3.xml" Id="R9ad4ff75ece842eb" /><Relationship Type="http://schemas.openxmlformats.org/officeDocument/2006/relationships/slide" Target="/ppt/slides/slide4.xml" Id="Rd797f7541dd94b57" /><Relationship Type="http://schemas.openxmlformats.org/officeDocument/2006/relationships/slide" Target="/ppt/slides/slide5.xml" Id="R457c5dc57186418c" /><Relationship Type="http://schemas.openxmlformats.org/officeDocument/2006/relationships/slide" Target="/ppt/slides/slide6.xml" Id="Rf39926301cc44f22" /><Relationship Type="http://schemas.openxmlformats.org/officeDocument/2006/relationships/slide" Target="/ppt/slides/slide7.xml" Id="Ra76e836691f84c32" /><Relationship Type="http://schemas.openxmlformats.org/officeDocument/2006/relationships/slide" Target="/ppt/slides/slide8.xml" Id="R87683b47e34b43b6" /><Relationship Type="http://schemas.openxmlformats.org/officeDocument/2006/relationships/slide" Target="/ppt/slides/slide9.xml" Id="R9b1d643d053a41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e367057ec8147a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8d77ddb32d54651" /><Relationship Type="http://schemas.openxmlformats.org/officeDocument/2006/relationships/notesMaster" Target="/ppt/notesMasters/notesMaster1.xml" Id="Rfa3f323334f34240"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d41201192646c7" /><Relationship Type="http://schemas.openxmlformats.org/officeDocument/2006/relationships/notesMaster" Target="/ppt/notesMasters/notesMaster1.xml" Id="R476eb0e51eab4866"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fb0a6139ad4441" /><Relationship Type="http://schemas.openxmlformats.org/officeDocument/2006/relationships/notesMaster" Target="/ppt/notesMasters/notesMaster1.xml" Id="R5d21bb71c84e4f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cec5bc46dc4a23" /><Relationship Type="http://schemas.openxmlformats.org/officeDocument/2006/relationships/notesMaster" Target="/ppt/notesMasters/notesMaster1.xml" Id="Rde83229948034b9e" /></Relationships>
</file>

<file path=ppt/notesSlides/_rels/notesSlide5.xml.rels>&#65279;<?xml version="1.0" encoding="utf-8"?><Relationships xmlns="http://schemas.openxmlformats.org/package/2006/relationships"><Relationship Type="http://schemas.openxmlformats.org/officeDocument/2006/relationships/slide" Target="/ppt/slides/slide5.xml" Id="Re5b0d34efac6402d" /><Relationship Type="http://schemas.openxmlformats.org/officeDocument/2006/relationships/notesMaster" Target="/ppt/notesMasters/notesMaster1.xml" Id="R2b8ddb9d2b7d4f5c" /></Relationships>
</file>

<file path=ppt/notesSlides/_rels/notesSlide6.xml.rels>&#65279;<?xml version="1.0" encoding="utf-8"?><Relationships xmlns="http://schemas.openxmlformats.org/package/2006/relationships"><Relationship Type="http://schemas.openxmlformats.org/officeDocument/2006/relationships/slide" Target="/ppt/slides/slide6.xml" Id="R78a9a0c82db145a1" /><Relationship Type="http://schemas.openxmlformats.org/officeDocument/2006/relationships/notesMaster" Target="/ppt/notesMasters/notesMaster1.xml" Id="R3af6911881f04bb9" /></Relationships>
</file>

<file path=ppt/notesSlides/_rels/notesSlide7.xml.rels>&#65279;<?xml version="1.0" encoding="utf-8"?><Relationships xmlns="http://schemas.openxmlformats.org/package/2006/relationships"><Relationship Type="http://schemas.openxmlformats.org/officeDocument/2006/relationships/slide" Target="/ppt/slides/slide7.xml" Id="R1e24482e479842e5" /><Relationship Type="http://schemas.openxmlformats.org/officeDocument/2006/relationships/notesMaster" Target="/ppt/notesMasters/notesMaster1.xml" Id="R56073d6be8c94dc6" /></Relationships>
</file>

<file path=ppt/notesSlides/_rels/notesSlide8.xml.rels>&#65279;<?xml version="1.0" encoding="utf-8"?><Relationships xmlns="http://schemas.openxmlformats.org/package/2006/relationships"><Relationship Type="http://schemas.openxmlformats.org/officeDocument/2006/relationships/slide" Target="/ppt/slides/slide8.xml" Id="Rd1b3bd53d14f4b4d" /><Relationship Type="http://schemas.openxmlformats.org/officeDocument/2006/relationships/notesMaster" Target="/ppt/notesMasters/notesMaster1.xml" Id="R2a62f5c19b844061" /></Relationships>
</file>

<file path=ppt/notesSlides/_rels/notesSlide9.xml.rels>&#65279;<?xml version="1.0" encoding="utf-8"?><Relationships xmlns="http://schemas.openxmlformats.org/package/2006/relationships"><Relationship Type="http://schemas.openxmlformats.org/officeDocument/2006/relationships/slide" Target="/ppt/slides/slide9.xml" Id="R5691ff62e771474f" /><Relationship Type="http://schemas.openxmlformats.org/officeDocument/2006/relationships/notesMaster" Target="/ppt/notesMasters/notesMaster1.xml" Id="R8747969cf5c34a6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scope: this is a compiler for a documented integer-oriented subset, not arbitrary Python. The project demonstrates the full path from source through custom bytecode to execution, plus one controlled process-parallel operation.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The Python frontend uses Python's AST parser and emits the project's three-address IR. Optimization is optional. Code generation translates the IR to a fixed instruction set. The custom stack VM executes it. The CFG is used by optimizer analysis; code generation consumes the transformed linear 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precise: the project does not compile arbitrary Python. It supports the constructs listed on the left. The frontend rejects unsupported syntax with a line-numbered diagnostic instead of silently pretending to support it. The repository includes an intentional list example to demonstrate this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source-level range loop lowers into explicit IR. The condition block has two successors: the loop body and the exit. The body increments i and jumps back to the condition. Use `python3 main.py examples/sum.ir --opt --demo --stats` to show the actual optimized IR, CFG, bytecode, and result. This slide's Python example is a readable summary of the IR example structure.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optimizer solves a forward dataflow problem to a fixed point. The entry gives n the value 10. The loop body changes i but does not change n. At the loop header, the incoming value of n agrees across the entry and back-edge, so n can be replaced by 10. The induction variable differs across iterations and remains unknown. This is intentionally a focused constant-propagation pass, not a full SSA or liveness optimizer.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`python3 main.py examples/python_optimization.py --compare`. Both programs produce [42], and the CLI reports equivalent outputs. The baseline executes 27 VM instructions; optimized code executes 7. This deliberately small example exposes folding, copy propagation, and dead-store removal. It is not evidence that every input shrinks by 74 percent. The chart is editable in PowerPoint.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independent tasks run in separate processes. The compiled worker accepts one integer and returns an integer; the parent sums results deterministically. On this machine the example dispatches 1,000 independent inputs across up to 8 processes. The sequential and parallel examples both output 332833500. Restrictions prevent workers from printing, calling other functions, or invoking nested parallel_sum.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optimization example reduces executed instructions from 27 to 7 and preserves output 42. The loop example preserves 55 and changes 169 to 167 executed instructions. For the sum-of-squares demonstration, the sequential program runs 19,019 instructions, while the process-parallel run reports 13 in the parent and 10,000 across worker VMs, 10,013 total. These are interpreter instruction counts, not CPU instruction counts. Run `python3 main.py examples/python_sequential_sum.py --benchmark 5` to obtain current baseline-versus-optimized timing. For process startup timing, use the same command on `examples/python_parallel_sum.py`; do not claim a speedup without comparing medians under the same environment.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stating what is implemented and what remains future work. Emphasize that arbitrary Python, general multiprocessing, and broad dataflow optimization are not current claims. The repository test suite checks the frontend, optimizer semantics, CFG branch joins and loop invariants, bytecode, VM behavior, and process worker result equivalence. Invite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75560c4b7414e3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1a7cb5741b8467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a27930463b4473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f9bd4ef4b48401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a3b3f2a539a464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30a7b25117e4f8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41512A6-99E2-4FBC-AC02-E3077E717D9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237FC42-2678-4623-9730-1C7478B27FA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782179-AB00-4998-818F-3BEC9C69B26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25E408-3E42-409A-8685-CB24F60F117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D2C69DE-2FB7-4F12-BA28-36ADB27C20D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B00BA36-4A54-4221-9F96-4160237008E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FFC3A44-09AD-49B5-B774-E2383144D05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9E69A86-93FB-4079-8B5D-5C67CCBDBF6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C45AB6-4288-4255-BAA2-4B1721C0B72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AB3486E-7A61-4473-B9A1-0A27A053B93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e76d69b85946e8" /><Relationship Type="http://schemas.openxmlformats.org/officeDocument/2006/relationships/slideLayout" Target="/ppt/slideLayouts/slideLayout1.xml" Id="Rd3241f4dcf714b07" /><Relationship Type="http://schemas.openxmlformats.org/officeDocument/2006/relationships/slideLayout" Target="/ppt/slideLayouts/slideLayout2.xml" Id="R0f557b8f5cb141b5" /><Relationship Type="http://schemas.openxmlformats.org/officeDocument/2006/relationships/slideLayout" Target="/ppt/slideLayouts/slideLayout3.xml" Id="Rbf0616e151b5439e" /><Relationship Type="http://schemas.openxmlformats.org/officeDocument/2006/relationships/slideLayout" Target="/ppt/slideLayouts/slideLayout4.xml" Id="R1fd4a3066eef401e" /><Relationship Type="http://schemas.openxmlformats.org/officeDocument/2006/relationships/slideLayout" Target="/ppt/slideLayouts/slideLayout5.xml" Id="R949a26494ef5410a" /><Relationship Type="http://schemas.openxmlformats.org/officeDocument/2006/relationships/slideLayout" Target="/ppt/slideLayouts/slideLayout6.xml" Id="R7f043e00f6d54c8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3241f4dcf714b07"/>
    <p:sldLayoutId xmlns:r="http://schemas.openxmlformats.org/officeDocument/2006/relationships" id="2147483650" r:id="R0f557b8f5cb141b5"/>
    <p:sldLayoutId xmlns:r="http://schemas.openxmlformats.org/officeDocument/2006/relationships" id="2147483651" r:id="Rbf0616e151b5439e"/>
    <p:sldLayoutId xmlns:r="http://schemas.openxmlformats.org/officeDocument/2006/relationships" id="2147483652" r:id="R1fd4a3066eef401e"/>
    <p:sldLayoutId xmlns:r="http://schemas.openxmlformats.org/officeDocument/2006/relationships" id="2147483653" r:id="R949a26494ef5410a"/>
    <p:sldLayoutId xmlns:r="http://schemas.openxmlformats.org/officeDocument/2006/relationships" id="2147483654" r:id="R7f043e00f6d54c8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cec613d1b474e08" /><Relationship Type="http://schemas.openxmlformats.org/officeDocument/2006/relationships/notesSlide" Target="/ppt/notesSlides/notesSlide1.xml" Id="Rde5b163c9a9a40b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e8de1478e2549c4" /><Relationship Type="http://schemas.openxmlformats.org/officeDocument/2006/relationships/notesSlide" Target="/ppt/notesSlides/notesSlide2.xml" Id="Rfdf6956c2d2046d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1749b3ab3794046" /><Relationship Type="http://schemas.openxmlformats.org/officeDocument/2006/relationships/notesSlide" Target="/ppt/notesSlides/notesSlide3.xml" Id="Rde7cc177065a4a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6dfdc07f05a4af7" /><Relationship Type="http://schemas.openxmlformats.org/officeDocument/2006/relationships/notesSlide" Target="/ppt/notesSlides/notesSlide4.xml" Id="Reefd9f6aa67c4e9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2de1dbc6869441d" /><Relationship Type="http://schemas.openxmlformats.org/officeDocument/2006/relationships/notesSlide" Target="/ppt/notesSlides/notesSlide5.xml" Id="R12fa74fd2f1e4d0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95a3685363c45f8" /><Relationship Type="http://schemas.openxmlformats.org/officeDocument/2006/relationships/chart" Target="/ppt/slides/charts/chart1.xml" Id="R008206cb272d4d90" /><Relationship Type="http://schemas.openxmlformats.org/officeDocument/2006/relationships/notesSlide" Target="/ppt/notesSlides/notesSlide6.xml" Id="R9f6602e5ea2e47c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39398657d7c491f" /><Relationship Type="http://schemas.openxmlformats.org/officeDocument/2006/relationships/notesSlide" Target="/ppt/notesSlides/notesSlide7.xml" Id="R741fe262bc604e2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8c1623c102b4c14" /><Relationship Type="http://schemas.openxmlformats.org/officeDocument/2006/relationships/notesSlide" Target="/ppt/notesSlides/notesSlide8.xml" Id="R534a6f00b6d04f1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54c1a7b177142c7" /><Relationship Type="http://schemas.openxmlformats.org/officeDocument/2006/relationships/notesSlide" Target="/ppt/notesSlides/notesSlide9.xml" Id="Rf07ba242b9004b6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1"/>
        <c:ser>
          <c:idx val="0"/>
          <c:order val="0"/>
          <c:tx>
            <c:v>Executed VM instructions</c:v>
          </c:tx>
          <c:spPr>
            <a:solidFill xmlns:a="http://schemas.openxmlformats.org/drawingml/2006/main">
              <a:srgbClr val="5AD6E6"/>
            </a:solidFill>
          </c:spPr>
          <c:invertIfNegative val="0"/>
          <c:dPt>
            <c:idx val="0"/>
            <c:invertIfNegative val="0"/>
            <c:spPr>
              <a:solidFill xmlns:a="http://schemas.openxmlformats.org/drawingml/2006/main">
                <a:srgbClr val="90A2B5"/>
              </a:solidFill>
            </c:spPr>
          </c:dPt>
          <c:dPt>
            <c:idx val="1"/>
            <c:invertIfNegative val="0"/>
            <c:spPr>
              <a:solidFill xmlns:a="http://schemas.openxmlformats.org/drawingml/2006/main">
                <a:srgbClr val="5AD6E6"/>
              </a:solidFill>
            </c:spPr>
          </c:dPt>
          <c:cat>
            <c:strRef>
              <c:f>'Chart Data'!$A$2:$A$3</c:f>
              <c:strCache>
                <c:ptCount val="2"/>
                <c:pt idx="0">
                  <c:v>Baseline</c:v>
                </c:pt>
                <c:pt idx="1">
                  <c:v>Optimized</c:v>
                </c:pt>
              </c:strCache>
            </c:strRef>
          </c:cat>
          <c:val>
            <c:numRef>
              <c:f>'Chart Data'!$B$2:$B$3</c:f>
              <c:numCache>
                <c:formatCode>General</c:formatCode>
                <c:ptCount val="2"/>
                <c:pt idx="0">
                  <c:v>27</c:v>
                </c:pt>
                <c:pt idx="1">
                  <c:v>7</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F4F7FB"/>
                  </a:solidFill>
                  <a:latin typeface="Avenir"/>
                  <a:ea typeface="Avenir"/>
                  <a:cs typeface="Avenir"/>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venir"/>
                <a:ea typeface="Avenir"/>
                <a:cs typeface="Avenir"/>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476078"/>
            </a:solidFill>
            <a:prstDash val="solid"/>
          </a:ln>
        </c:spPr>
        <c:txPr>
          <a:bodyPr xmlns:a="http://schemas.openxmlformats.org/drawingml/2006/main" anchorCtr="1"/>
          <a:lstStyle xmlns:a="http://schemas.openxmlformats.org/drawingml/2006/main"/>
          <a:p xmlns:a="http://schemas.openxmlformats.org/drawingml/2006/main">
            <a:pPr>
              <a:defRPr sz="1650">
                <a:solidFill>
                  <a:srgbClr val="F4F7FB"/>
                </a:solidFill>
                <a:latin typeface="Avenir"/>
                <a:ea typeface="Avenir"/>
                <a:cs typeface="Avenir"/>
              </a:defRPr>
            </a:pPr>
          </a:p>
        </c:txPr>
        <c:crossAx val="48650112"/>
        <c:crossBetween val="between"/>
      </c:valAx>
      <c:spPr>
        <a:solidFill xmlns:a="http://schemas.openxmlformats.org/drawingml/2006/main">
          <a:srgbClr val="101A2A"/>
        </a:solidFill>
        <a:ln xmlns:a="http://schemas.openxmlformats.org/drawingml/2006/main" w="0">
          <a:noFill/>
          <a:prstDash val="solid"/>
        </a:ln>
      </c:spPr>
    </c:plotArea>
    <c:plotVisOnly val="1"/>
  </c:chart>
  <c:spPr>
    <a:solidFill xmlns:a="http://schemas.openxmlformats.org/drawingml/2006/main">
      <a:srgbClr val="101A2A"/>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233C4B3-AD82-4BC2-BF6E-3CD939D5D06E}"/>
              </a:ext>
            </a:extLst>
          </p:cNvPr>
          <p:cNvSpPr>
            <a:spLocks xmlns:a="http://schemas.openxmlformats.org/drawingml/2006/main" noGrp="1"/>
          </p:cNvSpPr>
          <p:nvPr/>
        </p:nvSpPr>
        <p:spPr>
          <a:xfrm xmlns:a="http://schemas.openxmlformats.org/drawingml/2006/main">
            <a:off x="685800" y="1200150"/>
            <a:ext cx="85725" cy="4191000"/>
          </a:xfrm>
          <a:prstGeom xmlns:a="http://schemas.openxmlformats.org/drawingml/2006/main" prst="rect">
            <a:avLst/>
          </a:prstGeom>
          <a:solidFill xmlns:a="http://schemas.openxmlformats.org/drawingml/2006/main">
            <a:srgbClr val="5AD6E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D4B0E50-F7A5-4821-8F67-6B7EE841B163}"/>
              </a:ext>
            </a:extLst>
          </p:cNvPr>
          <p:cNvSpPr>
            <a:spLocks xmlns:a="http://schemas.openxmlformats.org/drawingml/2006/main" noGrp="1"/>
          </p:cNvSpPr>
          <p:nvPr/>
        </p:nvSpPr>
        <p:spPr>
          <a:xfrm xmlns:a="http://schemas.openxmlformats.org/drawingml/2006/main">
            <a:off x="1066800" y="1447800"/>
            <a:ext cx="1000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9BE3BD"/>
                </a:solidFill>
                <a:latin typeface="Avenir"/>
                <a:ea typeface="Avenir"/>
                <a:cs typeface="Avenir"/>
              </a:defRPr>
            </a:defPPr>
            <a:lvl1pPr algn="l">
              <a:defRPr sz="1350" b="1">
                <a:solidFill>
                  <a:srgbClr val="9BE3BD"/>
                </a:solidFill>
                <a:latin typeface="Avenir"/>
                <a:ea typeface="Avenir"/>
                <a:cs typeface="Avenir"/>
              </a:defRPr>
            </a:lvl1pPr>
            <a:lvl2pPr algn="l">
              <a:defRPr sz="1350" b="1">
                <a:solidFill>
                  <a:srgbClr val="9BE3BD"/>
                </a:solidFill>
                <a:latin typeface="Avenir"/>
                <a:ea typeface="Avenir"/>
                <a:cs typeface="Avenir"/>
              </a:defRPr>
            </a:lvl2pPr>
            <a:lvl3pPr algn="l">
              <a:defRPr sz="1350" b="1">
                <a:solidFill>
                  <a:srgbClr val="9BE3BD"/>
                </a:solidFill>
                <a:latin typeface="Avenir"/>
                <a:ea typeface="Avenir"/>
                <a:cs typeface="Avenir"/>
              </a:defRPr>
            </a:lvl3pPr>
            <a:lvl4pPr algn="l">
              <a:defRPr sz="1350" b="1">
                <a:solidFill>
                  <a:srgbClr val="9BE3BD"/>
                </a:solidFill>
                <a:latin typeface="Avenir"/>
                <a:ea typeface="Avenir"/>
                <a:cs typeface="Avenir"/>
              </a:defRPr>
            </a:lvl4pPr>
            <a:lvl5pPr algn="l">
              <a:defRPr sz="1350" b="1">
                <a:solidFill>
                  <a:srgbClr val="9BE3BD"/>
                </a:solidFill>
                <a:latin typeface="Avenir"/>
                <a:ea typeface="Avenir"/>
                <a:cs typeface="Avenir"/>
              </a:defRPr>
            </a:lvl5pPr>
            <a:lvl6pPr algn="l">
              <a:defRPr sz="1350" b="1">
                <a:solidFill>
                  <a:srgbClr val="9BE3BD"/>
                </a:solidFill>
                <a:latin typeface="Avenir"/>
                <a:ea typeface="Avenir"/>
                <a:cs typeface="Avenir"/>
              </a:defRPr>
            </a:lvl6pPr>
            <a:lvl7pPr algn="l">
              <a:defRPr sz="1350" b="1">
                <a:solidFill>
                  <a:srgbClr val="9BE3BD"/>
                </a:solidFill>
                <a:latin typeface="Avenir"/>
                <a:ea typeface="Avenir"/>
                <a:cs typeface="Avenir"/>
              </a:defRPr>
            </a:lvl7pPr>
            <a:lvl8pPr algn="l">
              <a:defRPr sz="1350" b="1">
                <a:solidFill>
                  <a:srgbClr val="9BE3BD"/>
                </a:solidFill>
                <a:latin typeface="Avenir"/>
                <a:ea typeface="Avenir"/>
                <a:cs typeface="Avenir"/>
              </a:defRPr>
            </a:lvl8pPr>
            <a:lvl9pPr algn="l">
              <a:defRPr sz="1350" b="1">
                <a:solidFill>
                  <a:srgbClr val="9BE3BD"/>
                </a:solidFill>
                <a:latin typeface="Avenir"/>
                <a:ea typeface="Avenir"/>
                <a:cs typeface="Avenir"/>
              </a:defRPr>
            </a:lvl9pPr>
          </a:lstStyle>
          <a:p xmlns:a="http://schemas.openxmlformats.org/drawingml/2006/main">
            <a:pPr algn="l">
              <a:lnSpc>
                <a:spcPct val="105000"/>
              </a:lnSpc>
              <a:buNone/>
              <a:defRPr sz="1350" b="1">
                <a:solidFill>
                  <a:srgbClr val="9BE3BD"/>
                </a:solidFill>
                <a:latin typeface="Avenir"/>
                <a:ea typeface="Avenir"/>
                <a:cs typeface="Avenir"/>
              </a:defRPr>
            </a:pPr>
            <a:r>
              <a:rPr sz="1350" b="1">
                <a:solidFill>
                  <a:srgbClr val="9BE3BD"/>
                </a:solidFill>
                <a:latin typeface="Avenir"/>
                <a:ea typeface="Avenir"/>
                <a:cs typeface="Avenir"/>
              </a:rPr>
              <a:t>COMPILER DESIGN PROJECT</a:t>
            </a:r>
          </a:p>
        </p:txBody>
      </p:sp>
      <p:sp>
        <p:nvSpPr>
          <p:cNvPr id="3" name="">
            <a:extLst xmlns:a="http://schemas.openxmlformats.org/drawingml/2006/main">
              <a:ext uri="{FF2B5EF4-FFF2-40B4-BE49-F238E27FC236}">
                <a16:creationId xmlns:a16="http://schemas.microsoft.com/office/drawing/2014/main" id="{23294D60-1AD9-4E7A-A8A9-552C483B9CB7}"/>
              </a:ext>
            </a:extLst>
          </p:cNvPr>
          <p:cNvSpPr>
            <a:spLocks xmlns:a="http://schemas.openxmlformats.org/drawingml/2006/main" noGrp="1"/>
          </p:cNvSpPr>
          <p:nvPr/>
        </p:nvSpPr>
        <p:spPr>
          <a:xfrm xmlns:a="http://schemas.openxmlformats.org/drawingml/2006/main">
            <a:off x="1066800" y="2000250"/>
            <a:ext cx="9715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350" b="1">
                <a:solidFill>
                  <a:srgbClr val="F4F7FB"/>
                </a:solidFill>
                <a:latin typeface="Avenir"/>
                <a:ea typeface="Avenir"/>
                <a:cs typeface="Avenir"/>
              </a:defRPr>
            </a:defPPr>
            <a:lvl1pPr algn="l">
              <a:defRPr sz="4350" b="1">
                <a:solidFill>
                  <a:srgbClr val="F4F7FB"/>
                </a:solidFill>
                <a:latin typeface="Avenir"/>
                <a:ea typeface="Avenir"/>
                <a:cs typeface="Avenir"/>
              </a:defRPr>
            </a:lvl1pPr>
            <a:lvl2pPr algn="l">
              <a:defRPr sz="4350" b="1">
                <a:solidFill>
                  <a:srgbClr val="F4F7FB"/>
                </a:solidFill>
                <a:latin typeface="Avenir"/>
                <a:ea typeface="Avenir"/>
                <a:cs typeface="Avenir"/>
              </a:defRPr>
            </a:lvl2pPr>
            <a:lvl3pPr algn="l">
              <a:defRPr sz="4350" b="1">
                <a:solidFill>
                  <a:srgbClr val="F4F7FB"/>
                </a:solidFill>
                <a:latin typeface="Avenir"/>
                <a:ea typeface="Avenir"/>
                <a:cs typeface="Avenir"/>
              </a:defRPr>
            </a:lvl3pPr>
            <a:lvl4pPr algn="l">
              <a:defRPr sz="4350" b="1">
                <a:solidFill>
                  <a:srgbClr val="F4F7FB"/>
                </a:solidFill>
                <a:latin typeface="Avenir"/>
                <a:ea typeface="Avenir"/>
                <a:cs typeface="Avenir"/>
              </a:defRPr>
            </a:lvl4pPr>
            <a:lvl5pPr algn="l">
              <a:defRPr sz="4350" b="1">
                <a:solidFill>
                  <a:srgbClr val="F4F7FB"/>
                </a:solidFill>
                <a:latin typeface="Avenir"/>
                <a:ea typeface="Avenir"/>
                <a:cs typeface="Avenir"/>
              </a:defRPr>
            </a:lvl5pPr>
            <a:lvl6pPr algn="l">
              <a:defRPr sz="4350" b="1">
                <a:solidFill>
                  <a:srgbClr val="F4F7FB"/>
                </a:solidFill>
                <a:latin typeface="Avenir"/>
                <a:ea typeface="Avenir"/>
                <a:cs typeface="Avenir"/>
              </a:defRPr>
            </a:lvl6pPr>
            <a:lvl7pPr algn="l">
              <a:defRPr sz="4350" b="1">
                <a:solidFill>
                  <a:srgbClr val="F4F7FB"/>
                </a:solidFill>
                <a:latin typeface="Avenir"/>
                <a:ea typeface="Avenir"/>
                <a:cs typeface="Avenir"/>
              </a:defRPr>
            </a:lvl7pPr>
            <a:lvl8pPr algn="l">
              <a:defRPr sz="4350" b="1">
                <a:solidFill>
                  <a:srgbClr val="F4F7FB"/>
                </a:solidFill>
                <a:latin typeface="Avenir"/>
                <a:ea typeface="Avenir"/>
                <a:cs typeface="Avenir"/>
              </a:defRPr>
            </a:lvl8pPr>
            <a:lvl9pPr algn="l">
              <a:defRPr sz="4350" b="1">
                <a:solidFill>
                  <a:srgbClr val="F4F7FB"/>
                </a:solidFill>
                <a:latin typeface="Avenir"/>
                <a:ea typeface="Avenir"/>
                <a:cs typeface="Avenir"/>
              </a:defRPr>
            </a:lvl9pPr>
          </a:lstStyle>
          <a:p xmlns:a="http://schemas.openxmlformats.org/drawingml/2006/main">
            <a:pPr algn="l">
              <a:lnSpc>
                <a:spcPct val="98000"/>
              </a:lnSpc>
              <a:buNone/>
              <a:defRPr sz="4350" b="1">
                <a:solidFill>
                  <a:srgbClr val="F4F7FB"/>
                </a:solidFill>
                <a:latin typeface="Avenir"/>
                <a:ea typeface="Avenir"/>
                <a:cs typeface="Avenir"/>
              </a:defRPr>
            </a:pPr>
            <a:r>
              <a:rPr sz="4350" b="1">
                <a:solidFill>
                  <a:srgbClr val="F4F7FB"/>
                </a:solidFill>
                <a:latin typeface="Avenir"/>
                <a:ea typeface="Avenir"/>
                <a:cs typeface="Avenir"/>
              </a:rPr>
              <a:t>A compiler for a</a:t>
            </a:r>
          </a:p>
          <a:p xmlns:a="http://schemas.openxmlformats.org/drawingml/2006/main">
            <a:pPr algn="l">
              <a:lnSpc>
                <a:spcPct val="98000"/>
              </a:lnSpc>
              <a:buNone/>
              <a:defRPr sz="4350" b="1">
                <a:solidFill>
                  <a:srgbClr val="F4F7FB"/>
                </a:solidFill>
                <a:latin typeface="Avenir"/>
                <a:ea typeface="Avenir"/>
                <a:cs typeface="Avenir"/>
              </a:defRPr>
            </a:pPr>
            <a:r>
              <a:rPr sz="4350" b="1">
                <a:solidFill>
                  <a:srgbClr val="F4F7FB"/>
                </a:solidFill>
                <a:latin typeface="Avenir"/>
                <a:ea typeface="Avenir"/>
                <a:cs typeface="Avenir"/>
              </a:rPr>
              <a:t>focused Python subset</a:t>
            </a:r>
          </a:p>
        </p:txBody>
      </p:sp>
      <p:sp>
        <p:nvSpPr>
          <p:cNvPr id="4" name="">
            <a:extLst xmlns:a="http://schemas.openxmlformats.org/drawingml/2006/main">
              <a:ext uri="{FF2B5EF4-FFF2-40B4-BE49-F238E27FC236}">
                <a16:creationId xmlns:a16="http://schemas.microsoft.com/office/drawing/2014/main" id="{AF7DE06B-4085-494D-B74B-ED2B0E0E1C9C}"/>
              </a:ext>
            </a:extLst>
          </p:cNvPr>
          <p:cNvSpPr>
            <a:spLocks xmlns:a="http://schemas.openxmlformats.org/drawingml/2006/main" noGrp="1"/>
          </p:cNvSpPr>
          <p:nvPr/>
        </p:nvSpPr>
        <p:spPr>
          <a:xfrm xmlns:a="http://schemas.openxmlformats.org/drawingml/2006/main">
            <a:off x="1085850" y="4057650"/>
            <a:ext cx="98583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B4C1D1"/>
                </a:solidFill>
                <a:latin typeface="Avenir"/>
                <a:ea typeface="Avenir"/>
                <a:cs typeface="Avenir"/>
              </a:defRPr>
            </a:defPPr>
            <a:lvl1pPr algn="l">
              <a:defRPr sz="1875" b="0">
                <a:solidFill>
                  <a:srgbClr val="B4C1D1"/>
                </a:solidFill>
                <a:latin typeface="Avenir"/>
                <a:ea typeface="Avenir"/>
                <a:cs typeface="Avenir"/>
              </a:defRPr>
            </a:lvl1pPr>
            <a:lvl2pPr algn="l">
              <a:defRPr sz="1875" b="0">
                <a:solidFill>
                  <a:srgbClr val="B4C1D1"/>
                </a:solidFill>
                <a:latin typeface="Avenir"/>
                <a:ea typeface="Avenir"/>
                <a:cs typeface="Avenir"/>
              </a:defRPr>
            </a:lvl2pPr>
            <a:lvl3pPr algn="l">
              <a:defRPr sz="1875" b="0">
                <a:solidFill>
                  <a:srgbClr val="B4C1D1"/>
                </a:solidFill>
                <a:latin typeface="Avenir"/>
                <a:ea typeface="Avenir"/>
                <a:cs typeface="Avenir"/>
              </a:defRPr>
            </a:lvl3pPr>
            <a:lvl4pPr algn="l">
              <a:defRPr sz="1875" b="0">
                <a:solidFill>
                  <a:srgbClr val="B4C1D1"/>
                </a:solidFill>
                <a:latin typeface="Avenir"/>
                <a:ea typeface="Avenir"/>
                <a:cs typeface="Avenir"/>
              </a:defRPr>
            </a:lvl4pPr>
            <a:lvl5pPr algn="l">
              <a:defRPr sz="1875" b="0">
                <a:solidFill>
                  <a:srgbClr val="B4C1D1"/>
                </a:solidFill>
                <a:latin typeface="Avenir"/>
                <a:ea typeface="Avenir"/>
                <a:cs typeface="Avenir"/>
              </a:defRPr>
            </a:lvl5pPr>
            <a:lvl6pPr algn="l">
              <a:defRPr sz="1875" b="0">
                <a:solidFill>
                  <a:srgbClr val="B4C1D1"/>
                </a:solidFill>
                <a:latin typeface="Avenir"/>
                <a:ea typeface="Avenir"/>
                <a:cs typeface="Avenir"/>
              </a:defRPr>
            </a:lvl6pPr>
            <a:lvl7pPr algn="l">
              <a:defRPr sz="1875" b="0">
                <a:solidFill>
                  <a:srgbClr val="B4C1D1"/>
                </a:solidFill>
                <a:latin typeface="Avenir"/>
                <a:ea typeface="Avenir"/>
                <a:cs typeface="Avenir"/>
              </a:defRPr>
            </a:lvl7pPr>
            <a:lvl8pPr algn="l">
              <a:defRPr sz="1875" b="0">
                <a:solidFill>
                  <a:srgbClr val="B4C1D1"/>
                </a:solidFill>
                <a:latin typeface="Avenir"/>
                <a:ea typeface="Avenir"/>
                <a:cs typeface="Avenir"/>
              </a:defRPr>
            </a:lvl8pPr>
            <a:lvl9pPr algn="l">
              <a:defRPr sz="1875" b="0">
                <a:solidFill>
                  <a:srgbClr val="B4C1D1"/>
                </a:solidFill>
                <a:latin typeface="Avenir"/>
                <a:ea typeface="Avenir"/>
                <a:cs typeface="Avenir"/>
              </a:defRPr>
            </a:lvl9pPr>
          </a:lstStyle>
          <a:p xmlns:a="http://schemas.openxmlformats.org/drawingml/2006/main">
            <a:pPr algn="l">
              <a:lnSpc>
                <a:spcPct val="105000"/>
              </a:lnSpc>
              <a:buNone/>
              <a:defRPr sz="1875" b="0">
                <a:solidFill>
                  <a:srgbClr val="B4C1D1"/>
                </a:solidFill>
                <a:latin typeface="Avenir"/>
                <a:ea typeface="Avenir"/>
                <a:cs typeface="Avenir"/>
              </a:defRPr>
            </a:pPr>
            <a:r>
              <a:rPr sz="1875" b="0">
                <a:solidFill>
                  <a:srgbClr val="B4C1D1"/>
                </a:solidFill>
                <a:latin typeface="Avenir"/>
                <a:ea typeface="Avenir"/>
                <a:cs typeface="Avenir"/>
              </a:rPr>
              <a:t>Python AST  →  IR  →  CFG-aware optimization  →  bytecode  →  custom VM</a:t>
            </a:r>
          </a:p>
        </p:txBody>
      </p:sp>
      <p:sp>
        <p:nvSpPr>
          <p:cNvPr id="5" name="">
            <a:extLst xmlns:a="http://schemas.openxmlformats.org/drawingml/2006/main">
              <a:ext uri="{FF2B5EF4-FFF2-40B4-BE49-F238E27FC236}">
                <a16:creationId xmlns:a16="http://schemas.microsoft.com/office/drawing/2014/main" id="{2402B1C8-CEE8-4F98-B27F-77168DA22A6F}"/>
              </a:ext>
            </a:extLst>
          </p:cNvPr>
          <p:cNvSpPr>
            <a:spLocks xmlns:a="http://schemas.openxmlformats.org/drawingml/2006/main" noGrp="1"/>
          </p:cNvSpPr>
          <p:nvPr/>
        </p:nvSpPr>
        <p:spPr>
          <a:xfrm xmlns:a="http://schemas.openxmlformats.org/drawingml/2006/main">
            <a:off x="1085850" y="5067300"/>
            <a:ext cx="857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5AD6E6"/>
                </a:solidFill>
                <a:latin typeface="Avenir"/>
                <a:ea typeface="Avenir"/>
                <a:cs typeface="Avenir"/>
              </a:defRPr>
            </a:defPPr>
            <a:lvl1pPr algn="l">
              <a:defRPr sz="1575" b="0">
                <a:solidFill>
                  <a:srgbClr val="5AD6E6"/>
                </a:solidFill>
                <a:latin typeface="Avenir"/>
                <a:ea typeface="Avenir"/>
                <a:cs typeface="Avenir"/>
              </a:defRPr>
            </a:lvl1pPr>
            <a:lvl2pPr algn="l">
              <a:defRPr sz="1575" b="0">
                <a:solidFill>
                  <a:srgbClr val="5AD6E6"/>
                </a:solidFill>
                <a:latin typeface="Avenir"/>
                <a:ea typeface="Avenir"/>
                <a:cs typeface="Avenir"/>
              </a:defRPr>
            </a:lvl2pPr>
            <a:lvl3pPr algn="l">
              <a:defRPr sz="1575" b="0">
                <a:solidFill>
                  <a:srgbClr val="5AD6E6"/>
                </a:solidFill>
                <a:latin typeface="Avenir"/>
                <a:ea typeface="Avenir"/>
                <a:cs typeface="Avenir"/>
              </a:defRPr>
            </a:lvl3pPr>
            <a:lvl4pPr algn="l">
              <a:defRPr sz="1575" b="0">
                <a:solidFill>
                  <a:srgbClr val="5AD6E6"/>
                </a:solidFill>
                <a:latin typeface="Avenir"/>
                <a:ea typeface="Avenir"/>
                <a:cs typeface="Avenir"/>
              </a:defRPr>
            </a:lvl4pPr>
            <a:lvl5pPr algn="l">
              <a:defRPr sz="1575" b="0">
                <a:solidFill>
                  <a:srgbClr val="5AD6E6"/>
                </a:solidFill>
                <a:latin typeface="Avenir"/>
                <a:ea typeface="Avenir"/>
                <a:cs typeface="Avenir"/>
              </a:defRPr>
            </a:lvl5pPr>
            <a:lvl6pPr algn="l">
              <a:defRPr sz="1575" b="0">
                <a:solidFill>
                  <a:srgbClr val="5AD6E6"/>
                </a:solidFill>
                <a:latin typeface="Avenir"/>
                <a:ea typeface="Avenir"/>
                <a:cs typeface="Avenir"/>
              </a:defRPr>
            </a:lvl6pPr>
            <a:lvl7pPr algn="l">
              <a:defRPr sz="1575" b="0">
                <a:solidFill>
                  <a:srgbClr val="5AD6E6"/>
                </a:solidFill>
                <a:latin typeface="Avenir"/>
                <a:ea typeface="Avenir"/>
                <a:cs typeface="Avenir"/>
              </a:defRPr>
            </a:lvl7pPr>
            <a:lvl8pPr algn="l">
              <a:defRPr sz="1575" b="0">
                <a:solidFill>
                  <a:srgbClr val="5AD6E6"/>
                </a:solidFill>
                <a:latin typeface="Avenir"/>
                <a:ea typeface="Avenir"/>
                <a:cs typeface="Avenir"/>
              </a:defRPr>
            </a:lvl8pPr>
            <a:lvl9pPr algn="l">
              <a:defRPr sz="1575" b="0">
                <a:solidFill>
                  <a:srgbClr val="5AD6E6"/>
                </a:solidFill>
                <a:latin typeface="Avenir"/>
                <a:ea typeface="Avenir"/>
                <a:cs typeface="Avenir"/>
              </a:defRPr>
            </a:lvl9pPr>
          </a:lstStyle>
          <a:p xmlns:a="http://schemas.openxmlformats.org/drawingml/2006/main">
            <a:pPr algn="l">
              <a:lnSpc>
                <a:spcPct val="105000"/>
              </a:lnSpc>
              <a:buNone/>
              <a:defRPr sz="1575" b="0">
                <a:solidFill>
                  <a:srgbClr val="5AD6E6"/>
                </a:solidFill>
                <a:latin typeface="Avenir"/>
                <a:ea typeface="Avenir"/>
                <a:cs typeface="Avenir"/>
              </a:defRPr>
            </a:pPr>
            <a:r>
              <a:rPr sz="1575" b="0">
                <a:solidFill>
                  <a:srgbClr val="5AD6E6"/>
                </a:solidFill>
                <a:latin typeface="Avenir"/>
                <a:ea typeface="Avenir"/>
                <a:cs typeface="Avenir"/>
              </a:rPr>
              <a:t>With a process-parallel sum demonstration</a:t>
            </a:r>
          </a:p>
        </p:txBody>
      </p:sp>
    </p:spTree>
    <p:extLst>
      <p:ext uri="{BB962C8B-B14F-4D97-AF65-F5344CB8AC3E}">
        <p14:creationId xmlns:p14="http://schemas.microsoft.com/office/powerpoint/2010/main" val="548793487"/>
      </p:ext>
    </p:extLst>
  </p:cSld>
</p:sld>
</file>

<file path=ppt/slides/slide2.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7690C0C-80B8-4D17-8340-0627FEF74DFC}"/>
              </a:ext>
            </a:extLst>
          </p:cNvPr>
          <p:cNvSpPr>
            <a:spLocks xmlns:a="http://schemas.openxmlformats.org/drawingml/2006/main" noGrp="1"/>
          </p:cNvSpPr>
          <p:nvPr/>
        </p:nvSpPr>
        <p:spPr>
          <a:xfrm xmlns:a="http://schemas.openxmlformats.org/drawingml/2006/main">
            <a:off x="685800" y="4191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525" b="1">
                <a:solidFill>
                  <a:srgbClr val="F4F7FB"/>
                </a:solidFill>
                <a:latin typeface="Avenir"/>
                <a:ea typeface="Avenir"/>
                <a:cs typeface="Avenir"/>
              </a:defRPr>
            </a:defPPr>
            <a:lvl1pPr algn="l">
              <a:defRPr sz="3525" b="1">
                <a:solidFill>
                  <a:srgbClr val="F4F7FB"/>
                </a:solidFill>
                <a:latin typeface="Avenir"/>
                <a:ea typeface="Avenir"/>
                <a:cs typeface="Avenir"/>
              </a:defRPr>
            </a:lvl1pPr>
            <a:lvl2pPr algn="l">
              <a:defRPr sz="3525" b="1">
                <a:solidFill>
                  <a:srgbClr val="F4F7FB"/>
                </a:solidFill>
                <a:latin typeface="Avenir"/>
                <a:ea typeface="Avenir"/>
                <a:cs typeface="Avenir"/>
              </a:defRPr>
            </a:lvl2pPr>
            <a:lvl3pPr algn="l">
              <a:defRPr sz="3525" b="1">
                <a:solidFill>
                  <a:srgbClr val="F4F7FB"/>
                </a:solidFill>
                <a:latin typeface="Avenir"/>
                <a:ea typeface="Avenir"/>
                <a:cs typeface="Avenir"/>
              </a:defRPr>
            </a:lvl3pPr>
            <a:lvl4pPr algn="l">
              <a:defRPr sz="3525" b="1">
                <a:solidFill>
                  <a:srgbClr val="F4F7FB"/>
                </a:solidFill>
                <a:latin typeface="Avenir"/>
                <a:ea typeface="Avenir"/>
                <a:cs typeface="Avenir"/>
              </a:defRPr>
            </a:lvl4pPr>
            <a:lvl5pPr algn="l">
              <a:defRPr sz="3525" b="1">
                <a:solidFill>
                  <a:srgbClr val="F4F7FB"/>
                </a:solidFill>
                <a:latin typeface="Avenir"/>
                <a:ea typeface="Avenir"/>
                <a:cs typeface="Avenir"/>
              </a:defRPr>
            </a:lvl5pPr>
            <a:lvl6pPr algn="l">
              <a:defRPr sz="3525" b="1">
                <a:solidFill>
                  <a:srgbClr val="F4F7FB"/>
                </a:solidFill>
                <a:latin typeface="Avenir"/>
                <a:ea typeface="Avenir"/>
                <a:cs typeface="Avenir"/>
              </a:defRPr>
            </a:lvl6pPr>
            <a:lvl7pPr algn="l">
              <a:defRPr sz="3525" b="1">
                <a:solidFill>
                  <a:srgbClr val="F4F7FB"/>
                </a:solidFill>
                <a:latin typeface="Avenir"/>
                <a:ea typeface="Avenir"/>
                <a:cs typeface="Avenir"/>
              </a:defRPr>
            </a:lvl7pPr>
            <a:lvl8pPr algn="l">
              <a:defRPr sz="3525" b="1">
                <a:solidFill>
                  <a:srgbClr val="F4F7FB"/>
                </a:solidFill>
                <a:latin typeface="Avenir"/>
                <a:ea typeface="Avenir"/>
                <a:cs typeface="Avenir"/>
              </a:defRPr>
            </a:lvl8pPr>
            <a:lvl9pPr algn="l">
              <a:defRPr sz="3525" b="1">
                <a:solidFill>
                  <a:srgbClr val="F4F7FB"/>
                </a:solidFill>
                <a:latin typeface="Avenir"/>
                <a:ea typeface="Avenir"/>
                <a:cs typeface="Avenir"/>
              </a:defRPr>
            </a:lvl9pPr>
          </a:lstStyle>
          <a:p xmlns:a="http://schemas.openxmlformats.org/drawingml/2006/main">
            <a:pPr algn="l">
              <a:lnSpc>
                <a:spcPct val="105000"/>
              </a:lnSpc>
              <a:buNone/>
              <a:defRPr sz="3525" b="1">
                <a:solidFill>
                  <a:srgbClr val="F4F7FB"/>
                </a:solidFill>
                <a:latin typeface="Avenir"/>
                <a:ea typeface="Avenir"/>
                <a:cs typeface="Avenir"/>
              </a:defRPr>
            </a:pPr>
            <a:r>
              <a:rPr sz="3525" b="1">
                <a:solidFill>
                  <a:srgbClr val="F4F7FB"/>
                </a:solidFill>
                <a:latin typeface="Avenir"/>
                <a:ea typeface="Avenir"/>
                <a:cs typeface="Avenir"/>
              </a:rPr>
              <a:t>Compiler stages</a:t>
            </a:r>
          </a:p>
        </p:txBody>
      </p:sp>
      <p:sp>
        <p:nvSpPr>
          <p:cNvPr id="2" name="">
            <a:extLst xmlns:a="http://schemas.openxmlformats.org/drawingml/2006/main">
              <a:ext uri="{FF2B5EF4-FFF2-40B4-BE49-F238E27FC236}">
                <a16:creationId xmlns:a16="http://schemas.microsoft.com/office/drawing/2014/main" id="{B07F64B1-BF46-4D30-B70C-17D2B53670FE}"/>
              </a:ext>
            </a:extLst>
          </p:cNvPr>
          <p:cNvSpPr>
            <a:spLocks xmlns:a="http://schemas.openxmlformats.org/drawingml/2006/main" noGrp="1"/>
          </p:cNvSpPr>
          <p:nvPr/>
        </p:nvSpPr>
        <p:spPr>
          <a:xfrm xmlns:a="http://schemas.openxmlformats.org/drawingml/2006/main">
            <a:off x="685800" y="1162050"/>
            <a:ext cx="819150" cy="38100"/>
          </a:xfrm>
          <a:prstGeom xmlns:a="http://schemas.openxmlformats.org/drawingml/2006/main" prst="rect">
            <a:avLst/>
          </a:prstGeom>
          <a:solidFill xmlns:a="http://schemas.openxmlformats.org/drawingml/2006/main">
            <a:srgbClr val="5AD6E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2E6C50E-0824-4BB0-9054-EC67E4EC6695}"/>
              </a:ext>
            </a:extLst>
          </p:cNvPr>
          <p:cNvSpPr>
            <a:spLocks xmlns:a="http://schemas.openxmlformats.org/drawingml/2006/main" noGrp="1"/>
          </p:cNvSpPr>
          <p:nvPr/>
        </p:nvSpPr>
        <p:spPr>
          <a:xfrm xmlns:a="http://schemas.openxmlformats.org/drawingml/2006/main">
            <a:off x="685800" y="13906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B4C1D1"/>
                </a:solidFill>
                <a:latin typeface="Avenir"/>
                <a:ea typeface="Avenir"/>
                <a:cs typeface="Avenir"/>
              </a:defRPr>
            </a:defPPr>
            <a:lvl1pPr algn="l">
              <a:defRPr sz="1725" b="0">
                <a:solidFill>
                  <a:srgbClr val="B4C1D1"/>
                </a:solidFill>
                <a:latin typeface="Avenir"/>
                <a:ea typeface="Avenir"/>
                <a:cs typeface="Avenir"/>
              </a:defRPr>
            </a:lvl1pPr>
            <a:lvl2pPr algn="l">
              <a:defRPr sz="1725" b="0">
                <a:solidFill>
                  <a:srgbClr val="B4C1D1"/>
                </a:solidFill>
                <a:latin typeface="Avenir"/>
                <a:ea typeface="Avenir"/>
                <a:cs typeface="Avenir"/>
              </a:defRPr>
            </a:lvl2pPr>
            <a:lvl3pPr algn="l">
              <a:defRPr sz="1725" b="0">
                <a:solidFill>
                  <a:srgbClr val="B4C1D1"/>
                </a:solidFill>
                <a:latin typeface="Avenir"/>
                <a:ea typeface="Avenir"/>
                <a:cs typeface="Avenir"/>
              </a:defRPr>
            </a:lvl3pPr>
            <a:lvl4pPr algn="l">
              <a:defRPr sz="1725" b="0">
                <a:solidFill>
                  <a:srgbClr val="B4C1D1"/>
                </a:solidFill>
                <a:latin typeface="Avenir"/>
                <a:ea typeface="Avenir"/>
                <a:cs typeface="Avenir"/>
              </a:defRPr>
            </a:lvl4pPr>
            <a:lvl5pPr algn="l">
              <a:defRPr sz="1725" b="0">
                <a:solidFill>
                  <a:srgbClr val="B4C1D1"/>
                </a:solidFill>
                <a:latin typeface="Avenir"/>
                <a:ea typeface="Avenir"/>
                <a:cs typeface="Avenir"/>
              </a:defRPr>
            </a:lvl5pPr>
            <a:lvl6pPr algn="l">
              <a:defRPr sz="1725" b="0">
                <a:solidFill>
                  <a:srgbClr val="B4C1D1"/>
                </a:solidFill>
                <a:latin typeface="Avenir"/>
                <a:ea typeface="Avenir"/>
                <a:cs typeface="Avenir"/>
              </a:defRPr>
            </a:lvl6pPr>
            <a:lvl7pPr algn="l">
              <a:defRPr sz="1725" b="0">
                <a:solidFill>
                  <a:srgbClr val="B4C1D1"/>
                </a:solidFill>
                <a:latin typeface="Avenir"/>
                <a:ea typeface="Avenir"/>
                <a:cs typeface="Avenir"/>
              </a:defRPr>
            </a:lvl7pPr>
            <a:lvl8pPr algn="l">
              <a:defRPr sz="1725" b="0">
                <a:solidFill>
                  <a:srgbClr val="B4C1D1"/>
                </a:solidFill>
                <a:latin typeface="Avenir"/>
                <a:ea typeface="Avenir"/>
                <a:cs typeface="Avenir"/>
              </a:defRPr>
            </a:lvl8pPr>
            <a:lvl9pPr algn="l">
              <a:defRPr sz="1725" b="0">
                <a:solidFill>
                  <a:srgbClr val="B4C1D1"/>
                </a:solidFill>
                <a:latin typeface="Avenir"/>
                <a:ea typeface="Avenir"/>
                <a:cs typeface="Avenir"/>
              </a:defRPr>
            </a:lvl9pPr>
          </a:lstStyle>
          <a:p xmlns:a="http://schemas.openxmlformats.org/drawingml/2006/main">
            <a:pPr algn="l">
              <a:lnSpc>
                <a:spcPct val="105000"/>
              </a:lnSpc>
              <a:buNone/>
              <a:defRPr sz="1725" b="0">
                <a:solidFill>
                  <a:srgbClr val="B4C1D1"/>
                </a:solidFill>
                <a:latin typeface="Avenir"/>
                <a:ea typeface="Avenir"/>
                <a:cs typeface="Avenir"/>
              </a:defRPr>
            </a:pPr>
            <a:r>
              <a:rPr sz="1725" b="0">
                <a:solidFill>
                  <a:srgbClr val="B4C1D1"/>
                </a:solidFill>
                <a:latin typeface="Avenir"/>
                <a:ea typeface="Avenir"/>
                <a:cs typeface="Avenir"/>
              </a:rPr>
              <a:t>Each stage has a visible representation you can inspect during the demo.</a:t>
            </a:r>
          </a:p>
        </p:txBody>
      </p:sp>
      <p:sp>
        <p:nvSpPr>
          <p:cNvPr id="4" name="">
            <a:extLst xmlns:a="http://schemas.openxmlformats.org/drawingml/2006/main">
              <a:ext uri="{FF2B5EF4-FFF2-40B4-BE49-F238E27FC236}">
                <a16:creationId xmlns:a16="http://schemas.microsoft.com/office/drawing/2014/main" id="{5741600C-29BB-404D-93C6-F1B7B4CC690F}"/>
              </a:ext>
            </a:extLst>
          </p:cNvPr>
          <p:cNvSpPr>
            <a:spLocks xmlns:a="http://schemas.openxmlformats.org/drawingml/2006/main" noGrp="1"/>
          </p:cNvSpPr>
          <p:nvPr/>
        </p:nvSpPr>
        <p:spPr>
          <a:xfrm xmlns:a="http://schemas.openxmlformats.org/drawingml/2006/main">
            <a:off x="685800" y="2628900"/>
            <a:ext cx="1524000" cy="1123950"/>
          </a:xfrm>
          <a:prstGeom xmlns:a="http://schemas.openxmlformats.org/drawingml/2006/main" prst="roundRect">
            <a:avLst>
              <a:gd name="adj" fmla="val 11864"/>
            </a:avLst>
          </a:prstGeom>
          <a:solidFill xmlns:a="http://schemas.openxmlformats.org/drawingml/2006/main">
            <a:srgbClr val="17263A"/>
          </a:solidFill>
          <a:ln xmlns:a="http://schemas.openxmlformats.org/drawingml/2006/main" w="14288">
            <a:solidFill>
              <a:srgbClr val="476078"/>
            </a:solidFill>
            <a:prstDash val="solid"/>
          </a:ln>
        </p:spPr>
        <p:txBody>
          <a:bodyPr xmlns:a="http://schemas.openxmlformats.org/drawingml/2006/main" wrap="square" lIns="133350" tIns="114300" rIns="133350" bIns="114300" anchor="ctr">
            <a:normAutofit fontScale="100000"/>
          </a:bodyPr>
          <a:lstStyle xmlns:a="http://schemas.openxmlformats.org/drawingml/2006/main">
            <a:defPPr algn="ctr">
              <a:defRPr sz="1575" b="0">
                <a:solidFill>
                  <a:srgbClr val="F4F7FB"/>
                </a:solidFill>
                <a:latin typeface="Avenir"/>
                <a:ea typeface="Avenir"/>
                <a:cs typeface="Avenir"/>
              </a:defRPr>
            </a:defPPr>
            <a:lvl1pPr algn="ctr">
              <a:defRPr sz="1575" b="0">
                <a:solidFill>
                  <a:srgbClr val="F4F7FB"/>
                </a:solidFill>
                <a:latin typeface="Avenir"/>
                <a:ea typeface="Avenir"/>
                <a:cs typeface="Avenir"/>
              </a:defRPr>
            </a:lvl1pPr>
            <a:lvl2pPr algn="ctr">
              <a:defRPr sz="1575" b="0">
                <a:solidFill>
                  <a:srgbClr val="F4F7FB"/>
                </a:solidFill>
                <a:latin typeface="Avenir"/>
                <a:ea typeface="Avenir"/>
                <a:cs typeface="Avenir"/>
              </a:defRPr>
            </a:lvl2pPr>
            <a:lvl3pPr algn="ctr">
              <a:defRPr sz="1575" b="0">
                <a:solidFill>
                  <a:srgbClr val="F4F7FB"/>
                </a:solidFill>
                <a:latin typeface="Avenir"/>
                <a:ea typeface="Avenir"/>
                <a:cs typeface="Avenir"/>
              </a:defRPr>
            </a:lvl3pPr>
            <a:lvl4pPr algn="ctr">
              <a:defRPr sz="1575" b="0">
                <a:solidFill>
                  <a:srgbClr val="F4F7FB"/>
                </a:solidFill>
                <a:latin typeface="Avenir"/>
                <a:ea typeface="Avenir"/>
                <a:cs typeface="Avenir"/>
              </a:defRPr>
            </a:lvl4pPr>
            <a:lvl5pPr algn="ctr">
              <a:defRPr sz="1575" b="0">
                <a:solidFill>
                  <a:srgbClr val="F4F7FB"/>
                </a:solidFill>
                <a:latin typeface="Avenir"/>
                <a:ea typeface="Avenir"/>
                <a:cs typeface="Avenir"/>
              </a:defRPr>
            </a:lvl5pPr>
            <a:lvl6pPr algn="ctr">
              <a:defRPr sz="1575" b="0">
                <a:solidFill>
                  <a:srgbClr val="F4F7FB"/>
                </a:solidFill>
                <a:latin typeface="Avenir"/>
                <a:ea typeface="Avenir"/>
                <a:cs typeface="Avenir"/>
              </a:defRPr>
            </a:lvl6pPr>
            <a:lvl7pPr algn="ctr">
              <a:defRPr sz="1575" b="0">
                <a:solidFill>
                  <a:srgbClr val="F4F7FB"/>
                </a:solidFill>
                <a:latin typeface="Avenir"/>
                <a:ea typeface="Avenir"/>
                <a:cs typeface="Avenir"/>
              </a:defRPr>
            </a:lvl7pPr>
            <a:lvl8pPr algn="ctr">
              <a:defRPr sz="1575" b="0">
                <a:solidFill>
                  <a:srgbClr val="F4F7FB"/>
                </a:solidFill>
                <a:latin typeface="Avenir"/>
                <a:ea typeface="Avenir"/>
                <a:cs typeface="Avenir"/>
              </a:defRPr>
            </a:lvl8pPr>
            <a:lvl9pPr algn="ctr">
              <a:defRPr sz="1575" b="0">
                <a:solidFill>
                  <a:srgbClr val="F4F7FB"/>
                </a:solidFill>
                <a:latin typeface="Avenir"/>
                <a:ea typeface="Avenir"/>
                <a:cs typeface="Avenir"/>
              </a:defRPr>
            </a:lvl9pPr>
          </a:lstStyle>
          <a:p xmlns:a="http://schemas.openxmlformats.org/drawingml/2006/main">
            <a:pPr algn="ctr">
              <a:lnSpc>
                <a:spcPct val="105000"/>
              </a:lnSpc>
              <a:buNone/>
              <a:defRPr sz="1575" b="0">
                <a:solidFill>
                  <a:srgbClr val="F4F7FB"/>
                </a:solidFill>
                <a:latin typeface="Avenir"/>
                <a:ea typeface="Avenir"/>
                <a:cs typeface="Avenir"/>
              </a:defRPr>
            </a:pPr>
            <a:r>
              <a:rPr sz="1575" b="0">
                <a:solidFill>
                  <a:srgbClr val="F4F7FB"/>
                </a:solidFill>
                <a:latin typeface="Avenir"/>
                <a:ea typeface="Avenir"/>
                <a:cs typeface="Avenir"/>
              </a:rPr>
              <a:t>Python</a:t>
            </a:r>
          </a:p>
          <a:p xmlns:a="http://schemas.openxmlformats.org/drawingml/2006/main">
            <a:pPr algn="ctr">
              <a:lnSpc>
                <a:spcPct val="105000"/>
              </a:lnSpc>
              <a:buNone/>
              <a:defRPr sz="1575" b="0">
                <a:solidFill>
                  <a:srgbClr val="F4F7FB"/>
                </a:solidFill>
                <a:latin typeface="Avenir"/>
                <a:ea typeface="Avenir"/>
                <a:cs typeface="Avenir"/>
              </a:defRPr>
            </a:pPr>
            <a:r>
              <a:rPr sz="1575" b="0">
                <a:solidFill>
                  <a:srgbClr val="F4F7FB"/>
                </a:solidFill>
                <a:latin typeface="Avenir"/>
                <a:ea typeface="Avenir"/>
                <a:cs typeface="Avenir"/>
              </a:rPr>
              <a:t>source</a:t>
            </a:r>
          </a:p>
        </p:txBody>
      </p:sp>
      <p:sp>
        <p:nvSpPr>
          <p:cNvPr id="5" name="">
            <a:extLst xmlns:a="http://schemas.openxmlformats.org/drawingml/2006/main">
              <a:ext uri="{FF2B5EF4-FFF2-40B4-BE49-F238E27FC236}">
                <a16:creationId xmlns:a16="http://schemas.microsoft.com/office/drawing/2014/main" id="{922F7E79-D610-4E64-844C-6C6D821C39FA}"/>
              </a:ext>
            </a:extLst>
          </p:cNvPr>
          <p:cNvSpPr>
            <a:spLocks xmlns:a="http://schemas.openxmlformats.org/drawingml/2006/main" noGrp="1"/>
          </p:cNvSpPr>
          <p:nvPr/>
        </p:nvSpPr>
        <p:spPr>
          <a:xfrm xmlns:a="http://schemas.openxmlformats.org/drawingml/2006/main">
            <a:off x="2571750" y="2628900"/>
            <a:ext cx="1524000" cy="1123950"/>
          </a:xfrm>
          <a:prstGeom xmlns:a="http://schemas.openxmlformats.org/drawingml/2006/main" prst="roundRect">
            <a:avLst>
              <a:gd name="adj" fmla="val 11864"/>
            </a:avLst>
          </a:prstGeom>
          <a:solidFill xmlns:a="http://schemas.openxmlformats.org/drawingml/2006/main">
            <a:srgbClr val="17263A"/>
          </a:solidFill>
          <a:ln xmlns:a="http://schemas.openxmlformats.org/drawingml/2006/main" w="14288">
            <a:solidFill>
              <a:srgbClr val="476078"/>
            </a:solidFill>
            <a:prstDash val="solid"/>
          </a:ln>
        </p:spPr>
        <p:txBody>
          <a:bodyPr xmlns:a="http://schemas.openxmlformats.org/drawingml/2006/main" wrap="square" lIns="133350" tIns="114300" rIns="133350" bIns="114300" anchor="ctr">
            <a:normAutofit fontScale="100000"/>
          </a:bodyPr>
          <a:lstStyle xmlns:a="http://schemas.openxmlformats.org/drawingml/2006/main">
            <a:defPPr algn="ctr">
              <a:defRPr sz="1575" b="0">
                <a:solidFill>
                  <a:srgbClr val="F4F7FB"/>
                </a:solidFill>
                <a:latin typeface="Avenir"/>
                <a:ea typeface="Avenir"/>
                <a:cs typeface="Avenir"/>
              </a:defRPr>
            </a:defPPr>
            <a:lvl1pPr algn="ctr">
              <a:defRPr sz="1575" b="0">
                <a:solidFill>
                  <a:srgbClr val="F4F7FB"/>
                </a:solidFill>
                <a:latin typeface="Avenir"/>
                <a:ea typeface="Avenir"/>
                <a:cs typeface="Avenir"/>
              </a:defRPr>
            </a:lvl1pPr>
            <a:lvl2pPr algn="ctr">
              <a:defRPr sz="1575" b="0">
                <a:solidFill>
                  <a:srgbClr val="F4F7FB"/>
                </a:solidFill>
                <a:latin typeface="Avenir"/>
                <a:ea typeface="Avenir"/>
                <a:cs typeface="Avenir"/>
              </a:defRPr>
            </a:lvl2pPr>
            <a:lvl3pPr algn="ctr">
              <a:defRPr sz="1575" b="0">
                <a:solidFill>
                  <a:srgbClr val="F4F7FB"/>
                </a:solidFill>
                <a:latin typeface="Avenir"/>
                <a:ea typeface="Avenir"/>
                <a:cs typeface="Avenir"/>
              </a:defRPr>
            </a:lvl3pPr>
            <a:lvl4pPr algn="ctr">
              <a:defRPr sz="1575" b="0">
                <a:solidFill>
                  <a:srgbClr val="F4F7FB"/>
                </a:solidFill>
                <a:latin typeface="Avenir"/>
                <a:ea typeface="Avenir"/>
                <a:cs typeface="Avenir"/>
              </a:defRPr>
            </a:lvl4pPr>
            <a:lvl5pPr algn="ctr">
              <a:defRPr sz="1575" b="0">
                <a:solidFill>
                  <a:srgbClr val="F4F7FB"/>
                </a:solidFill>
                <a:latin typeface="Avenir"/>
                <a:ea typeface="Avenir"/>
                <a:cs typeface="Avenir"/>
              </a:defRPr>
            </a:lvl5pPr>
            <a:lvl6pPr algn="ctr">
              <a:defRPr sz="1575" b="0">
                <a:solidFill>
                  <a:srgbClr val="F4F7FB"/>
                </a:solidFill>
                <a:latin typeface="Avenir"/>
                <a:ea typeface="Avenir"/>
                <a:cs typeface="Avenir"/>
              </a:defRPr>
            </a:lvl6pPr>
            <a:lvl7pPr algn="ctr">
              <a:defRPr sz="1575" b="0">
                <a:solidFill>
                  <a:srgbClr val="F4F7FB"/>
                </a:solidFill>
                <a:latin typeface="Avenir"/>
                <a:ea typeface="Avenir"/>
                <a:cs typeface="Avenir"/>
              </a:defRPr>
            </a:lvl7pPr>
            <a:lvl8pPr algn="ctr">
              <a:defRPr sz="1575" b="0">
                <a:solidFill>
                  <a:srgbClr val="F4F7FB"/>
                </a:solidFill>
                <a:latin typeface="Avenir"/>
                <a:ea typeface="Avenir"/>
                <a:cs typeface="Avenir"/>
              </a:defRPr>
            </a:lvl8pPr>
            <a:lvl9pPr algn="ctr">
              <a:defRPr sz="1575" b="0">
                <a:solidFill>
                  <a:srgbClr val="F4F7FB"/>
                </a:solidFill>
                <a:latin typeface="Avenir"/>
                <a:ea typeface="Avenir"/>
                <a:cs typeface="Avenir"/>
              </a:defRPr>
            </a:lvl9pPr>
          </a:lstStyle>
          <a:p xmlns:a="http://schemas.openxmlformats.org/drawingml/2006/main">
            <a:pPr algn="ctr">
              <a:lnSpc>
                <a:spcPct val="105000"/>
              </a:lnSpc>
              <a:buNone/>
              <a:defRPr sz="1575" b="0">
                <a:solidFill>
                  <a:srgbClr val="F4F7FB"/>
                </a:solidFill>
                <a:latin typeface="Avenir"/>
                <a:ea typeface="Avenir"/>
                <a:cs typeface="Avenir"/>
              </a:defRPr>
            </a:pPr>
            <a:r>
              <a:rPr sz="1575" b="0">
                <a:solidFill>
                  <a:srgbClr val="F4F7FB"/>
                </a:solidFill>
                <a:latin typeface="Avenir"/>
                <a:ea typeface="Avenir"/>
                <a:cs typeface="Avenir"/>
              </a:rPr>
              <a:t>AST</a:t>
            </a:r>
          </a:p>
          <a:p xmlns:a="http://schemas.openxmlformats.org/drawingml/2006/main">
            <a:pPr algn="ctr">
              <a:lnSpc>
                <a:spcPct val="105000"/>
              </a:lnSpc>
              <a:buNone/>
              <a:defRPr sz="1575" b="0">
                <a:solidFill>
                  <a:srgbClr val="F4F7FB"/>
                </a:solidFill>
                <a:latin typeface="Avenir"/>
                <a:ea typeface="Avenir"/>
                <a:cs typeface="Avenir"/>
              </a:defRPr>
            </a:pPr>
            <a:r>
              <a:rPr sz="1575" b="0">
                <a:solidFill>
                  <a:srgbClr val="F4F7FB"/>
                </a:solidFill>
                <a:latin typeface="Avenir"/>
                <a:ea typeface="Avenir"/>
                <a:cs typeface="Avenir"/>
              </a:rPr>
              <a:t>frontend</a:t>
            </a:r>
          </a:p>
        </p:txBody>
      </p:sp>
      <p:sp>
        <p:nvSpPr>
          <p:cNvPr id="6" name="">
            <a:extLst xmlns:a="http://schemas.openxmlformats.org/drawingml/2006/main">
              <a:ext uri="{FF2B5EF4-FFF2-40B4-BE49-F238E27FC236}">
                <a16:creationId xmlns:a16="http://schemas.microsoft.com/office/drawing/2014/main" id="{306F0E6B-F955-4C86-B319-D1C8C668449B}"/>
              </a:ext>
            </a:extLst>
          </p:cNvPr>
          <p:cNvSpPr>
            <a:spLocks xmlns:a="http://schemas.openxmlformats.org/drawingml/2006/main" noGrp="1"/>
          </p:cNvSpPr>
          <p:nvPr/>
        </p:nvSpPr>
        <p:spPr>
          <a:xfrm xmlns:a="http://schemas.openxmlformats.org/drawingml/2006/main">
            <a:off x="4457700" y="2628900"/>
            <a:ext cx="1524000" cy="1123950"/>
          </a:xfrm>
          <a:prstGeom xmlns:a="http://schemas.openxmlformats.org/drawingml/2006/main" prst="roundRect">
            <a:avLst>
              <a:gd name="adj" fmla="val 11864"/>
            </a:avLst>
          </a:prstGeom>
          <a:solidFill xmlns:a="http://schemas.openxmlformats.org/drawingml/2006/main">
            <a:srgbClr val="17263A"/>
          </a:solidFill>
          <a:ln xmlns:a="http://schemas.openxmlformats.org/drawingml/2006/main" w="14288">
            <a:solidFill>
              <a:srgbClr val="476078"/>
            </a:solidFill>
            <a:prstDash val="solid"/>
          </a:ln>
        </p:spPr>
        <p:txBody>
          <a:bodyPr xmlns:a="http://schemas.openxmlformats.org/drawingml/2006/main" wrap="square" lIns="133350" tIns="114300" rIns="133350" bIns="114300" anchor="ctr">
            <a:normAutofit fontScale="100000"/>
          </a:bodyPr>
          <a:lstStyle xmlns:a="http://schemas.openxmlformats.org/drawingml/2006/main">
            <a:defPPr algn="ctr">
              <a:defRPr sz="1350" b="0">
                <a:solidFill>
                  <a:srgbClr val="F4F7FB"/>
                </a:solidFill>
                <a:latin typeface="Avenir"/>
                <a:ea typeface="Avenir"/>
                <a:cs typeface="Avenir"/>
              </a:defRPr>
            </a:defPPr>
            <a:lvl1pPr algn="ctr">
              <a:defRPr sz="1350" b="0">
                <a:solidFill>
                  <a:srgbClr val="F4F7FB"/>
                </a:solidFill>
                <a:latin typeface="Avenir"/>
                <a:ea typeface="Avenir"/>
                <a:cs typeface="Avenir"/>
              </a:defRPr>
            </a:lvl1pPr>
            <a:lvl2pPr algn="ctr">
              <a:defRPr sz="1350" b="0">
                <a:solidFill>
                  <a:srgbClr val="F4F7FB"/>
                </a:solidFill>
                <a:latin typeface="Avenir"/>
                <a:ea typeface="Avenir"/>
                <a:cs typeface="Avenir"/>
              </a:defRPr>
            </a:lvl2pPr>
            <a:lvl3pPr algn="ctr">
              <a:defRPr sz="1350" b="0">
                <a:solidFill>
                  <a:srgbClr val="F4F7FB"/>
                </a:solidFill>
                <a:latin typeface="Avenir"/>
                <a:ea typeface="Avenir"/>
                <a:cs typeface="Avenir"/>
              </a:defRPr>
            </a:lvl3pPr>
            <a:lvl4pPr algn="ctr">
              <a:defRPr sz="1350" b="0">
                <a:solidFill>
                  <a:srgbClr val="F4F7FB"/>
                </a:solidFill>
                <a:latin typeface="Avenir"/>
                <a:ea typeface="Avenir"/>
                <a:cs typeface="Avenir"/>
              </a:defRPr>
            </a:lvl4pPr>
            <a:lvl5pPr algn="ctr">
              <a:defRPr sz="1350" b="0">
                <a:solidFill>
                  <a:srgbClr val="F4F7FB"/>
                </a:solidFill>
                <a:latin typeface="Avenir"/>
                <a:ea typeface="Avenir"/>
                <a:cs typeface="Avenir"/>
              </a:defRPr>
            </a:lvl5pPr>
            <a:lvl6pPr algn="ctr">
              <a:defRPr sz="1350" b="0">
                <a:solidFill>
                  <a:srgbClr val="F4F7FB"/>
                </a:solidFill>
                <a:latin typeface="Avenir"/>
                <a:ea typeface="Avenir"/>
                <a:cs typeface="Avenir"/>
              </a:defRPr>
            </a:lvl6pPr>
            <a:lvl7pPr algn="ctr">
              <a:defRPr sz="1350" b="0">
                <a:solidFill>
                  <a:srgbClr val="F4F7FB"/>
                </a:solidFill>
                <a:latin typeface="Avenir"/>
                <a:ea typeface="Avenir"/>
                <a:cs typeface="Avenir"/>
              </a:defRPr>
            </a:lvl7pPr>
            <a:lvl8pPr algn="ctr">
              <a:defRPr sz="1350" b="0">
                <a:solidFill>
                  <a:srgbClr val="F4F7FB"/>
                </a:solidFill>
                <a:latin typeface="Avenir"/>
                <a:ea typeface="Avenir"/>
                <a:cs typeface="Avenir"/>
              </a:defRPr>
            </a:lvl8pPr>
            <a:lvl9pPr algn="ctr">
              <a:defRPr sz="1350" b="0">
                <a:solidFill>
                  <a:srgbClr val="F4F7FB"/>
                </a:solidFill>
                <a:latin typeface="Avenir"/>
                <a:ea typeface="Avenir"/>
                <a:cs typeface="Avenir"/>
              </a:defRPr>
            </a:lvl9pPr>
          </a:lstStyle>
          <a:p xmlns:a="http://schemas.openxmlformats.org/drawingml/2006/main">
            <a:pPr algn="ctr">
              <a:lnSpc>
                <a:spcPct val="105000"/>
              </a:lnSpc>
              <a:buNone/>
              <a:defRPr sz="1350" b="0">
                <a:solidFill>
                  <a:srgbClr val="F4F7FB"/>
                </a:solidFill>
                <a:latin typeface="Avenir"/>
                <a:ea typeface="Avenir"/>
                <a:cs typeface="Avenir"/>
              </a:defRPr>
            </a:pPr>
            <a:r>
              <a:rPr sz="1350" b="0">
                <a:solidFill>
                  <a:srgbClr val="F4F7FB"/>
                </a:solidFill>
                <a:latin typeface="Avenir"/>
                <a:ea typeface="Avenir"/>
                <a:cs typeface="Avenir"/>
              </a:rPr>
              <a:t>Three-address</a:t>
            </a:r>
          </a:p>
          <a:p xmlns:a="http://schemas.openxmlformats.org/drawingml/2006/main">
            <a:pPr algn="ctr">
              <a:lnSpc>
                <a:spcPct val="105000"/>
              </a:lnSpc>
              <a:buNone/>
              <a:defRPr sz="1350" b="0">
                <a:solidFill>
                  <a:srgbClr val="F4F7FB"/>
                </a:solidFill>
                <a:latin typeface="Avenir"/>
                <a:ea typeface="Avenir"/>
                <a:cs typeface="Avenir"/>
              </a:defRPr>
            </a:pPr>
            <a:r>
              <a:rPr sz="1350" b="0">
                <a:solidFill>
                  <a:srgbClr val="F4F7FB"/>
                </a:solidFill>
                <a:latin typeface="Avenir"/>
                <a:ea typeface="Avenir"/>
                <a:cs typeface="Avenir"/>
              </a:rPr>
              <a:t>IR</a:t>
            </a:r>
          </a:p>
        </p:txBody>
      </p:sp>
      <p:sp>
        <p:nvSpPr>
          <p:cNvPr id="7" name="">
            <a:extLst xmlns:a="http://schemas.openxmlformats.org/drawingml/2006/main">
              <a:ext uri="{FF2B5EF4-FFF2-40B4-BE49-F238E27FC236}">
                <a16:creationId xmlns:a16="http://schemas.microsoft.com/office/drawing/2014/main" id="{EA91C6F0-C559-4D08-A90E-B21006E54FE1}"/>
              </a:ext>
            </a:extLst>
          </p:cNvPr>
          <p:cNvSpPr>
            <a:spLocks xmlns:a="http://schemas.openxmlformats.org/drawingml/2006/main" noGrp="1"/>
          </p:cNvSpPr>
          <p:nvPr/>
        </p:nvSpPr>
        <p:spPr>
          <a:xfrm xmlns:a="http://schemas.openxmlformats.org/drawingml/2006/main">
            <a:off x="6343650" y="2628900"/>
            <a:ext cx="1524000" cy="1123950"/>
          </a:xfrm>
          <a:prstGeom xmlns:a="http://schemas.openxmlformats.org/drawingml/2006/main" prst="roundRect">
            <a:avLst>
              <a:gd name="adj" fmla="val 11864"/>
            </a:avLst>
          </a:prstGeom>
          <a:solidFill xmlns:a="http://schemas.openxmlformats.org/drawingml/2006/main">
            <a:srgbClr val="173542"/>
          </a:solidFill>
          <a:ln xmlns:a="http://schemas.openxmlformats.org/drawingml/2006/main" w="14288">
            <a:solidFill>
              <a:srgbClr val="5AD6E6"/>
            </a:solidFill>
            <a:prstDash val="solid"/>
          </a:ln>
        </p:spPr>
        <p:txBody>
          <a:bodyPr xmlns:a="http://schemas.openxmlformats.org/drawingml/2006/main" wrap="square" lIns="133350" tIns="114300" rIns="133350" bIns="114300" anchor="ctr">
            <a:normAutofit fontScale="100000"/>
          </a:bodyPr>
          <a:lstStyle xmlns:a="http://schemas.openxmlformats.org/drawingml/2006/main">
            <a:defPPr algn="ctr">
              <a:defRPr sz="1575" b="0">
                <a:solidFill>
                  <a:srgbClr val="F4F7FB"/>
                </a:solidFill>
                <a:latin typeface="Avenir"/>
                <a:ea typeface="Avenir"/>
                <a:cs typeface="Avenir"/>
              </a:defRPr>
            </a:defPPr>
            <a:lvl1pPr algn="ctr">
              <a:defRPr sz="1575" b="0">
                <a:solidFill>
                  <a:srgbClr val="F4F7FB"/>
                </a:solidFill>
                <a:latin typeface="Avenir"/>
                <a:ea typeface="Avenir"/>
                <a:cs typeface="Avenir"/>
              </a:defRPr>
            </a:lvl1pPr>
            <a:lvl2pPr algn="ctr">
              <a:defRPr sz="1575" b="0">
                <a:solidFill>
                  <a:srgbClr val="F4F7FB"/>
                </a:solidFill>
                <a:latin typeface="Avenir"/>
                <a:ea typeface="Avenir"/>
                <a:cs typeface="Avenir"/>
              </a:defRPr>
            </a:lvl2pPr>
            <a:lvl3pPr algn="ctr">
              <a:defRPr sz="1575" b="0">
                <a:solidFill>
                  <a:srgbClr val="F4F7FB"/>
                </a:solidFill>
                <a:latin typeface="Avenir"/>
                <a:ea typeface="Avenir"/>
                <a:cs typeface="Avenir"/>
              </a:defRPr>
            </a:lvl3pPr>
            <a:lvl4pPr algn="ctr">
              <a:defRPr sz="1575" b="0">
                <a:solidFill>
                  <a:srgbClr val="F4F7FB"/>
                </a:solidFill>
                <a:latin typeface="Avenir"/>
                <a:ea typeface="Avenir"/>
                <a:cs typeface="Avenir"/>
              </a:defRPr>
            </a:lvl4pPr>
            <a:lvl5pPr algn="ctr">
              <a:defRPr sz="1575" b="0">
                <a:solidFill>
                  <a:srgbClr val="F4F7FB"/>
                </a:solidFill>
                <a:latin typeface="Avenir"/>
                <a:ea typeface="Avenir"/>
                <a:cs typeface="Avenir"/>
              </a:defRPr>
            </a:lvl5pPr>
            <a:lvl6pPr algn="ctr">
              <a:defRPr sz="1575" b="0">
                <a:solidFill>
                  <a:srgbClr val="F4F7FB"/>
                </a:solidFill>
                <a:latin typeface="Avenir"/>
                <a:ea typeface="Avenir"/>
                <a:cs typeface="Avenir"/>
              </a:defRPr>
            </a:lvl6pPr>
            <a:lvl7pPr algn="ctr">
              <a:defRPr sz="1575" b="0">
                <a:solidFill>
                  <a:srgbClr val="F4F7FB"/>
                </a:solidFill>
                <a:latin typeface="Avenir"/>
                <a:ea typeface="Avenir"/>
                <a:cs typeface="Avenir"/>
              </a:defRPr>
            </a:lvl7pPr>
            <a:lvl8pPr algn="ctr">
              <a:defRPr sz="1575" b="0">
                <a:solidFill>
                  <a:srgbClr val="F4F7FB"/>
                </a:solidFill>
                <a:latin typeface="Avenir"/>
                <a:ea typeface="Avenir"/>
                <a:cs typeface="Avenir"/>
              </a:defRPr>
            </a:lvl8pPr>
            <a:lvl9pPr algn="ctr">
              <a:defRPr sz="1575" b="0">
                <a:solidFill>
                  <a:srgbClr val="F4F7FB"/>
                </a:solidFill>
                <a:latin typeface="Avenir"/>
                <a:ea typeface="Avenir"/>
                <a:cs typeface="Avenir"/>
              </a:defRPr>
            </a:lvl9pPr>
          </a:lstStyle>
          <a:p xmlns:a="http://schemas.openxmlformats.org/drawingml/2006/main">
            <a:pPr algn="ctr">
              <a:lnSpc>
                <a:spcPct val="105000"/>
              </a:lnSpc>
              <a:buNone/>
              <a:defRPr sz="1575" b="0">
                <a:solidFill>
                  <a:srgbClr val="F4F7FB"/>
                </a:solidFill>
                <a:latin typeface="Avenir"/>
                <a:ea typeface="Avenir"/>
                <a:cs typeface="Avenir"/>
              </a:defRPr>
            </a:pPr>
            <a:r>
              <a:rPr sz="1575" b="0">
                <a:solidFill>
                  <a:srgbClr val="F4F7FB"/>
                </a:solidFill>
                <a:latin typeface="Avenir"/>
                <a:ea typeface="Avenir"/>
                <a:cs typeface="Avenir"/>
              </a:rPr>
              <a:t>CFG-aware</a:t>
            </a:r>
          </a:p>
          <a:p xmlns:a="http://schemas.openxmlformats.org/drawingml/2006/main">
            <a:pPr algn="ctr">
              <a:lnSpc>
                <a:spcPct val="105000"/>
              </a:lnSpc>
              <a:buNone/>
              <a:defRPr sz="1575" b="0">
                <a:solidFill>
                  <a:srgbClr val="F4F7FB"/>
                </a:solidFill>
                <a:latin typeface="Avenir"/>
                <a:ea typeface="Avenir"/>
                <a:cs typeface="Avenir"/>
              </a:defRPr>
            </a:pPr>
            <a:r>
              <a:rPr sz="1575" b="0">
                <a:solidFill>
                  <a:srgbClr val="F4F7FB"/>
                </a:solidFill>
                <a:latin typeface="Avenir"/>
                <a:ea typeface="Avenir"/>
                <a:cs typeface="Avenir"/>
              </a:rPr>
              <a:t>optimizer</a:t>
            </a:r>
          </a:p>
        </p:txBody>
      </p:sp>
      <p:sp>
        <p:nvSpPr>
          <p:cNvPr id="8" name="">
            <a:extLst xmlns:a="http://schemas.openxmlformats.org/drawingml/2006/main">
              <a:ext uri="{FF2B5EF4-FFF2-40B4-BE49-F238E27FC236}">
                <a16:creationId xmlns:a16="http://schemas.microsoft.com/office/drawing/2014/main" id="{F3E4FDD5-A99C-460A-929D-8A3962929947}"/>
              </a:ext>
            </a:extLst>
          </p:cNvPr>
          <p:cNvSpPr>
            <a:spLocks xmlns:a="http://schemas.openxmlformats.org/drawingml/2006/main" noGrp="1"/>
          </p:cNvSpPr>
          <p:nvPr/>
        </p:nvSpPr>
        <p:spPr>
          <a:xfrm xmlns:a="http://schemas.openxmlformats.org/drawingml/2006/main">
            <a:off x="8229600" y="2628900"/>
            <a:ext cx="1524000" cy="1123950"/>
          </a:xfrm>
          <a:prstGeom xmlns:a="http://schemas.openxmlformats.org/drawingml/2006/main" prst="roundRect">
            <a:avLst>
              <a:gd name="adj" fmla="val 11864"/>
            </a:avLst>
          </a:prstGeom>
          <a:solidFill xmlns:a="http://schemas.openxmlformats.org/drawingml/2006/main">
            <a:srgbClr val="17263A"/>
          </a:solidFill>
          <a:ln xmlns:a="http://schemas.openxmlformats.org/drawingml/2006/main" w="14288">
            <a:solidFill>
              <a:srgbClr val="476078"/>
            </a:solidFill>
            <a:prstDash val="solid"/>
          </a:ln>
        </p:spPr>
        <p:txBody>
          <a:bodyPr xmlns:a="http://schemas.openxmlformats.org/drawingml/2006/main" wrap="square" lIns="133350" tIns="114300" rIns="133350" bIns="114300" anchor="ctr">
            <a:normAutofit fontScale="100000"/>
          </a:bodyPr>
          <a:lstStyle xmlns:a="http://schemas.openxmlformats.org/drawingml/2006/main">
            <a:defPPr algn="ctr">
              <a:defRPr sz="1575" b="0">
                <a:solidFill>
                  <a:srgbClr val="F4F7FB"/>
                </a:solidFill>
                <a:latin typeface="Avenir"/>
                <a:ea typeface="Avenir"/>
                <a:cs typeface="Avenir"/>
              </a:defRPr>
            </a:defPPr>
            <a:lvl1pPr algn="ctr">
              <a:defRPr sz="1575" b="0">
                <a:solidFill>
                  <a:srgbClr val="F4F7FB"/>
                </a:solidFill>
                <a:latin typeface="Avenir"/>
                <a:ea typeface="Avenir"/>
                <a:cs typeface="Avenir"/>
              </a:defRPr>
            </a:lvl1pPr>
            <a:lvl2pPr algn="ctr">
              <a:defRPr sz="1575" b="0">
                <a:solidFill>
                  <a:srgbClr val="F4F7FB"/>
                </a:solidFill>
                <a:latin typeface="Avenir"/>
                <a:ea typeface="Avenir"/>
                <a:cs typeface="Avenir"/>
              </a:defRPr>
            </a:lvl2pPr>
            <a:lvl3pPr algn="ctr">
              <a:defRPr sz="1575" b="0">
                <a:solidFill>
                  <a:srgbClr val="F4F7FB"/>
                </a:solidFill>
                <a:latin typeface="Avenir"/>
                <a:ea typeface="Avenir"/>
                <a:cs typeface="Avenir"/>
              </a:defRPr>
            </a:lvl3pPr>
            <a:lvl4pPr algn="ctr">
              <a:defRPr sz="1575" b="0">
                <a:solidFill>
                  <a:srgbClr val="F4F7FB"/>
                </a:solidFill>
                <a:latin typeface="Avenir"/>
                <a:ea typeface="Avenir"/>
                <a:cs typeface="Avenir"/>
              </a:defRPr>
            </a:lvl4pPr>
            <a:lvl5pPr algn="ctr">
              <a:defRPr sz="1575" b="0">
                <a:solidFill>
                  <a:srgbClr val="F4F7FB"/>
                </a:solidFill>
                <a:latin typeface="Avenir"/>
                <a:ea typeface="Avenir"/>
                <a:cs typeface="Avenir"/>
              </a:defRPr>
            </a:lvl5pPr>
            <a:lvl6pPr algn="ctr">
              <a:defRPr sz="1575" b="0">
                <a:solidFill>
                  <a:srgbClr val="F4F7FB"/>
                </a:solidFill>
                <a:latin typeface="Avenir"/>
                <a:ea typeface="Avenir"/>
                <a:cs typeface="Avenir"/>
              </a:defRPr>
            </a:lvl6pPr>
            <a:lvl7pPr algn="ctr">
              <a:defRPr sz="1575" b="0">
                <a:solidFill>
                  <a:srgbClr val="F4F7FB"/>
                </a:solidFill>
                <a:latin typeface="Avenir"/>
                <a:ea typeface="Avenir"/>
                <a:cs typeface="Avenir"/>
              </a:defRPr>
            </a:lvl7pPr>
            <a:lvl8pPr algn="ctr">
              <a:defRPr sz="1575" b="0">
                <a:solidFill>
                  <a:srgbClr val="F4F7FB"/>
                </a:solidFill>
                <a:latin typeface="Avenir"/>
                <a:ea typeface="Avenir"/>
                <a:cs typeface="Avenir"/>
              </a:defRPr>
            </a:lvl8pPr>
            <a:lvl9pPr algn="ctr">
              <a:defRPr sz="1575" b="0">
                <a:solidFill>
                  <a:srgbClr val="F4F7FB"/>
                </a:solidFill>
                <a:latin typeface="Avenir"/>
                <a:ea typeface="Avenir"/>
                <a:cs typeface="Avenir"/>
              </a:defRPr>
            </a:lvl9pPr>
          </a:lstStyle>
          <a:p xmlns:a="http://schemas.openxmlformats.org/drawingml/2006/main">
            <a:pPr algn="ctr">
              <a:lnSpc>
                <a:spcPct val="105000"/>
              </a:lnSpc>
              <a:buNone/>
              <a:defRPr sz="1575" b="0">
                <a:solidFill>
                  <a:srgbClr val="F4F7FB"/>
                </a:solidFill>
                <a:latin typeface="Avenir"/>
                <a:ea typeface="Avenir"/>
                <a:cs typeface="Avenir"/>
              </a:defRPr>
            </a:pPr>
            <a:r>
              <a:rPr sz="1575" b="0">
                <a:solidFill>
                  <a:srgbClr val="F4F7FB"/>
                </a:solidFill>
                <a:latin typeface="Avenir"/>
                <a:ea typeface="Avenir"/>
                <a:cs typeface="Avenir"/>
              </a:rPr>
              <a:t>Bytecode</a:t>
            </a:r>
          </a:p>
          <a:p xmlns:a="http://schemas.openxmlformats.org/drawingml/2006/main">
            <a:pPr algn="ctr">
              <a:lnSpc>
                <a:spcPct val="105000"/>
              </a:lnSpc>
              <a:buNone/>
              <a:defRPr sz="1575" b="0">
                <a:solidFill>
                  <a:srgbClr val="F4F7FB"/>
                </a:solidFill>
                <a:latin typeface="Avenir"/>
                <a:ea typeface="Avenir"/>
                <a:cs typeface="Avenir"/>
              </a:defRPr>
            </a:pPr>
            <a:r>
              <a:rPr sz="1575" b="0">
                <a:solidFill>
                  <a:srgbClr val="F4F7FB"/>
                </a:solidFill>
                <a:latin typeface="Avenir"/>
                <a:ea typeface="Avenir"/>
                <a:cs typeface="Avenir"/>
              </a:rPr>
              <a:t>generator</a:t>
            </a:r>
          </a:p>
        </p:txBody>
      </p:sp>
      <p:sp>
        <p:nvSpPr>
          <p:cNvPr id="9" name="">
            <a:extLst xmlns:a="http://schemas.openxmlformats.org/drawingml/2006/main">
              <a:ext uri="{FF2B5EF4-FFF2-40B4-BE49-F238E27FC236}">
                <a16:creationId xmlns:a16="http://schemas.microsoft.com/office/drawing/2014/main" id="{2422DE9A-3FCD-4022-8A3D-FD8B477CC64C}"/>
              </a:ext>
            </a:extLst>
          </p:cNvPr>
          <p:cNvSpPr>
            <a:spLocks xmlns:a="http://schemas.openxmlformats.org/drawingml/2006/main" noGrp="1"/>
          </p:cNvSpPr>
          <p:nvPr/>
        </p:nvSpPr>
        <p:spPr>
          <a:xfrm xmlns:a="http://schemas.openxmlformats.org/drawingml/2006/main">
            <a:off x="10115550" y="2628900"/>
            <a:ext cx="1524000" cy="1123950"/>
          </a:xfrm>
          <a:prstGeom xmlns:a="http://schemas.openxmlformats.org/drawingml/2006/main" prst="roundRect">
            <a:avLst>
              <a:gd name="adj" fmla="val 11864"/>
            </a:avLst>
          </a:prstGeom>
          <a:solidFill xmlns:a="http://schemas.openxmlformats.org/drawingml/2006/main">
            <a:srgbClr val="17263A"/>
          </a:solidFill>
          <a:ln xmlns:a="http://schemas.openxmlformats.org/drawingml/2006/main" w="14288">
            <a:solidFill>
              <a:srgbClr val="476078"/>
            </a:solidFill>
            <a:prstDash val="solid"/>
          </a:ln>
        </p:spPr>
        <p:txBody>
          <a:bodyPr xmlns:a="http://schemas.openxmlformats.org/drawingml/2006/main" wrap="square" lIns="133350" tIns="114300" rIns="133350" bIns="114300" anchor="ctr">
            <a:normAutofit fontScale="100000"/>
          </a:bodyPr>
          <a:lstStyle xmlns:a="http://schemas.openxmlformats.org/drawingml/2006/main">
            <a:defPPr algn="ctr">
              <a:defRPr sz="1575" b="0">
                <a:solidFill>
                  <a:srgbClr val="F4F7FB"/>
                </a:solidFill>
                <a:latin typeface="Avenir"/>
                <a:ea typeface="Avenir"/>
                <a:cs typeface="Avenir"/>
              </a:defRPr>
            </a:defPPr>
            <a:lvl1pPr algn="ctr">
              <a:defRPr sz="1575" b="0">
                <a:solidFill>
                  <a:srgbClr val="F4F7FB"/>
                </a:solidFill>
                <a:latin typeface="Avenir"/>
                <a:ea typeface="Avenir"/>
                <a:cs typeface="Avenir"/>
              </a:defRPr>
            </a:lvl1pPr>
            <a:lvl2pPr algn="ctr">
              <a:defRPr sz="1575" b="0">
                <a:solidFill>
                  <a:srgbClr val="F4F7FB"/>
                </a:solidFill>
                <a:latin typeface="Avenir"/>
                <a:ea typeface="Avenir"/>
                <a:cs typeface="Avenir"/>
              </a:defRPr>
            </a:lvl2pPr>
            <a:lvl3pPr algn="ctr">
              <a:defRPr sz="1575" b="0">
                <a:solidFill>
                  <a:srgbClr val="F4F7FB"/>
                </a:solidFill>
                <a:latin typeface="Avenir"/>
                <a:ea typeface="Avenir"/>
                <a:cs typeface="Avenir"/>
              </a:defRPr>
            </a:lvl3pPr>
            <a:lvl4pPr algn="ctr">
              <a:defRPr sz="1575" b="0">
                <a:solidFill>
                  <a:srgbClr val="F4F7FB"/>
                </a:solidFill>
                <a:latin typeface="Avenir"/>
                <a:ea typeface="Avenir"/>
                <a:cs typeface="Avenir"/>
              </a:defRPr>
            </a:lvl4pPr>
            <a:lvl5pPr algn="ctr">
              <a:defRPr sz="1575" b="0">
                <a:solidFill>
                  <a:srgbClr val="F4F7FB"/>
                </a:solidFill>
                <a:latin typeface="Avenir"/>
                <a:ea typeface="Avenir"/>
                <a:cs typeface="Avenir"/>
              </a:defRPr>
            </a:lvl5pPr>
            <a:lvl6pPr algn="ctr">
              <a:defRPr sz="1575" b="0">
                <a:solidFill>
                  <a:srgbClr val="F4F7FB"/>
                </a:solidFill>
                <a:latin typeface="Avenir"/>
                <a:ea typeface="Avenir"/>
                <a:cs typeface="Avenir"/>
              </a:defRPr>
            </a:lvl6pPr>
            <a:lvl7pPr algn="ctr">
              <a:defRPr sz="1575" b="0">
                <a:solidFill>
                  <a:srgbClr val="F4F7FB"/>
                </a:solidFill>
                <a:latin typeface="Avenir"/>
                <a:ea typeface="Avenir"/>
                <a:cs typeface="Avenir"/>
              </a:defRPr>
            </a:lvl7pPr>
            <a:lvl8pPr algn="ctr">
              <a:defRPr sz="1575" b="0">
                <a:solidFill>
                  <a:srgbClr val="F4F7FB"/>
                </a:solidFill>
                <a:latin typeface="Avenir"/>
                <a:ea typeface="Avenir"/>
                <a:cs typeface="Avenir"/>
              </a:defRPr>
            </a:lvl8pPr>
            <a:lvl9pPr algn="ctr">
              <a:defRPr sz="1575" b="0">
                <a:solidFill>
                  <a:srgbClr val="F4F7FB"/>
                </a:solidFill>
                <a:latin typeface="Avenir"/>
                <a:ea typeface="Avenir"/>
                <a:cs typeface="Avenir"/>
              </a:defRPr>
            </a:lvl9pPr>
          </a:lstStyle>
          <a:p xmlns:a="http://schemas.openxmlformats.org/drawingml/2006/main">
            <a:pPr algn="ctr">
              <a:lnSpc>
                <a:spcPct val="105000"/>
              </a:lnSpc>
              <a:buNone/>
              <a:defRPr sz="1575" b="0">
                <a:solidFill>
                  <a:srgbClr val="F4F7FB"/>
                </a:solidFill>
                <a:latin typeface="Avenir"/>
                <a:ea typeface="Avenir"/>
                <a:cs typeface="Avenir"/>
              </a:defRPr>
            </a:pPr>
            <a:r>
              <a:rPr sz="1575" b="0">
                <a:solidFill>
                  <a:srgbClr val="F4F7FB"/>
                </a:solidFill>
                <a:latin typeface="Avenir"/>
                <a:ea typeface="Avenir"/>
                <a:cs typeface="Avenir"/>
              </a:rPr>
              <a:t>Stack</a:t>
            </a:r>
          </a:p>
          <a:p xmlns:a="http://schemas.openxmlformats.org/drawingml/2006/main">
            <a:pPr algn="ctr">
              <a:lnSpc>
                <a:spcPct val="105000"/>
              </a:lnSpc>
              <a:buNone/>
              <a:defRPr sz="1575" b="0">
                <a:solidFill>
                  <a:srgbClr val="F4F7FB"/>
                </a:solidFill>
                <a:latin typeface="Avenir"/>
                <a:ea typeface="Avenir"/>
                <a:cs typeface="Avenir"/>
              </a:defRPr>
            </a:pPr>
            <a:r>
              <a:rPr sz="1575" b="0">
                <a:solidFill>
                  <a:srgbClr val="F4F7FB"/>
                </a:solidFill>
                <a:latin typeface="Avenir"/>
                <a:ea typeface="Avenir"/>
                <a:cs typeface="Avenir"/>
              </a:rPr>
              <a:t>VM</a:t>
            </a:r>
          </a:p>
        </p:txBody>
      </p:sp>
      <p:sp>
        <p:nvSpPr>
          <p:cNvPr id="10" name="">
            <a:extLst xmlns:a="http://schemas.openxmlformats.org/drawingml/2006/main">
              <a:ext uri="{FF2B5EF4-FFF2-40B4-BE49-F238E27FC236}">
                <a16:creationId xmlns:a16="http://schemas.microsoft.com/office/drawing/2014/main" id="{327B819F-8187-4F84-8408-7BAF7ED9DEA2}"/>
              </a:ext>
            </a:extLst>
          </p:cNvPr>
          <p:cNvSpPr>
            <a:spLocks xmlns:a="http://schemas.openxmlformats.org/drawingml/2006/main" noGrp="1"/>
          </p:cNvSpPr>
          <p:nvPr/>
        </p:nvSpPr>
        <p:spPr>
          <a:xfrm xmlns:a="http://schemas.openxmlformats.org/drawingml/2006/main">
            <a:off x="2238375" y="3000375"/>
            <a:ext cx="266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2601"/>
          </a:bodyPr>
          <a:lstStyle xmlns:a="http://schemas.openxmlformats.org/drawingml/2006/main">
            <a:defPPr algn="ctr">
              <a:defRPr sz="2550" b="1">
                <a:solidFill>
                  <a:srgbClr val="5AD6E6"/>
                </a:solidFill>
                <a:latin typeface="Avenir"/>
                <a:ea typeface="Avenir"/>
                <a:cs typeface="Avenir"/>
              </a:defRPr>
            </a:defPPr>
            <a:lvl1pPr algn="ctr">
              <a:defRPr sz="2550" b="1">
                <a:solidFill>
                  <a:srgbClr val="5AD6E6"/>
                </a:solidFill>
                <a:latin typeface="Avenir"/>
                <a:ea typeface="Avenir"/>
                <a:cs typeface="Avenir"/>
              </a:defRPr>
            </a:lvl1pPr>
            <a:lvl2pPr algn="ctr">
              <a:defRPr sz="2550" b="1">
                <a:solidFill>
                  <a:srgbClr val="5AD6E6"/>
                </a:solidFill>
                <a:latin typeface="Avenir"/>
                <a:ea typeface="Avenir"/>
                <a:cs typeface="Avenir"/>
              </a:defRPr>
            </a:lvl2pPr>
            <a:lvl3pPr algn="ctr">
              <a:defRPr sz="2550" b="1">
                <a:solidFill>
                  <a:srgbClr val="5AD6E6"/>
                </a:solidFill>
                <a:latin typeface="Avenir"/>
                <a:ea typeface="Avenir"/>
                <a:cs typeface="Avenir"/>
              </a:defRPr>
            </a:lvl3pPr>
            <a:lvl4pPr algn="ctr">
              <a:defRPr sz="2550" b="1">
                <a:solidFill>
                  <a:srgbClr val="5AD6E6"/>
                </a:solidFill>
                <a:latin typeface="Avenir"/>
                <a:ea typeface="Avenir"/>
                <a:cs typeface="Avenir"/>
              </a:defRPr>
            </a:lvl4pPr>
            <a:lvl5pPr algn="ctr">
              <a:defRPr sz="2550" b="1">
                <a:solidFill>
                  <a:srgbClr val="5AD6E6"/>
                </a:solidFill>
                <a:latin typeface="Avenir"/>
                <a:ea typeface="Avenir"/>
                <a:cs typeface="Avenir"/>
              </a:defRPr>
            </a:lvl5pPr>
            <a:lvl6pPr algn="ctr">
              <a:defRPr sz="2550" b="1">
                <a:solidFill>
                  <a:srgbClr val="5AD6E6"/>
                </a:solidFill>
                <a:latin typeface="Avenir"/>
                <a:ea typeface="Avenir"/>
                <a:cs typeface="Avenir"/>
              </a:defRPr>
            </a:lvl6pPr>
            <a:lvl7pPr algn="ctr">
              <a:defRPr sz="2550" b="1">
                <a:solidFill>
                  <a:srgbClr val="5AD6E6"/>
                </a:solidFill>
                <a:latin typeface="Avenir"/>
                <a:ea typeface="Avenir"/>
                <a:cs typeface="Avenir"/>
              </a:defRPr>
            </a:lvl7pPr>
            <a:lvl8pPr algn="ctr">
              <a:defRPr sz="2550" b="1">
                <a:solidFill>
                  <a:srgbClr val="5AD6E6"/>
                </a:solidFill>
                <a:latin typeface="Avenir"/>
                <a:ea typeface="Avenir"/>
                <a:cs typeface="Avenir"/>
              </a:defRPr>
            </a:lvl8pPr>
            <a:lvl9pPr algn="ctr">
              <a:defRPr sz="2550" b="1">
                <a:solidFill>
                  <a:srgbClr val="5AD6E6"/>
                </a:solidFill>
                <a:latin typeface="Avenir"/>
                <a:ea typeface="Avenir"/>
                <a:cs typeface="Avenir"/>
              </a:defRPr>
            </a:lvl9pPr>
          </a:lstStyle>
          <a:p xmlns:a="http://schemas.openxmlformats.org/drawingml/2006/main">
            <a:pPr algn="ctr">
              <a:lnSpc>
                <a:spcPct val="105000"/>
              </a:lnSpc>
              <a:buNone/>
              <a:defRPr sz="2550" b="1">
                <a:solidFill>
                  <a:srgbClr val="5AD6E6"/>
                </a:solidFill>
                <a:latin typeface="Avenir"/>
                <a:ea typeface="Avenir"/>
                <a:cs typeface="Avenir"/>
              </a:defRPr>
            </a:pPr>
            <a:r>
              <a:rPr sz="2550" b="1">
                <a:solidFill>
                  <a:srgbClr val="5AD6E6"/>
                </a:solidFill>
                <a:latin typeface="Avenir"/>
                <a:ea typeface="Avenir"/>
                <a:cs typeface="Avenir"/>
              </a:rPr>
              <a:t>→</a:t>
            </a:r>
          </a:p>
        </p:txBody>
      </p:sp>
      <p:sp>
        <p:nvSpPr>
          <p:cNvPr id="11" name="">
            <a:extLst xmlns:a="http://schemas.openxmlformats.org/drawingml/2006/main">
              <a:ext uri="{FF2B5EF4-FFF2-40B4-BE49-F238E27FC236}">
                <a16:creationId xmlns:a16="http://schemas.microsoft.com/office/drawing/2014/main" id="{F8A3C80C-494B-4409-9864-E0DEDAC4C51F}"/>
              </a:ext>
            </a:extLst>
          </p:cNvPr>
          <p:cNvSpPr>
            <a:spLocks xmlns:a="http://schemas.openxmlformats.org/drawingml/2006/main" noGrp="1"/>
          </p:cNvSpPr>
          <p:nvPr/>
        </p:nvSpPr>
        <p:spPr>
          <a:xfrm xmlns:a="http://schemas.openxmlformats.org/drawingml/2006/main">
            <a:off x="4124325" y="3000375"/>
            <a:ext cx="266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2601"/>
          </a:bodyPr>
          <a:lstStyle xmlns:a="http://schemas.openxmlformats.org/drawingml/2006/main">
            <a:defPPr algn="ctr">
              <a:defRPr sz="2550" b="1">
                <a:solidFill>
                  <a:srgbClr val="5AD6E6"/>
                </a:solidFill>
                <a:latin typeface="Avenir"/>
                <a:ea typeface="Avenir"/>
                <a:cs typeface="Avenir"/>
              </a:defRPr>
            </a:defPPr>
            <a:lvl1pPr algn="ctr">
              <a:defRPr sz="2550" b="1">
                <a:solidFill>
                  <a:srgbClr val="5AD6E6"/>
                </a:solidFill>
                <a:latin typeface="Avenir"/>
                <a:ea typeface="Avenir"/>
                <a:cs typeface="Avenir"/>
              </a:defRPr>
            </a:lvl1pPr>
            <a:lvl2pPr algn="ctr">
              <a:defRPr sz="2550" b="1">
                <a:solidFill>
                  <a:srgbClr val="5AD6E6"/>
                </a:solidFill>
                <a:latin typeface="Avenir"/>
                <a:ea typeface="Avenir"/>
                <a:cs typeface="Avenir"/>
              </a:defRPr>
            </a:lvl2pPr>
            <a:lvl3pPr algn="ctr">
              <a:defRPr sz="2550" b="1">
                <a:solidFill>
                  <a:srgbClr val="5AD6E6"/>
                </a:solidFill>
                <a:latin typeface="Avenir"/>
                <a:ea typeface="Avenir"/>
                <a:cs typeface="Avenir"/>
              </a:defRPr>
            </a:lvl3pPr>
            <a:lvl4pPr algn="ctr">
              <a:defRPr sz="2550" b="1">
                <a:solidFill>
                  <a:srgbClr val="5AD6E6"/>
                </a:solidFill>
                <a:latin typeface="Avenir"/>
                <a:ea typeface="Avenir"/>
                <a:cs typeface="Avenir"/>
              </a:defRPr>
            </a:lvl4pPr>
            <a:lvl5pPr algn="ctr">
              <a:defRPr sz="2550" b="1">
                <a:solidFill>
                  <a:srgbClr val="5AD6E6"/>
                </a:solidFill>
                <a:latin typeface="Avenir"/>
                <a:ea typeface="Avenir"/>
                <a:cs typeface="Avenir"/>
              </a:defRPr>
            </a:lvl5pPr>
            <a:lvl6pPr algn="ctr">
              <a:defRPr sz="2550" b="1">
                <a:solidFill>
                  <a:srgbClr val="5AD6E6"/>
                </a:solidFill>
                <a:latin typeface="Avenir"/>
                <a:ea typeface="Avenir"/>
                <a:cs typeface="Avenir"/>
              </a:defRPr>
            </a:lvl6pPr>
            <a:lvl7pPr algn="ctr">
              <a:defRPr sz="2550" b="1">
                <a:solidFill>
                  <a:srgbClr val="5AD6E6"/>
                </a:solidFill>
                <a:latin typeface="Avenir"/>
                <a:ea typeface="Avenir"/>
                <a:cs typeface="Avenir"/>
              </a:defRPr>
            </a:lvl7pPr>
            <a:lvl8pPr algn="ctr">
              <a:defRPr sz="2550" b="1">
                <a:solidFill>
                  <a:srgbClr val="5AD6E6"/>
                </a:solidFill>
                <a:latin typeface="Avenir"/>
                <a:ea typeface="Avenir"/>
                <a:cs typeface="Avenir"/>
              </a:defRPr>
            </a:lvl8pPr>
            <a:lvl9pPr algn="ctr">
              <a:defRPr sz="2550" b="1">
                <a:solidFill>
                  <a:srgbClr val="5AD6E6"/>
                </a:solidFill>
                <a:latin typeface="Avenir"/>
                <a:ea typeface="Avenir"/>
                <a:cs typeface="Avenir"/>
              </a:defRPr>
            </a:lvl9pPr>
          </a:lstStyle>
          <a:p xmlns:a="http://schemas.openxmlformats.org/drawingml/2006/main">
            <a:pPr algn="ctr">
              <a:lnSpc>
                <a:spcPct val="105000"/>
              </a:lnSpc>
              <a:buNone/>
              <a:defRPr sz="2550" b="1">
                <a:solidFill>
                  <a:srgbClr val="5AD6E6"/>
                </a:solidFill>
                <a:latin typeface="Avenir"/>
                <a:ea typeface="Avenir"/>
                <a:cs typeface="Avenir"/>
              </a:defRPr>
            </a:pPr>
            <a:r>
              <a:rPr sz="2550" b="1">
                <a:solidFill>
                  <a:srgbClr val="5AD6E6"/>
                </a:solidFill>
                <a:latin typeface="Avenir"/>
                <a:ea typeface="Avenir"/>
                <a:cs typeface="Avenir"/>
              </a:rPr>
              <a:t>→</a:t>
            </a:r>
          </a:p>
        </p:txBody>
      </p:sp>
      <p:sp>
        <p:nvSpPr>
          <p:cNvPr id="12" name="">
            <a:extLst xmlns:a="http://schemas.openxmlformats.org/drawingml/2006/main">
              <a:ext uri="{FF2B5EF4-FFF2-40B4-BE49-F238E27FC236}">
                <a16:creationId xmlns:a16="http://schemas.microsoft.com/office/drawing/2014/main" id="{89A67E96-BBB4-47DF-A0EF-0136BD445B99}"/>
              </a:ext>
            </a:extLst>
          </p:cNvPr>
          <p:cNvSpPr>
            <a:spLocks xmlns:a="http://schemas.openxmlformats.org/drawingml/2006/main" noGrp="1"/>
          </p:cNvSpPr>
          <p:nvPr/>
        </p:nvSpPr>
        <p:spPr>
          <a:xfrm xmlns:a="http://schemas.openxmlformats.org/drawingml/2006/main">
            <a:off x="6010275" y="3000375"/>
            <a:ext cx="266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2601"/>
          </a:bodyPr>
          <a:lstStyle xmlns:a="http://schemas.openxmlformats.org/drawingml/2006/main">
            <a:defPPr algn="ctr">
              <a:defRPr sz="2550" b="1">
                <a:solidFill>
                  <a:srgbClr val="5AD6E6"/>
                </a:solidFill>
                <a:latin typeface="Avenir"/>
                <a:ea typeface="Avenir"/>
                <a:cs typeface="Avenir"/>
              </a:defRPr>
            </a:defPPr>
            <a:lvl1pPr algn="ctr">
              <a:defRPr sz="2550" b="1">
                <a:solidFill>
                  <a:srgbClr val="5AD6E6"/>
                </a:solidFill>
                <a:latin typeface="Avenir"/>
                <a:ea typeface="Avenir"/>
                <a:cs typeface="Avenir"/>
              </a:defRPr>
            </a:lvl1pPr>
            <a:lvl2pPr algn="ctr">
              <a:defRPr sz="2550" b="1">
                <a:solidFill>
                  <a:srgbClr val="5AD6E6"/>
                </a:solidFill>
                <a:latin typeface="Avenir"/>
                <a:ea typeface="Avenir"/>
                <a:cs typeface="Avenir"/>
              </a:defRPr>
            </a:lvl2pPr>
            <a:lvl3pPr algn="ctr">
              <a:defRPr sz="2550" b="1">
                <a:solidFill>
                  <a:srgbClr val="5AD6E6"/>
                </a:solidFill>
                <a:latin typeface="Avenir"/>
                <a:ea typeface="Avenir"/>
                <a:cs typeface="Avenir"/>
              </a:defRPr>
            </a:lvl3pPr>
            <a:lvl4pPr algn="ctr">
              <a:defRPr sz="2550" b="1">
                <a:solidFill>
                  <a:srgbClr val="5AD6E6"/>
                </a:solidFill>
                <a:latin typeface="Avenir"/>
                <a:ea typeface="Avenir"/>
                <a:cs typeface="Avenir"/>
              </a:defRPr>
            </a:lvl4pPr>
            <a:lvl5pPr algn="ctr">
              <a:defRPr sz="2550" b="1">
                <a:solidFill>
                  <a:srgbClr val="5AD6E6"/>
                </a:solidFill>
                <a:latin typeface="Avenir"/>
                <a:ea typeface="Avenir"/>
                <a:cs typeface="Avenir"/>
              </a:defRPr>
            </a:lvl5pPr>
            <a:lvl6pPr algn="ctr">
              <a:defRPr sz="2550" b="1">
                <a:solidFill>
                  <a:srgbClr val="5AD6E6"/>
                </a:solidFill>
                <a:latin typeface="Avenir"/>
                <a:ea typeface="Avenir"/>
                <a:cs typeface="Avenir"/>
              </a:defRPr>
            </a:lvl6pPr>
            <a:lvl7pPr algn="ctr">
              <a:defRPr sz="2550" b="1">
                <a:solidFill>
                  <a:srgbClr val="5AD6E6"/>
                </a:solidFill>
                <a:latin typeface="Avenir"/>
                <a:ea typeface="Avenir"/>
                <a:cs typeface="Avenir"/>
              </a:defRPr>
            </a:lvl7pPr>
            <a:lvl8pPr algn="ctr">
              <a:defRPr sz="2550" b="1">
                <a:solidFill>
                  <a:srgbClr val="5AD6E6"/>
                </a:solidFill>
                <a:latin typeface="Avenir"/>
                <a:ea typeface="Avenir"/>
                <a:cs typeface="Avenir"/>
              </a:defRPr>
            </a:lvl8pPr>
            <a:lvl9pPr algn="ctr">
              <a:defRPr sz="2550" b="1">
                <a:solidFill>
                  <a:srgbClr val="5AD6E6"/>
                </a:solidFill>
                <a:latin typeface="Avenir"/>
                <a:ea typeface="Avenir"/>
                <a:cs typeface="Avenir"/>
              </a:defRPr>
            </a:lvl9pPr>
          </a:lstStyle>
          <a:p xmlns:a="http://schemas.openxmlformats.org/drawingml/2006/main">
            <a:pPr algn="ctr">
              <a:lnSpc>
                <a:spcPct val="105000"/>
              </a:lnSpc>
              <a:buNone/>
              <a:defRPr sz="2550" b="1">
                <a:solidFill>
                  <a:srgbClr val="5AD6E6"/>
                </a:solidFill>
                <a:latin typeface="Avenir"/>
                <a:ea typeface="Avenir"/>
                <a:cs typeface="Avenir"/>
              </a:defRPr>
            </a:pPr>
            <a:r>
              <a:rPr sz="2550" b="1">
                <a:solidFill>
                  <a:srgbClr val="5AD6E6"/>
                </a:solidFill>
                <a:latin typeface="Avenir"/>
                <a:ea typeface="Avenir"/>
                <a:cs typeface="Avenir"/>
              </a:rPr>
              <a:t>→</a:t>
            </a:r>
          </a:p>
        </p:txBody>
      </p:sp>
      <p:sp>
        <p:nvSpPr>
          <p:cNvPr id="13" name="">
            <a:extLst xmlns:a="http://schemas.openxmlformats.org/drawingml/2006/main">
              <a:ext uri="{FF2B5EF4-FFF2-40B4-BE49-F238E27FC236}">
                <a16:creationId xmlns:a16="http://schemas.microsoft.com/office/drawing/2014/main" id="{981DE327-AB02-4DBB-8427-C9F6E19684C4}"/>
              </a:ext>
            </a:extLst>
          </p:cNvPr>
          <p:cNvSpPr>
            <a:spLocks xmlns:a="http://schemas.openxmlformats.org/drawingml/2006/main" noGrp="1"/>
          </p:cNvSpPr>
          <p:nvPr/>
        </p:nvSpPr>
        <p:spPr>
          <a:xfrm xmlns:a="http://schemas.openxmlformats.org/drawingml/2006/main">
            <a:off x="7896225" y="3000375"/>
            <a:ext cx="266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2601"/>
          </a:bodyPr>
          <a:lstStyle xmlns:a="http://schemas.openxmlformats.org/drawingml/2006/main">
            <a:defPPr algn="ctr">
              <a:defRPr sz="2550" b="1">
                <a:solidFill>
                  <a:srgbClr val="5AD6E6"/>
                </a:solidFill>
                <a:latin typeface="Avenir"/>
                <a:ea typeface="Avenir"/>
                <a:cs typeface="Avenir"/>
              </a:defRPr>
            </a:defPPr>
            <a:lvl1pPr algn="ctr">
              <a:defRPr sz="2550" b="1">
                <a:solidFill>
                  <a:srgbClr val="5AD6E6"/>
                </a:solidFill>
                <a:latin typeface="Avenir"/>
                <a:ea typeface="Avenir"/>
                <a:cs typeface="Avenir"/>
              </a:defRPr>
            </a:lvl1pPr>
            <a:lvl2pPr algn="ctr">
              <a:defRPr sz="2550" b="1">
                <a:solidFill>
                  <a:srgbClr val="5AD6E6"/>
                </a:solidFill>
                <a:latin typeface="Avenir"/>
                <a:ea typeface="Avenir"/>
                <a:cs typeface="Avenir"/>
              </a:defRPr>
            </a:lvl2pPr>
            <a:lvl3pPr algn="ctr">
              <a:defRPr sz="2550" b="1">
                <a:solidFill>
                  <a:srgbClr val="5AD6E6"/>
                </a:solidFill>
                <a:latin typeface="Avenir"/>
                <a:ea typeface="Avenir"/>
                <a:cs typeface="Avenir"/>
              </a:defRPr>
            </a:lvl3pPr>
            <a:lvl4pPr algn="ctr">
              <a:defRPr sz="2550" b="1">
                <a:solidFill>
                  <a:srgbClr val="5AD6E6"/>
                </a:solidFill>
                <a:latin typeface="Avenir"/>
                <a:ea typeface="Avenir"/>
                <a:cs typeface="Avenir"/>
              </a:defRPr>
            </a:lvl4pPr>
            <a:lvl5pPr algn="ctr">
              <a:defRPr sz="2550" b="1">
                <a:solidFill>
                  <a:srgbClr val="5AD6E6"/>
                </a:solidFill>
                <a:latin typeface="Avenir"/>
                <a:ea typeface="Avenir"/>
                <a:cs typeface="Avenir"/>
              </a:defRPr>
            </a:lvl5pPr>
            <a:lvl6pPr algn="ctr">
              <a:defRPr sz="2550" b="1">
                <a:solidFill>
                  <a:srgbClr val="5AD6E6"/>
                </a:solidFill>
                <a:latin typeface="Avenir"/>
                <a:ea typeface="Avenir"/>
                <a:cs typeface="Avenir"/>
              </a:defRPr>
            </a:lvl6pPr>
            <a:lvl7pPr algn="ctr">
              <a:defRPr sz="2550" b="1">
                <a:solidFill>
                  <a:srgbClr val="5AD6E6"/>
                </a:solidFill>
                <a:latin typeface="Avenir"/>
                <a:ea typeface="Avenir"/>
                <a:cs typeface="Avenir"/>
              </a:defRPr>
            </a:lvl7pPr>
            <a:lvl8pPr algn="ctr">
              <a:defRPr sz="2550" b="1">
                <a:solidFill>
                  <a:srgbClr val="5AD6E6"/>
                </a:solidFill>
                <a:latin typeface="Avenir"/>
                <a:ea typeface="Avenir"/>
                <a:cs typeface="Avenir"/>
              </a:defRPr>
            </a:lvl8pPr>
            <a:lvl9pPr algn="ctr">
              <a:defRPr sz="2550" b="1">
                <a:solidFill>
                  <a:srgbClr val="5AD6E6"/>
                </a:solidFill>
                <a:latin typeface="Avenir"/>
                <a:ea typeface="Avenir"/>
                <a:cs typeface="Avenir"/>
              </a:defRPr>
            </a:lvl9pPr>
          </a:lstStyle>
          <a:p xmlns:a="http://schemas.openxmlformats.org/drawingml/2006/main">
            <a:pPr algn="ctr">
              <a:lnSpc>
                <a:spcPct val="105000"/>
              </a:lnSpc>
              <a:buNone/>
              <a:defRPr sz="2550" b="1">
                <a:solidFill>
                  <a:srgbClr val="5AD6E6"/>
                </a:solidFill>
                <a:latin typeface="Avenir"/>
                <a:ea typeface="Avenir"/>
                <a:cs typeface="Avenir"/>
              </a:defRPr>
            </a:pPr>
            <a:r>
              <a:rPr sz="2550" b="1">
                <a:solidFill>
                  <a:srgbClr val="5AD6E6"/>
                </a:solidFill>
                <a:latin typeface="Avenir"/>
                <a:ea typeface="Avenir"/>
                <a:cs typeface="Avenir"/>
              </a:rPr>
              <a:t>→</a:t>
            </a:r>
          </a:p>
        </p:txBody>
      </p:sp>
      <p:sp>
        <p:nvSpPr>
          <p:cNvPr id="14" name="">
            <a:extLst xmlns:a="http://schemas.openxmlformats.org/drawingml/2006/main">
              <a:ext uri="{FF2B5EF4-FFF2-40B4-BE49-F238E27FC236}">
                <a16:creationId xmlns:a16="http://schemas.microsoft.com/office/drawing/2014/main" id="{4A709F06-E6C9-4A21-81D1-55CD81054528}"/>
              </a:ext>
            </a:extLst>
          </p:cNvPr>
          <p:cNvSpPr>
            <a:spLocks xmlns:a="http://schemas.openxmlformats.org/drawingml/2006/main" noGrp="1"/>
          </p:cNvSpPr>
          <p:nvPr/>
        </p:nvSpPr>
        <p:spPr>
          <a:xfrm xmlns:a="http://schemas.openxmlformats.org/drawingml/2006/main">
            <a:off x="9782175" y="3000375"/>
            <a:ext cx="266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2601"/>
          </a:bodyPr>
          <a:lstStyle xmlns:a="http://schemas.openxmlformats.org/drawingml/2006/main">
            <a:defPPr algn="ctr">
              <a:defRPr sz="2550" b="1">
                <a:solidFill>
                  <a:srgbClr val="5AD6E6"/>
                </a:solidFill>
                <a:latin typeface="Avenir"/>
                <a:ea typeface="Avenir"/>
                <a:cs typeface="Avenir"/>
              </a:defRPr>
            </a:defPPr>
            <a:lvl1pPr algn="ctr">
              <a:defRPr sz="2550" b="1">
                <a:solidFill>
                  <a:srgbClr val="5AD6E6"/>
                </a:solidFill>
                <a:latin typeface="Avenir"/>
                <a:ea typeface="Avenir"/>
                <a:cs typeface="Avenir"/>
              </a:defRPr>
            </a:lvl1pPr>
            <a:lvl2pPr algn="ctr">
              <a:defRPr sz="2550" b="1">
                <a:solidFill>
                  <a:srgbClr val="5AD6E6"/>
                </a:solidFill>
                <a:latin typeface="Avenir"/>
                <a:ea typeface="Avenir"/>
                <a:cs typeface="Avenir"/>
              </a:defRPr>
            </a:lvl2pPr>
            <a:lvl3pPr algn="ctr">
              <a:defRPr sz="2550" b="1">
                <a:solidFill>
                  <a:srgbClr val="5AD6E6"/>
                </a:solidFill>
                <a:latin typeface="Avenir"/>
                <a:ea typeface="Avenir"/>
                <a:cs typeface="Avenir"/>
              </a:defRPr>
            </a:lvl3pPr>
            <a:lvl4pPr algn="ctr">
              <a:defRPr sz="2550" b="1">
                <a:solidFill>
                  <a:srgbClr val="5AD6E6"/>
                </a:solidFill>
                <a:latin typeface="Avenir"/>
                <a:ea typeface="Avenir"/>
                <a:cs typeface="Avenir"/>
              </a:defRPr>
            </a:lvl4pPr>
            <a:lvl5pPr algn="ctr">
              <a:defRPr sz="2550" b="1">
                <a:solidFill>
                  <a:srgbClr val="5AD6E6"/>
                </a:solidFill>
                <a:latin typeface="Avenir"/>
                <a:ea typeface="Avenir"/>
                <a:cs typeface="Avenir"/>
              </a:defRPr>
            </a:lvl5pPr>
            <a:lvl6pPr algn="ctr">
              <a:defRPr sz="2550" b="1">
                <a:solidFill>
                  <a:srgbClr val="5AD6E6"/>
                </a:solidFill>
                <a:latin typeface="Avenir"/>
                <a:ea typeface="Avenir"/>
                <a:cs typeface="Avenir"/>
              </a:defRPr>
            </a:lvl6pPr>
            <a:lvl7pPr algn="ctr">
              <a:defRPr sz="2550" b="1">
                <a:solidFill>
                  <a:srgbClr val="5AD6E6"/>
                </a:solidFill>
                <a:latin typeface="Avenir"/>
                <a:ea typeface="Avenir"/>
                <a:cs typeface="Avenir"/>
              </a:defRPr>
            </a:lvl7pPr>
            <a:lvl8pPr algn="ctr">
              <a:defRPr sz="2550" b="1">
                <a:solidFill>
                  <a:srgbClr val="5AD6E6"/>
                </a:solidFill>
                <a:latin typeface="Avenir"/>
                <a:ea typeface="Avenir"/>
                <a:cs typeface="Avenir"/>
              </a:defRPr>
            </a:lvl8pPr>
            <a:lvl9pPr algn="ctr">
              <a:defRPr sz="2550" b="1">
                <a:solidFill>
                  <a:srgbClr val="5AD6E6"/>
                </a:solidFill>
                <a:latin typeface="Avenir"/>
                <a:ea typeface="Avenir"/>
                <a:cs typeface="Avenir"/>
              </a:defRPr>
            </a:lvl9pPr>
          </a:lstStyle>
          <a:p xmlns:a="http://schemas.openxmlformats.org/drawingml/2006/main">
            <a:pPr algn="ctr">
              <a:lnSpc>
                <a:spcPct val="105000"/>
              </a:lnSpc>
              <a:buNone/>
              <a:defRPr sz="2550" b="1">
                <a:solidFill>
                  <a:srgbClr val="5AD6E6"/>
                </a:solidFill>
                <a:latin typeface="Avenir"/>
                <a:ea typeface="Avenir"/>
                <a:cs typeface="Avenir"/>
              </a:defRPr>
            </a:pPr>
            <a:r>
              <a:rPr sz="2550" b="1">
                <a:solidFill>
                  <a:srgbClr val="5AD6E6"/>
                </a:solidFill>
                <a:latin typeface="Avenir"/>
                <a:ea typeface="Avenir"/>
                <a:cs typeface="Avenir"/>
              </a:rPr>
              <a:t>→</a:t>
            </a:r>
          </a:p>
        </p:txBody>
      </p:sp>
      <p:sp>
        <p:nvSpPr>
          <p:cNvPr id="15" name="">
            <a:extLst xmlns:a="http://schemas.openxmlformats.org/drawingml/2006/main">
              <a:ext uri="{FF2B5EF4-FFF2-40B4-BE49-F238E27FC236}">
                <a16:creationId xmlns:a16="http://schemas.microsoft.com/office/drawing/2014/main" id="{7EFD9066-7EA8-49E7-8FED-8D8E551D33FE}"/>
              </a:ext>
            </a:extLst>
          </p:cNvPr>
          <p:cNvSpPr>
            <a:spLocks xmlns:a="http://schemas.openxmlformats.org/drawingml/2006/main" noGrp="1"/>
          </p:cNvSpPr>
          <p:nvPr/>
        </p:nvSpPr>
        <p:spPr>
          <a:xfrm xmlns:a="http://schemas.openxmlformats.org/drawingml/2006/main">
            <a:off x="685800" y="440055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B4C1D1"/>
                </a:solidFill>
                <a:latin typeface="Avenir"/>
                <a:ea typeface="Avenir"/>
                <a:cs typeface="Avenir"/>
              </a:defRPr>
            </a:defPPr>
            <a:lvl1pPr algn="l">
              <a:defRPr sz="1650" b="0">
                <a:solidFill>
                  <a:srgbClr val="B4C1D1"/>
                </a:solidFill>
                <a:latin typeface="Avenir"/>
                <a:ea typeface="Avenir"/>
                <a:cs typeface="Avenir"/>
              </a:defRPr>
            </a:lvl1pPr>
            <a:lvl2pPr algn="l">
              <a:defRPr sz="1650" b="0">
                <a:solidFill>
                  <a:srgbClr val="B4C1D1"/>
                </a:solidFill>
                <a:latin typeface="Avenir"/>
                <a:ea typeface="Avenir"/>
                <a:cs typeface="Avenir"/>
              </a:defRPr>
            </a:lvl2pPr>
            <a:lvl3pPr algn="l">
              <a:defRPr sz="1650" b="0">
                <a:solidFill>
                  <a:srgbClr val="B4C1D1"/>
                </a:solidFill>
                <a:latin typeface="Avenir"/>
                <a:ea typeface="Avenir"/>
                <a:cs typeface="Avenir"/>
              </a:defRPr>
            </a:lvl3pPr>
            <a:lvl4pPr algn="l">
              <a:defRPr sz="1650" b="0">
                <a:solidFill>
                  <a:srgbClr val="B4C1D1"/>
                </a:solidFill>
                <a:latin typeface="Avenir"/>
                <a:ea typeface="Avenir"/>
                <a:cs typeface="Avenir"/>
              </a:defRPr>
            </a:lvl4pPr>
            <a:lvl5pPr algn="l">
              <a:defRPr sz="1650" b="0">
                <a:solidFill>
                  <a:srgbClr val="B4C1D1"/>
                </a:solidFill>
                <a:latin typeface="Avenir"/>
                <a:ea typeface="Avenir"/>
                <a:cs typeface="Avenir"/>
              </a:defRPr>
            </a:lvl5pPr>
            <a:lvl6pPr algn="l">
              <a:defRPr sz="1650" b="0">
                <a:solidFill>
                  <a:srgbClr val="B4C1D1"/>
                </a:solidFill>
                <a:latin typeface="Avenir"/>
                <a:ea typeface="Avenir"/>
                <a:cs typeface="Avenir"/>
              </a:defRPr>
            </a:lvl6pPr>
            <a:lvl7pPr algn="l">
              <a:defRPr sz="1650" b="0">
                <a:solidFill>
                  <a:srgbClr val="B4C1D1"/>
                </a:solidFill>
                <a:latin typeface="Avenir"/>
                <a:ea typeface="Avenir"/>
                <a:cs typeface="Avenir"/>
              </a:defRPr>
            </a:lvl7pPr>
            <a:lvl8pPr algn="l">
              <a:defRPr sz="1650" b="0">
                <a:solidFill>
                  <a:srgbClr val="B4C1D1"/>
                </a:solidFill>
                <a:latin typeface="Avenir"/>
                <a:ea typeface="Avenir"/>
                <a:cs typeface="Avenir"/>
              </a:defRPr>
            </a:lvl8pPr>
            <a:lvl9pPr algn="l">
              <a:defRPr sz="1650" b="0">
                <a:solidFill>
                  <a:srgbClr val="B4C1D1"/>
                </a:solidFill>
                <a:latin typeface="Avenir"/>
                <a:ea typeface="Avenir"/>
                <a:cs typeface="Avenir"/>
              </a:defRPr>
            </a:lvl9pPr>
          </a:lstStyle>
          <a:p xmlns:a="http://schemas.openxmlformats.org/drawingml/2006/main">
            <a:pPr algn="l">
              <a:lnSpc>
                <a:spcPct val="105000"/>
              </a:lnSpc>
              <a:buNone/>
              <a:defRPr sz="1650" b="0">
                <a:solidFill>
                  <a:srgbClr val="B4C1D1"/>
                </a:solidFill>
                <a:latin typeface="Avenir"/>
                <a:ea typeface="Avenir"/>
                <a:cs typeface="Avenir"/>
              </a:defRPr>
            </a:pPr>
            <a:r>
              <a:rPr sz="1650" b="0">
                <a:solidFill>
                  <a:srgbClr val="B4C1D1"/>
                </a:solidFill>
                <a:latin typeface="Avenir"/>
                <a:ea typeface="Avenir"/>
                <a:cs typeface="Avenir"/>
              </a:rPr>
              <a:t>Input: .py subset or existing .ir</a:t>
            </a:r>
          </a:p>
        </p:txBody>
      </p:sp>
      <p:sp>
        <p:nvSpPr>
          <p:cNvPr id="16" name="">
            <a:extLst xmlns:a="http://schemas.openxmlformats.org/drawingml/2006/main">
              <a:ext uri="{FF2B5EF4-FFF2-40B4-BE49-F238E27FC236}">
                <a16:creationId xmlns:a16="http://schemas.microsoft.com/office/drawing/2014/main" id="{6588DA3B-017D-4FB3-B3D2-24FA0DD5EBAB}"/>
              </a:ext>
            </a:extLst>
          </p:cNvPr>
          <p:cNvSpPr>
            <a:spLocks xmlns:a="http://schemas.openxmlformats.org/drawingml/2006/main" noGrp="1"/>
          </p:cNvSpPr>
          <p:nvPr/>
        </p:nvSpPr>
        <p:spPr>
          <a:xfrm xmlns:a="http://schemas.openxmlformats.org/drawingml/2006/main">
            <a:off x="685800" y="4914900"/>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F4F7FB"/>
                </a:solidFill>
                <a:latin typeface="Avenir"/>
                <a:ea typeface="Avenir"/>
                <a:cs typeface="Avenir"/>
              </a:defRPr>
            </a:defPPr>
            <a:lvl1pPr algn="l">
              <a:defRPr sz="1650" b="0">
                <a:solidFill>
                  <a:srgbClr val="F4F7FB"/>
                </a:solidFill>
                <a:latin typeface="Avenir"/>
                <a:ea typeface="Avenir"/>
                <a:cs typeface="Avenir"/>
              </a:defRPr>
            </a:lvl1pPr>
            <a:lvl2pPr algn="l">
              <a:defRPr sz="1650" b="0">
                <a:solidFill>
                  <a:srgbClr val="F4F7FB"/>
                </a:solidFill>
                <a:latin typeface="Avenir"/>
                <a:ea typeface="Avenir"/>
                <a:cs typeface="Avenir"/>
              </a:defRPr>
            </a:lvl2pPr>
            <a:lvl3pPr algn="l">
              <a:defRPr sz="1650" b="0">
                <a:solidFill>
                  <a:srgbClr val="F4F7FB"/>
                </a:solidFill>
                <a:latin typeface="Avenir"/>
                <a:ea typeface="Avenir"/>
                <a:cs typeface="Avenir"/>
              </a:defRPr>
            </a:lvl3pPr>
            <a:lvl4pPr algn="l">
              <a:defRPr sz="1650" b="0">
                <a:solidFill>
                  <a:srgbClr val="F4F7FB"/>
                </a:solidFill>
                <a:latin typeface="Avenir"/>
                <a:ea typeface="Avenir"/>
                <a:cs typeface="Avenir"/>
              </a:defRPr>
            </a:lvl4pPr>
            <a:lvl5pPr algn="l">
              <a:defRPr sz="1650" b="0">
                <a:solidFill>
                  <a:srgbClr val="F4F7FB"/>
                </a:solidFill>
                <a:latin typeface="Avenir"/>
                <a:ea typeface="Avenir"/>
                <a:cs typeface="Avenir"/>
              </a:defRPr>
            </a:lvl5pPr>
            <a:lvl6pPr algn="l">
              <a:defRPr sz="1650" b="0">
                <a:solidFill>
                  <a:srgbClr val="F4F7FB"/>
                </a:solidFill>
                <a:latin typeface="Avenir"/>
                <a:ea typeface="Avenir"/>
                <a:cs typeface="Avenir"/>
              </a:defRPr>
            </a:lvl6pPr>
            <a:lvl7pPr algn="l">
              <a:defRPr sz="1650" b="0">
                <a:solidFill>
                  <a:srgbClr val="F4F7FB"/>
                </a:solidFill>
                <a:latin typeface="Avenir"/>
                <a:ea typeface="Avenir"/>
                <a:cs typeface="Avenir"/>
              </a:defRPr>
            </a:lvl7pPr>
            <a:lvl8pPr algn="l">
              <a:defRPr sz="1650" b="0">
                <a:solidFill>
                  <a:srgbClr val="F4F7FB"/>
                </a:solidFill>
                <a:latin typeface="Avenir"/>
                <a:ea typeface="Avenir"/>
                <a:cs typeface="Avenir"/>
              </a:defRPr>
            </a:lvl8pPr>
            <a:lvl9pPr algn="l">
              <a:defRPr sz="1650" b="0">
                <a:solidFill>
                  <a:srgbClr val="F4F7FB"/>
                </a:solidFill>
                <a:latin typeface="Avenir"/>
                <a:ea typeface="Avenir"/>
                <a:cs typeface="Avenir"/>
              </a:defRPr>
            </a:lvl9pPr>
          </a:lstStyle>
          <a:p xmlns:a="http://schemas.openxmlformats.org/drawingml/2006/main">
            <a:pPr algn="l">
              <a:lnSpc>
                <a:spcPct val="105000"/>
              </a:lnSpc>
              <a:buNone/>
              <a:defRPr sz="1650" b="0">
                <a:solidFill>
                  <a:srgbClr val="F4F7FB"/>
                </a:solidFill>
                <a:latin typeface="Avenir"/>
                <a:ea typeface="Avenir"/>
                <a:cs typeface="Avenir"/>
              </a:defRPr>
            </a:pPr>
            <a:r>
              <a:rPr sz="1650" b="0">
                <a:solidFill>
                  <a:srgbClr val="F4F7FB"/>
                </a:solidFill>
                <a:latin typeface="Avenir"/>
                <a:ea typeface="Avenir"/>
                <a:cs typeface="Avenir"/>
              </a:rPr>
              <a:t>Output: program results plus compiler and VM statistics</a:t>
            </a:r>
          </a:p>
        </p:txBody>
      </p:sp>
    </p:spTree>
    <p:extLst>
      <p:ext uri="{BB962C8B-B14F-4D97-AF65-F5344CB8AC3E}">
        <p14:creationId xmlns:p14="http://schemas.microsoft.com/office/powerpoint/2010/main" val="12637426"/>
      </p:ext>
    </p:extLst>
  </p:cSld>
</p:sld>
</file>

<file path=ppt/slides/slide3.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D2F34C3-0534-43BB-B156-6D13E79EFF64}"/>
              </a:ext>
            </a:extLst>
          </p:cNvPr>
          <p:cNvSpPr>
            <a:spLocks xmlns:a="http://schemas.openxmlformats.org/drawingml/2006/main" noGrp="1"/>
          </p:cNvSpPr>
          <p:nvPr/>
        </p:nvSpPr>
        <p:spPr>
          <a:xfrm xmlns:a="http://schemas.openxmlformats.org/drawingml/2006/main">
            <a:off x="685800" y="4191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525" b="1">
                <a:solidFill>
                  <a:srgbClr val="F4F7FB"/>
                </a:solidFill>
                <a:latin typeface="Avenir"/>
                <a:ea typeface="Avenir"/>
                <a:cs typeface="Avenir"/>
              </a:defRPr>
            </a:defPPr>
            <a:lvl1pPr algn="l">
              <a:defRPr sz="3525" b="1">
                <a:solidFill>
                  <a:srgbClr val="F4F7FB"/>
                </a:solidFill>
                <a:latin typeface="Avenir"/>
                <a:ea typeface="Avenir"/>
                <a:cs typeface="Avenir"/>
              </a:defRPr>
            </a:lvl1pPr>
            <a:lvl2pPr algn="l">
              <a:defRPr sz="3525" b="1">
                <a:solidFill>
                  <a:srgbClr val="F4F7FB"/>
                </a:solidFill>
                <a:latin typeface="Avenir"/>
                <a:ea typeface="Avenir"/>
                <a:cs typeface="Avenir"/>
              </a:defRPr>
            </a:lvl2pPr>
            <a:lvl3pPr algn="l">
              <a:defRPr sz="3525" b="1">
                <a:solidFill>
                  <a:srgbClr val="F4F7FB"/>
                </a:solidFill>
                <a:latin typeface="Avenir"/>
                <a:ea typeface="Avenir"/>
                <a:cs typeface="Avenir"/>
              </a:defRPr>
            </a:lvl3pPr>
            <a:lvl4pPr algn="l">
              <a:defRPr sz="3525" b="1">
                <a:solidFill>
                  <a:srgbClr val="F4F7FB"/>
                </a:solidFill>
                <a:latin typeface="Avenir"/>
                <a:ea typeface="Avenir"/>
                <a:cs typeface="Avenir"/>
              </a:defRPr>
            </a:lvl4pPr>
            <a:lvl5pPr algn="l">
              <a:defRPr sz="3525" b="1">
                <a:solidFill>
                  <a:srgbClr val="F4F7FB"/>
                </a:solidFill>
                <a:latin typeface="Avenir"/>
                <a:ea typeface="Avenir"/>
                <a:cs typeface="Avenir"/>
              </a:defRPr>
            </a:lvl5pPr>
            <a:lvl6pPr algn="l">
              <a:defRPr sz="3525" b="1">
                <a:solidFill>
                  <a:srgbClr val="F4F7FB"/>
                </a:solidFill>
                <a:latin typeface="Avenir"/>
                <a:ea typeface="Avenir"/>
                <a:cs typeface="Avenir"/>
              </a:defRPr>
            </a:lvl6pPr>
            <a:lvl7pPr algn="l">
              <a:defRPr sz="3525" b="1">
                <a:solidFill>
                  <a:srgbClr val="F4F7FB"/>
                </a:solidFill>
                <a:latin typeface="Avenir"/>
                <a:ea typeface="Avenir"/>
                <a:cs typeface="Avenir"/>
              </a:defRPr>
            </a:lvl7pPr>
            <a:lvl8pPr algn="l">
              <a:defRPr sz="3525" b="1">
                <a:solidFill>
                  <a:srgbClr val="F4F7FB"/>
                </a:solidFill>
                <a:latin typeface="Avenir"/>
                <a:ea typeface="Avenir"/>
                <a:cs typeface="Avenir"/>
              </a:defRPr>
            </a:lvl8pPr>
            <a:lvl9pPr algn="l">
              <a:defRPr sz="3525" b="1">
                <a:solidFill>
                  <a:srgbClr val="F4F7FB"/>
                </a:solidFill>
                <a:latin typeface="Avenir"/>
                <a:ea typeface="Avenir"/>
                <a:cs typeface="Avenir"/>
              </a:defRPr>
            </a:lvl9pPr>
          </a:lstStyle>
          <a:p xmlns:a="http://schemas.openxmlformats.org/drawingml/2006/main">
            <a:pPr algn="l">
              <a:lnSpc>
                <a:spcPct val="105000"/>
              </a:lnSpc>
              <a:buNone/>
              <a:defRPr sz="3525" b="1">
                <a:solidFill>
                  <a:srgbClr val="F4F7FB"/>
                </a:solidFill>
                <a:latin typeface="Avenir"/>
                <a:ea typeface="Avenir"/>
                <a:cs typeface="Avenir"/>
              </a:defRPr>
            </a:pPr>
            <a:r>
              <a:rPr sz="3525" b="1">
                <a:solidFill>
                  <a:srgbClr val="F4F7FB"/>
                </a:solidFill>
                <a:latin typeface="Avenir"/>
                <a:ea typeface="Avenir"/>
                <a:cs typeface="Avenir"/>
              </a:rPr>
              <a:t>Supported language and boundary</a:t>
            </a:r>
          </a:p>
        </p:txBody>
      </p:sp>
      <p:sp>
        <p:nvSpPr>
          <p:cNvPr id="2" name="">
            <a:extLst xmlns:a="http://schemas.openxmlformats.org/drawingml/2006/main">
              <a:ext uri="{FF2B5EF4-FFF2-40B4-BE49-F238E27FC236}">
                <a16:creationId xmlns:a16="http://schemas.microsoft.com/office/drawing/2014/main" id="{7012A02E-2626-4505-A665-49E0DE0F22B2}"/>
              </a:ext>
            </a:extLst>
          </p:cNvPr>
          <p:cNvSpPr>
            <a:spLocks xmlns:a="http://schemas.openxmlformats.org/drawingml/2006/main" noGrp="1"/>
          </p:cNvSpPr>
          <p:nvPr/>
        </p:nvSpPr>
        <p:spPr>
          <a:xfrm xmlns:a="http://schemas.openxmlformats.org/drawingml/2006/main">
            <a:off x="685800" y="1162050"/>
            <a:ext cx="819150" cy="38100"/>
          </a:xfrm>
          <a:prstGeom xmlns:a="http://schemas.openxmlformats.org/drawingml/2006/main" prst="rect">
            <a:avLst/>
          </a:prstGeom>
          <a:solidFill xmlns:a="http://schemas.openxmlformats.org/drawingml/2006/main">
            <a:srgbClr val="5AD6E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4D94BC0-4827-4A1C-A928-7320483A4479}"/>
              </a:ext>
            </a:extLst>
          </p:cNvPr>
          <p:cNvSpPr>
            <a:spLocks xmlns:a="http://schemas.openxmlformats.org/drawingml/2006/main" noGrp="1"/>
          </p:cNvSpPr>
          <p:nvPr/>
        </p:nvSpPr>
        <p:spPr>
          <a:xfrm xmlns:a="http://schemas.openxmlformats.org/drawingml/2006/main">
            <a:off x="685800" y="13906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B4C1D1"/>
                </a:solidFill>
                <a:latin typeface="Avenir"/>
                <a:ea typeface="Avenir"/>
                <a:cs typeface="Avenir"/>
              </a:defRPr>
            </a:defPPr>
            <a:lvl1pPr algn="l">
              <a:defRPr sz="1725" b="0">
                <a:solidFill>
                  <a:srgbClr val="B4C1D1"/>
                </a:solidFill>
                <a:latin typeface="Avenir"/>
                <a:ea typeface="Avenir"/>
                <a:cs typeface="Avenir"/>
              </a:defRPr>
            </a:lvl1pPr>
            <a:lvl2pPr algn="l">
              <a:defRPr sz="1725" b="0">
                <a:solidFill>
                  <a:srgbClr val="B4C1D1"/>
                </a:solidFill>
                <a:latin typeface="Avenir"/>
                <a:ea typeface="Avenir"/>
                <a:cs typeface="Avenir"/>
              </a:defRPr>
            </a:lvl2pPr>
            <a:lvl3pPr algn="l">
              <a:defRPr sz="1725" b="0">
                <a:solidFill>
                  <a:srgbClr val="B4C1D1"/>
                </a:solidFill>
                <a:latin typeface="Avenir"/>
                <a:ea typeface="Avenir"/>
                <a:cs typeface="Avenir"/>
              </a:defRPr>
            </a:lvl3pPr>
            <a:lvl4pPr algn="l">
              <a:defRPr sz="1725" b="0">
                <a:solidFill>
                  <a:srgbClr val="B4C1D1"/>
                </a:solidFill>
                <a:latin typeface="Avenir"/>
                <a:ea typeface="Avenir"/>
                <a:cs typeface="Avenir"/>
              </a:defRPr>
            </a:lvl4pPr>
            <a:lvl5pPr algn="l">
              <a:defRPr sz="1725" b="0">
                <a:solidFill>
                  <a:srgbClr val="B4C1D1"/>
                </a:solidFill>
                <a:latin typeface="Avenir"/>
                <a:ea typeface="Avenir"/>
                <a:cs typeface="Avenir"/>
              </a:defRPr>
            </a:lvl5pPr>
            <a:lvl6pPr algn="l">
              <a:defRPr sz="1725" b="0">
                <a:solidFill>
                  <a:srgbClr val="B4C1D1"/>
                </a:solidFill>
                <a:latin typeface="Avenir"/>
                <a:ea typeface="Avenir"/>
                <a:cs typeface="Avenir"/>
              </a:defRPr>
            </a:lvl6pPr>
            <a:lvl7pPr algn="l">
              <a:defRPr sz="1725" b="0">
                <a:solidFill>
                  <a:srgbClr val="B4C1D1"/>
                </a:solidFill>
                <a:latin typeface="Avenir"/>
                <a:ea typeface="Avenir"/>
                <a:cs typeface="Avenir"/>
              </a:defRPr>
            </a:lvl7pPr>
            <a:lvl8pPr algn="l">
              <a:defRPr sz="1725" b="0">
                <a:solidFill>
                  <a:srgbClr val="B4C1D1"/>
                </a:solidFill>
                <a:latin typeface="Avenir"/>
                <a:ea typeface="Avenir"/>
                <a:cs typeface="Avenir"/>
              </a:defRPr>
            </a:lvl8pPr>
            <a:lvl9pPr algn="l">
              <a:defRPr sz="1725" b="0">
                <a:solidFill>
                  <a:srgbClr val="B4C1D1"/>
                </a:solidFill>
                <a:latin typeface="Avenir"/>
                <a:ea typeface="Avenir"/>
                <a:cs typeface="Avenir"/>
              </a:defRPr>
            </a:lvl9pPr>
          </a:lstStyle>
          <a:p xmlns:a="http://schemas.openxmlformats.org/drawingml/2006/main">
            <a:pPr algn="l">
              <a:lnSpc>
                <a:spcPct val="105000"/>
              </a:lnSpc>
              <a:buNone/>
              <a:defRPr sz="1725" b="0">
                <a:solidFill>
                  <a:srgbClr val="B4C1D1"/>
                </a:solidFill>
                <a:latin typeface="Avenir"/>
                <a:ea typeface="Avenir"/>
                <a:cs typeface="Avenir"/>
              </a:defRPr>
            </a:pPr>
            <a:r>
              <a:rPr sz="1725" b="0">
                <a:solidFill>
                  <a:srgbClr val="B4C1D1"/>
                </a:solidFill>
                <a:latin typeface="Avenir"/>
                <a:ea typeface="Avenir"/>
                <a:cs typeface="Avenir"/>
              </a:rPr>
              <a:t>The frontend accepts a deliberate, testable subset of Python.</a:t>
            </a:r>
          </a:p>
        </p:txBody>
      </p:sp>
      <p:sp>
        <p:nvSpPr>
          <p:cNvPr id="4" name="">
            <a:extLst xmlns:a="http://schemas.openxmlformats.org/drawingml/2006/main">
              <a:ext uri="{FF2B5EF4-FFF2-40B4-BE49-F238E27FC236}">
                <a16:creationId xmlns:a16="http://schemas.microsoft.com/office/drawing/2014/main" id="{821D23A0-E563-4942-9477-7861091C0846}"/>
              </a:ext>
            </a:extLst>
          </p:cNvPr>
          <p:cNvSpPr>
            <a:spLocks xmlns:a="http://schemas.openxmlformats.org/drawingml/2006/main" noGrp="1"/>
          </p:cNvSpPr>
          <p:nvPr/>
        </p:nvSpPr>
        <p:spPr>
          <a:xfrm xmlns:a="http://schemas.openxmlformats.org/drawingml/2006/main">
            <a:off x="762000" y="219075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9BE3BD"/>
                </a:solidFill>
                <a:latin typeface="Avenir"/>
                <a:ea typeface="Avenir"/>
                <a:cs typeface="Avenir"/>
              </a:defRPr>
            </a:defPPr>
            <a:lvl1pPr algn="l">
              <a:defRPr sz="1425" b="1">
                <a:solidFill>
                  <a:srgbClr val="9BE3BD"/>
                </a:solidFill>
                <a:latin typeface="Avenir"/>
                <a:ea typeface="Avenir"/>
                <a:cs typeface="Avenir"/>
              </a:defRPr>
            </a:lvl1pPr>
            <a:lvl2pPr algn="l">
              <a:defRPr sz="1425" b="1">
                <a:solidFill>
                  <a:srgbClr val="9BE3BD"/>
                </a:solidFill>
                <a:latin typeface="Avenir"/>
                <a:ea typeface="Avenir"/>
                <a:cs typeface="Avenir"/>
              </a:defRPr>
            </a:lvl2pPr>
            <a:lvl3pPr algn="l">
              <a:defRPr sz="1425" b="1">
                <a:solidFill>
                  <a:srgbClr val="9BE3BD"/>
                </a:solidFill>
                <a:latin typeface="Avenir"/>
                <a:ea typeface="Avenir"/>
                <a:cs typeface="Avenir"/>
              </a:defRPr>
            </a:lvl3pPr>
            <a:lvl4pPr algn="l">
              <a:defRPr sz="1425" b="1">
                <a:solidFill>
                  <a:srgbClr val="9BE3BD"/>
                </a:solidFill>
                <a:latin typeface="Avenir"/>
                <a:ea typeface="Avenir"/>
                <a:cs typeface="Avenir"/>
              </a:defRPr>
            </a:lvl4pPr>
            <a:lvl5pPr algn="l">
              <a:defRPr sz="1425" b="1">
                <a:solidFill>
                  <a:srgbClr val="9BE3BD"/>
                </a:solidFill>
                <a:latin typeface="Avenir"/>
                <a:ea typeface="Avenir"/>
                <a:cs typeface="Avenir"/>
              </a:defRPr>
            </a:lvl5pPr>
            <a:lvl6pPr algn="l">
              <a:defRPr sz="1425" b="1">
                <a:solidFill>
                  <a:srgbClr val="9BE3BD"/>
                </a:solidFill>
                <a:latin typeface="Avenir"/>
                <a:ea typeface="Avenir"/>
                <a:cs typeface="Avenir"/>
              </a:defRPr>
            </a:lvl6pPr>
            <a:lvl7pPr algn="l">
              <a:defRPr sz="1425" b="1">
                <a:solidFill>
                  <a:srgbClr val="9BE3BD"/>
                </a:solidFill>
                <a:latin typeface="Avenir"/>
                <a:ea typeface="Avenir"/>
                <a:cs typeface="Avenir"/>
              </a:defRPr>
            </a:lvl7pPr>
            <a:lvl8pPr algn="l">
              <a:defRPr sz="1425" b="1">
                <a:solidFill>
                  <a:srgbClr val="9BE3BD"/>
                </a:solidFill>
                <a:latin typeface="Avenir"/>
                <a:ea typeface="Avenir"/>
                <a:cs typeface="Avenir"/>
              </a:defRPr>
            </a:lvl8pPr>
            <a:lvl9pPr algn="l">
              <a:defRPr sz="1425" b="1">
                <a:solidFill>
                  <a:srgbClr val="9BE3BD"/>
                </a:solidFill>
                <a:latin typeface="Avenir"/>
                <a:ea typeface="Avenir"/>
                <a:cs typeface="Avenir"/>
              </a:defRPr>
            </a:lvl9pPr>
          </a:lstStyle>
          <a:p xmlns:a="http://schemas.openxmlformats.org/drawingml/2006/main">
            <a:pPr algn="l">
              <a:lnSpc>
                <a:spcPct val="105000"/>
              </a:lnSpc>
              <a:buNone/>
              <a:defRPr sz="1425" b="1">
                <a:solidFill>
                  <a:srgbClr val="9BE3BD"/>
                </a:solidFill>
                <a:latin typeface="Avenir"/>
                <a:ea typeface="Avenir"/>
                <a:cs typeface="Avenir"/>
              </a:defRPr>
            </a:pPr>
            <a:r>
              <a:rPr sz="1425" b="1">
                <a:solidFill>
                  <a:srgbClr val="9BE3BD"/>
                </a:solidFill>
                <a:latin typeface="Avenir"/>
                <a:ea typeface="Avenir"/>
                <a:cs typeface="Avenir"/>
              </a:rPr>
              <a:t>SUPPORTED</a:t>
            </a:r>
          </a:p>
        </p:txBody>
      </p:sp>
      <p:sp>
        <p:nvSpPr>
          <p:cNvPr id="5" name="">
            <a:extLst xmlns:a="http://schemas.openxmlformats.org/drawingml/2006/main">
              <a:ext uri="{FF2B5EF4-FFF2-40B4-BE49-F238E27FC236}">
                <a16:creationId xmlns:a16="http://schemas.microsoft.com/office/drawing/2014/main" id="{4296BD76-E514-4DB6-97D0-9419D9489577}"/>
              </a:ext>
            </a:extLst>
          </p:cNvPr>
          <p:cNvSpPr>
            <a:spLocks xmlns:a="http://schemas.openxmlformats.org/drawingml/2006/main" noGrp="1"/>
          </p:cNvSpPr>
          <p:nvPr/>
        </p:nvSpPr>
        <p:spPr>
          <a:xfrm xmlns:a="http://schemas.openxmlformats.org/drawingml/2006/main">
            <a:off x="762000" y="2686050"/>
            <a:ext cx="4714875" cy="2438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F4F7FB"/>
                </a:solidFill>
                <a:latin typeface="Avenir"/>
                <a:ea typeface="Avenir"/>
                <a:cs typeface="Avenir"/>
              </a:defRPr>
            </a:defPPr>
            <a:lvl1pPr algn="l">
              <a:defRPr sz="1875" b="0">
                <a:solidFill>
                  <a:srgbClr val="F4F7FB"/>
                </a:solidFill>
                <a:latin typeface="Avenir"/>
                <a:ea typeface="Avenir"/>
                <a:cs typeface="Avenir"/>
              </a:defRPr>
            </a:lvl1pPr>
            <a:lvl2pPr algn="l">
              <a:defRPr sz="1875" b="0">
                <a:solidFill>
                  <a:srgbClr val="F4F7FB"/>
                </a:solidFill>
                <a:latin typeface="Avenir"/>
                <a:ea typeface="Avenir"/>
                <a:cs typeface="Avenir"/>
              </a:defRPr>
            </a:lvl2pPr>
            <a:lvl3pPr algn="l">
              <a:defRPr sz="1875" b="0">
                <a:solidFill>
                  <a:srgbClr val="F4F7FB"/>
                </a:solidFill>
                <a:latin typeface="Avenir"/>
                <a:ea typeface="Avenir"/>
                <a:cs typeface="Avenir"/>
              </a:defRPr>
            </a:lvl3pPr>
            <a:lvl4pPr algn="l">
              <a:defRPr sz="1875" b="0">
                <a:solidFill>
                  <a:srgbClr val="F4F7FB"/>
                </a:solidFill>
                <a:latin typeface="Avenir"/>
                <a:ea typeface="Avenir"/>
                <a:cs typeface="Avenir"/>
              </a:defRPr>
            </a:lvl4pPr>
            <a:lvl5pPr algn="l">
              <a:defRPr sz="1875" b="0">
                <a:solidFill>
                  <a:srgbClr val="F4F7FB"/>
                </a:solidFill>
                <a:latin typeface="Avenir"/>
                <a:ea typeface="Avenir"/>
                <a:cs typeface="Avenir"/>
              </a:defRPr>
            </a:lvl5pPr>
            <a:lvl6pPr algn="l">
              <a:defRPr sz="1875" b="0">
                <a:solidFill>
                  <a:srgbClr val="F4F7FB"/>
                </a:solidFill>
                <a:latin typeface="Avenir"/>
                <a:ea typeface="Avenir"/>
                <a:cs typeface="Avenir"/>
              </a:defRPr>
            </a:lvl6pPr>
            <a:lvl7pPr algn="l">
              <a:defRPr sz="1875" b="0">
                <a:solidFill>
                  <a:srgbClr val="F4F7FB"/>
                </a:solidFill>
                <a:latin typeface="Avenir"/>
                <a:ea typeface="Avenir"/>
                <a:cs typeface="Avenir"/>
              </a:defRPr>
            </a:lvl7pPr>
            <a:lvl8pPr algn="l">
              <a:defRPr sz="1875" b="0">
                <a:solidFill>
                  <a:srgbClr val="F4F7FB"/>
                </a:solidFill>
                <a:latin typeface="Avenir"/>
                <a:ea typeface="Avenir"/>
                <a:cs typeface="Avenir"/>
              </a:defRPr>
            </a:lvl8pPr>
            <a:lvl9pPr algn="l">
              <a:defRPr sz="1875" b="0">
                <a:solidFill>
                  <a:srgbClr val="F4F7FB"/>
                </a:solidFill>
                <a:latin typeface="Avenir"/>
                <a:ea typeface="Avenir"/>
                <a:cs typeface="Avenir"/>
              </a:defRPr>
            </a:lvl9pPr>
          </a:lstStyle>
          <a:p xmlns:a="http://schemas.openxmlformats.org/drawingml/2006/main">
            <a:pPr algn="l">
              <a:lnSpc>
                <a:spcPct val="118000"/>
              </a:lnSpc>
              <a:buNone/>
              <a:defRPr sz="1875" b="0">
                <a:solidFill>
                  <a:srgbClr val="F4F7FB"/>
                </a:solidFill>
                <a:latin typeface="Avenir"/>
                <a:ea typeface="Avenir"/>
                <a:cs typeface="Avenir"/>
              </a:defRPr>
            </a:pPr>
            <a:r>
              <a:rPr sz="1875" b="0">
                <a:solidFill>
                  <a:srgbClr val="F4F7FB"/>
                </a:solidFill>
                <a:latin typeface="Avenir"/>
                <a:ea typeface="Avenir"/>
                <a:cs typeface="Avenir"/>
              </a:rPr>
              <a:t>Integers and local variables</a:t>
            </a:r>
          </a:p>
          <a:p xmlns:a="http://schemas.openxmlformats.org/drawingml/2006/main">
            <a:pPr algn="l">
              <a:lnSpc>
                <a:spcPct val="118000"/>
              </a:lnSpc>
              <a:buNone/>
              <a:defRPr sz="1875" b="0">
                <a:solidFill>
                  <a:srgbClr val="F4F7FB"/>
                </a:solidFill>
                <a:latin typeface="Avenir"/>
                <a:ea typeface="Avenir"/>
                <a:cs typeface="Avenir"/>
              </a:defRPr>
            </a:pPr>
            <a:r>
              <a:rPr sz="1875" b="0">
                <a:solidFill>
                  <a:srgbClr val="F4F7FB"/>
                </a:solidFill>
                <a:latin typeface="Avenir"/>
                <a:ea typeface="Avenir"/>
                <a:cs typeface="Avenir"/>
              </a:rPr>
              <a:t>Arithmetic, floor division, modulo</a:t>
            </a:r>
          </a:p>
          <a:p xmlns:a="http://schemas.openxmlformats.org/drawingml/2006/main">
            <a:pPr algn="l">
              <a:lnSpc>
                <a:spcPct val="118000"/>
              </a:lnSpc>
              <a:buNone/>
              <a:defRPr sz="1875" b="0">
                <a:solidFill>
                  <a:srgbClr val="F4F7FB"/>
                </a:solidFill>
                <a:latin typeface="Avenir"/>
                <a:ea typeface="Avenir"/>
                <a:cs typeface="Avenir"/>
              </a:defRPr>
            </a:pPr>
            <a:r>
              <a:rPr sz="1875" b="0">
                <a:solidFill>
                  <a:srgbClr val="F4F7FB"/>
                </a:solidFill>
                <a:latin typeface="Avenir"/>
                <a:ea typeface="Avenir"/>
                <a:cs typeface="Avenir"/>
              </a:rPr>
              <a:t>Comparisons, if/else, while, range loops</a:t>
            </a:r>
          </a:p>
          <a:p xmlns:a="http://schemas.openxmlformats.org/drawingml/2006/main">
            <a:pPr algn="l">
              <a:lnSpc>
                <a:spcPct val="118000"/>
              </a:lnSpc>
              <a:buNone/>
              <a:defRPr sz="1875" b="0">
                <a:solidFill>
                  <a:srgbClr val="F4F7FB"/>
                </a:solidFill>
                <a:latin typeface="Avenir"/>
                <a:ea typeface="Avenir"/>
                <a:cs typeface="Avenir"/>
              </a:defRPr>
            </a:pPr>
            <a:r>
              <a:rPr sz="1875" b="0">
                <a:solidFill>
                  <a:srgbClr val="F4F7FB"/>
                </a:solidFill>
                <a:latin typeface="Avenir"/>
                <a:ea typeface="Avenir"/>
                <a:cs typeface="Avenir"/>
              </a:rPr>
              <a:t>Functions, recursion, integer returns</a:t>
            </a:r>
          </a:p>
          <a:p xmlns:a="http://schemas.openxmlformats.org/drawingml/2006/main">
            <a:pPr algn="l">
              <a:lnSpc>
                <a:spcPct val="118000"/>
              </a:lnSpc>
              <a:buNone/>
              <a:defRPr sz="1875" b="0">
                <a:solidFill>
                  <a:srgbClr val="F4F7FB"/>
                </a:solidFill>
                <a:latin typeface="Avenir"/>
                <a:ea typeface="Avenir"/>
                <a:cs typeface="Avenir"/>
              </a:defRPr>
            </a:pPr>
            <a:r>
              <a:rPr sz="1875" b="0">
                <a:solidFill>
                  <a:srgbClr val="F4F7FB"/>
                </a:solidFill>
                <a:latin typeface="Avenir"/>
                <a:ea typeface="Avenir"/>
                <a:cs typeface="Avenir"/>
              </a:rPr>
              <a:t>Single-value print statements</a:t>
            </a:r>
          </a:p>
        </p:txBody>
      </p:sp>
      <p:sp>
        <p:nvSpPr>
          <p:cNvPr id="6" name="">
            <a:extLst xmlns:a="http://schemas.openxmlformats.org/drawingml/2006/main">
              <a:ext uri="{FF2B5EF4-FFF2-40B4-BE49-F238E27FC236}">
                <a16:creationId xmlns:a16="http://schemas.microsoft.com/office/drawing/2014/main" id="{0F8762F9-34FB-42BE-8EB0-BCC8641245BE}"/>
              </a:ext>
            </a:extLst>
          </p:cNvPr>
          <p:cNvSpPr>
            <a:spLocks xmlns:a="http://schemas.openxmlformats.org/drawingml/2006/main" noGrp="1"/>
          </p:cNvSpPr>
          <p:nvPr/>
        </p:nvSpPr>
        <p:spPr>
          <a:xfrm xmlns:a="http://schemas.openxmlformats.org/drawingml/2006/main">
            <a:off x="6019800" y="2152650"/>
            <a:ext cx="19050" cy="3448050"/>
          </a:xfrm>
          <a:prstGeom xmlns:a="http://schemas.openxmlformats.org/drawingml/2006/main" prst="rect">
            <a:avLst/>
          </a:prstGeom>
          <a:solidFill xmlns:a="http://schemas.openxmlformats.org/drawingml/2006/main">
            <a:srgbClr val="47607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7212FFE-B6F1-4116-BF9D-613711379786}"/>
              </a:ext>
            </a:extLst>
          </p:cNvPr>
          <p:cNvSpPr>
            <a:spLocks xmlns:a="http://schemas.openxmlformats.org/drawingml/2006/main" noGrp="1"/>
          </p:cNvSpPr>
          <p:nvPr/>
        </p:nvSpPr>
        <p:spPr>
          <a:xfrm xmlns:a="http://schemas.openxmlformats.org/drawingml/2006/main">
            <a:off x="6572250" y="2190750"/>
            <a:ext cx="4810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FFC86A"/>
                </a:solidFill>
                <a:latin typeface="Avenir"/>
                <a:ea typeface="Avenir"/>
                <a:cs typeface="Avenir"/>
              </a:defRPr>
            </a:defPPr>
            <a:lvl1pPr algn="l">
              <a:defRPr sz="1425" b="1">
                <a:solidFill>
                  <a:srgbClr val="FFC86A"/>
                </a:solidFill>
                <a:latin typeface="Avenir"/>
                <a:ea typeface="Avenir"/>
                <a:cs typeface="Avenir"/>
              </a:defRPr>
            </a:lvl1pPr>
            <a:lvl2pPr algn="l">
              <a:defRPr sz="1425" b="1">
                <a:solidFill>
                  <a:srgbClr val="FFC86A"/>
                </a:solidFill>
                <a:latin typeface="Avenir"/>
                <a:ea typeface="Avenir"/>
                <a:cs typeface="Avenir"/>
              </a:defRPr>
            </a:lvl2pPr>
            <a:lvl3pPr algn="l">
              <a:defRPr sz="1425" b="1">
                <a:solidFill>
                  <a:srgbClr val="FFC86A"/>
                </a:solidFill>
                <a:latin typeface="Avenir"/>
                <a:ea typeface="Avenir"/>
                <a:cs typeface="Avenir"/>
              </a:defRPr>
            </a:lvl3pPr>
            <a:lvl4pPr algn="l">
              <a:defRPr sz="1425" b="1">
                <a:solidFill>
                  <a:srgbClr val="FFC86A"/>
                </a:solidFill>
                <a:latin typeface="Avenir"/>
                <a:ea typeface="Avenir"/>
                <a:cs typeface="Avenir"/>
              </a:defRPr>
            </a:lvl4pPr>
            <a:lvl5pPr algn="l">
              <a:defRPr sz="1425" b="1">
                <a:solidFill>
                  <a:srgbClr val="FFC86A"/>
                </a:solidFill>
                <a:latin typeface="Avenir"/>
                <a:ea typeface="Avenir"/>
                <a:cs typeface="Avenir"/>
              </a:defRPr>
            </a:lvl5pPr>
            <a:lvl6pPr algn="l">
              <a:defRPr sz="1425" b="1">
                <a:solidFill>
                  <a:srgbClr val="FFC86A"/>
                </a:solidFill>
                <a:latin typeface="Avenir"/>
                <a:ea typeface="Avenir"/>
                <a:cs typeface="Avenir"/>
              </a:defRPr>
            </a:lvl6pPr>
            <a:lvl7pPr algn="l">
              <a:defRPr sz="1425" b="1">
                <a:solidFill>
                  <a:srgbClr val="FFC86A"/>
                </a:solidFill>
                <a:latin typeface="Avenir"/>
                <a:ea typeface="Avenir"/>
                <a:cs typeface="Avenir"/>
              </a:defRPr>
            </a:lvl7pPr>
            <a:lvl8pPr algn="l">
              <a:defRPr sz="1425" b="1">
                <a:solidFill>
                  <a:srgbClr val="FFC86A"/>
                </a:solidFill>
                <a:latin typeface="Avenir"/>
                <a:ea typeface="Avenir"/>
                <a:cs typeface="Avenir"/>
              </a:defRPr>
            </a:lvl8pPr>
            <a:lvl9pPr algn="l">
              <a:defRPr sz="1425" b="1">
                <a:solidFill>
                  <a:srgbClr val="FFC86A"/>
                </a:solidFill>
                <a:latin typeface="Avenir"/>
                <a:ea typeface="Avenir"/>
                <a:cs typeface="Avenir"/>
              </a:defRPr>
            </a:lvl9pPr>
          </a:lstStyle>
          <a:p xmlns:a="http://schemas.openxmlformats.org/drawingml/2006/main">
            <a:pPr algn="l">
              <a:lnSpc>
                <a:spcPct val="105000"/>
              </a:lnSpc>
              <a:buNone/>
              <a:defRPr sz="1425" b="1">
                <a:solidFill>
                  <a:srgbClr val="FFC86A"/>
                </a:solidFill>
                <a:latin typeface="Avenir"/>
                <a:ea typeface="Avenir"/>
                <a:cs typeface="Avenir"/>
              </a:defRPr>
            </a:pPr>
            <a:r>
              <a:rPr sz="1425" b="1">
                <a:solidFill>
                  <a:srgbClr val="FFC86A"/>
                </a:solidFill>
                <a:latin typeface="Avenir"/>
                <a:ea typeface="Avenir"/>
                <a:cs typeface="Avenir"/>
              </a:rPr>
              <a:t>OUTSIDE THIS SUBSET</a:t>
            </a:r>
          </a:p>
        </p:txBody>
      </p:sp>
      <p:sp>
        <p:nvSpPr>
          <p:cNvPr id="8" name="">
            <a:extLst xmlns:a="http://schemas.openxmlformats.org/drawingml/2006/main">
              <a:ext uri="{FF2B5EF4-FFF2-40B4-BE49-F238E27FC236}">
                <a16:creationId xmlns:a16="http://schemas.microsoft.com/office/drawing/2014/main" id="{42CEF991-89D1-471D-97FB-D0CFFFA8F553}"/>
              </a:ext>
            </a:extLst>
          </p:cNvPr>
          <p:cNvSpPr>
            <a:spLocks xmlns:a="http://schemas.openxmlformats.org/drawingml/2006/main" noGrp="1"/>
          </p:cNvSpPr>
          <p:nvPr/>
        </p:nvSpPr>
        <p:spPr>
          <a:xfrm xmlns:a="http://schemas.openxmlformats.org/drawingml/2006/main">
            <a:off x="6572250" y="2686050"/>
            <a:ext cx="4857750" cy="2438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F4F7FB"/>
                </a:solidFill>
                <a:latin typeface="Avenir"/>
                <a:ea typeface="Avenir"/>
                <a:cs typeface="Avenir"/>
              </a:defRPr>
            </a:defPPr>
            <a:lvl1pPr algn="l">
              <a:defRPr sz="1875" b="0">
                <a:solidFill>
                  <a:srgbClr val="F4F7FB"/>
                </a:solidFill>
                <a:latin typeface="Avenir"/>
                <a:ea typeface="Avenir"/>
                <a:cs typeface="Avenir"/>
              </a:defRPr>
            </a:lvl1pPr>
            <a:lvl2pPr algn="l">
              <a:defRPr sz="1875" b="0">
                <a:solidFill>
                  <a:srgbClr val="F4F7FB"/>
                </a:solidFill>
                <a:latin typeface="Avenir"/>
                <a:ea typeface="Avenir"/>
                <a:cs typeface="Avenir"/>
              </a:defRPr>
            </a:lvl2pPr>
            <a:lvl3pPr algn="l">
              <a:defRPr sz="1875" b="0">
                <a:solidFill>
                  <a:srgbClr val="F4F7FB"/>
                </a:solidFill>
                <a:latin typeface="Avenir"/>
                <a:ea typeface="Avenir"/>
                <a:cs typeface="Avenir"/>
              </a:defRPr>
            </a:lvl3pPr>
            <a:lvl4pPr algn="l">
              <a:defRPr sz="1875" b="0">
                <a:solidFill>
                  <a:srgbClr val="F4F7FB"/>
                </a:solidFill>
                <a:latin typeface="Avenir"/>
                <a:ea typeface="Avenir"/>
                <a:cs typeface="Avenir"/>
              </a:defRPr>
            </a:lvl4pPr>
            <a:lvl5pPr algn="l">
              <a:defRPr sz="1875" b="0">
                <a:solidFill>
                  <a:srgbClr val="F4F7FB"/>
                </a:solidFill>
                <a:latin typeface="Avenir"/>
                <a:ea typeface="Avenir"/>
                <a:cs typeface="Avenir"/>
              </a:defRPr>
            </a:lvl5pPr>
            <a:lvl6pPr algn="l">
              <a:defRPr sz="1875" b="0">
                <a:solidFill>
                  <a:srgbClr val="F4F7FB"/>
                </a:solidFill>
                <a:latin typeface="Avenir"/>
                <a:ea typeface="Avenir"/>
                <a:cs typeface="Avenir"/>
              </a:defRPr>
            </a:lvl6pPr>
            <a:lvl7pPr algn="l">
              <a:defRPr sz="1875" b="0">
                <a:solidFill>
                  <a:srgbClr val="F4F7FB"/>
                </a:solidFill>
                <a:latin typeface="Avenir"/>
                <a:ea typeface="Avenir"/>
                <a:cs typeface="Avenir"/>
              </a:defRPr>
            </a:lvl7pPr>
            <a:lvl8pPr algn="l">
              <a:defRPr sz="1875" b="0">
                <a:solidFill>
                  <a:srgbClr val="F4F7FB"/>
                </a:solidFill>
                <a:latin typeface="Avenir"/>
                <a:ea typeface="Avenir"/>
                <a:cs typeface="Avenir"/>
              </a:defRPr>
            </a:lvl8pPr>
            <a:lvl9pPr algn="l">
              <a:defRPr sz="1875" b="0">
                <a:solidFill>
                  <a:srgbClr val="F4F7FB"/>
                </a:solidFill>
                <a:latin typeface="Avenir"/>
                <a:ea typeface="Avenir"/>
                <a:cs typeface="Avenir"/>
              </a:defRPr>
            </a:lvl9pPr>
          </a:lstStyle>
          <a:p xmlns:a="http://schemas.openxmlformats.org/drawingml/2006/main">
            <a:pPr algn="l">
              <a:lnSpc>
                <a:spcPct val="118000"/>
              </a:lnSpc>
              <a:buNone/>
              <a:defRPr sz="1875" b="0">
                <a:solidFill>
                  <a:srgbClr val="F4F7FB"/>
                </a:solidFill>
                <a:latin typeface="Avenir"/>
                <a:ea typeface="Avenir"/>
                <a:cs typeface="Avenir"/>
              </a:defRPr>
            </a:pPr>
            <a:r>
              <a:rPr sz="1875" b="0">
                <a:solidFill>
                  <a:srgbClr val="F4F7FB"/>
                </a:solidFill>
                <a:latin typeface="Avenir"/>
                <a:ea typeface="Avenir"/>
                <a:cs typeface="Avenir"/>
              </a:rPr>
              <a:t>Floats and dynamic objects</a:t>
            </a:r>
          </a:p>
          <a:p xmlns:a="http://schemas.openxmlformats.org/drawingml/2006/main">
            <a:pPr algn="l">
              <a:lnSpc>
                <a:spcPct val="118000"/>
              </a:lnSpc>
              <a:buNone/>
              <a:defRPr sz="1875" b="0">
                <a:solidFill>
                  <a:srgbClr val="F4F7FB"/>
                </a:solidFill>
                <a:latin typeface="Avenir"/>
                <a:ea typeface="Avenir"/>
                <a:cs typeface="Avenir"/>
              </a:defRPr>
            </a:pPr>
            <a:r>
              <a:rPr sz="1875" b="0">
                <a:solidFill>
                  <a:srgbClr val="F4F7FB"/>
                </a:solidFill>
                <a:latin typeface="Avenir"/>
                <a:ea typeface="Avenir"/>
                <a:cs typeface="Avenir"/>
              </a:rPr>
              <a:t>Lists, dictionaries, classes</a:t>
            </a:r>
          </a:p>
          <a:p xmlns:a="http://schemas.openxmlformats.org/drawingml/2006/main">
            <a:pPr algn="l">
              <a:lnSpc>
                <a:spcPct val="118000"/>
              </a:lnSpc>
              <a:buNone/>
              <a:defRPr sz="1875" b="0">
                <a:solidFill>
                  <a:srgbClr val="F4F7FB"/>
                </a:solidFill>
                <a:latin typeface="Avenir"/>
                <a:ea typeface="Avenir"/>
                <a:cs typeface="Avenir"/>
              </a:defRPr>
            </a:pPr>
            <a:r>
              <a:rPr sz="1875" b="0">
                <a:solidFill>
                  <a:srgbClr val="F4F7FB"/>
                </a:solidFill>
                <a:latin typeface="Avenir"/>
                <a:ea typeface="Avenir"/>
                <a:cs typeface="Avenir"/>
              </a:rPr>
              <a:t>Imports and exceptions</a:t>
            </a:r>
          </a:p>
          <a:p xmlns:a="http://schemas.openxmlformats.org/drawingml/2006/main">
            <a:pPr algn="l">
              <a:lnSpc>
                <a:spcPct val="118000"/>
              </a:lnSpc>
              <a:buNone/>
              <a:defRPr sz="1875" b="0">
                <a:solidFill>
                  <a:srgbClr val="F4F7FB"/>
                </a:solidFill>
                <a:latin typeface="Avenir"/>
                <a:ea typeface="Avenir"/>
                <a:cs typeface="Avenir"/>
              </a:defRPr>
            </a:pPr>
            <a:r>
              <a:rPr sz="1875" b="0">
                <a:solidFill>
                  <a:srgbClr val="F4F7FB"/>
                </a:solidFill>
                <a:latin typeface="Avenir"/>
                <a:ea typeface="Avenir"/>
                <a:cs typeface="Avenir"/>
              </a:rPr>
              <a:t>Closures, decorators, keyword/default args</a:t>
            </a:r>
          </a:p>
          <a:p xmlns:a="http://schemas.openxmlformats.org/drawingml/2006/main">
            <a:pPr algn="l">
              <a:lnSpc>
                <a:spcPct val="118000"/>
              </a:lnSpc>
              <a:buNone/>
              <a:defRPr sz="1875" b="0">
                <a:solidFill>
                  <a:srgbClr val="F4F7FB"/>
                </a:solidFill>
                <a:latin typeface="Avenir"/>
                <a:ea typeface="Avenir"/>
                <a:cs typeface="Avenir"/>
              </a:defRPr>
            </a:pPr>
            <a:r>
              <a:rPr sz="1875" b="0">
                <a:solidFill>
                  <a:srgbClr val="F4F7FB"/>
                </a:solidFill>
                <a:latin typeface="Avenir"/>
                <a:ea typeface="Avenir"/>
                <a:cs typeface="Avenir"/>
              </a:rPr>
              <a:t>General Python library behavior</a:t>
            </a:r>
          </a:p>
        </p:txBody>
      </p:sp>
      <p:sp>
        <p:nvSpPr>
          <p:cNvPr id="9" name="">
            <a:extLst xmlns:a="http://schemas.openxmlformats.org/drawingml/2006/main">
              <a:ext uri="{FF2B5EF4-FFF2-40B4-BE49-F238E27FC236}">
                <a16:creationId xmlns:a16="http://schemas.microsoft.com/office/drawing/2014/main" id="{300F9594-EA39-4B83-BEA7-E69E627004D0}"/>
              </a:ext>
            </a:extLst>
          </p:cNvPr>
          <p:cNvSpPr>
            <a:spLocks xmlns:a="http://schemas.openxmlformats.org/drawingml/2006/main" noGrp="1"/>
          </p:cNvSpPr>
          <p:nvPr/>
        </p:nvSpPr>
        <p:spPr>
          <a:xfrm xmlns:a="http://schemas.openxmlformats.org/drawingml/2006/main">
            <a:off x="762000" y="5829300"/>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B4C1D1"/>
                </a:solidFill>
                <a:latin typeface="Avenir"/>
                <a:ea typeface="Avenir"/>
                <a:cs typeface="Avenir"/>
              </a:defRPr>
            </a:defPPr>
            <a:lvl1pPr algn="l">
              <a:defRPr sz="1575" b="0">
                <a:solidFill>
                  <a:srgbClr val="B4C1D1"/>
                </a:solidFill>
                <a:latin typeface="Avenir"/>
                <a:ea typeface="Avenir"/>
                <a:cs typeface="Avenir"/>
              </a:defRPr>
            </a:lvl1pPr>
            <a:lvl2pPr algn="l">
              <a:defRPr sz="1575" b="0">
                <a:solidFill>
                  <a:srgbClr val="B4C1D1"/>
                </a:solidFill>
                <a:latin typeface="Avenir"/>
                <a:ea typeface="Avenir"/>
                <a:cs typeface="Avenir"/>
              </a:defRPr>
            </a:lvl2pPr>
            <a:lvl3pPr algn="l">
              <a:defRPr sz="1575" b="0">
                <a:solidFill>
                  <a:srgbClr val="B4C1D1"/>
                </a:solidFill>
                <a:latin typeface="Avenir"/>
                <a:ea typeface="Avenir"/>
                <a:cs typeface="Avenir"/>
              </a:defRPr>
            </a:lvl3pPr>
            <a:lvl4pPr algn="l">
              <a:defRPr sz="1575" b="0">
                <a:solidFill>
                  <a:srgbClr val="B4C1D1"/>
                </a:solidFill>
                <a:latin typeface="Avenir"/>
                <a:ea typeface="Avenir"/>
                <a:cs typeface="Avenir"/>
              </a:defRPr>
            </a:lvl4pPr>
            <a:lvl5pPr algn="l">
              <a:defRPr sz="1575" b="0">
                <a:solidFill>
                  <a:srgbClr val="B4C1D1"/>
                </a:solidFill>
                <a:latin typeface="Avenir"/>
                <a:ea typeface="Avenir"/>
                <a:cs typeface="Avenir"/>
              </a:defRPr>
            </a:lvl5pPr>
            <a:lvl6pPr algn="l">
              <a:defRPr sz="1575" b="0">
                <a:solidFill>
                  <a:srgbClr val="B4C1D1"/>
                </a:solidFill>
                <a:latin typeface="Avenir"/>
                <a:ea typeface="Avenir"/>
                <a:cs typeface="Avenir"/>
              </a:defRPr>
            </a:lvl6pPr>
            <a:lvl7pPr algn="l">
              <a:defRPr sz="1575" b="0">
                <a:solidFill>
                  <a:srgbClr val="B4C1D1"/>
                </a:solidFill>
                <a:latin typeface="Avenir"/>
                <a:ea typeface="Avenir"/>
                <a:cs typeface="Avenir"/>
              </a:defRPr>
            </a:lvl7pPr>
            <a:lvl8pPr algn="l">
              <a:defRPr sz="1575" b="0">
                <a:solidFill>
                  <a:srgbClr val="B4C1D1"/>
                </a:solidFill>
                <a:latin typeface="Avenir"/>
                <a:ea typeface="Avenir"/>
                <a:cs typeface="Avenir"/>
              </a:defRPr>
            </a:lvl8pPr>
            <a:lvl9pPr algn="l">
              <a:defRPr sz="1575" b="0">
                <a:solidFill>
                  <a:srgbClr val="B4C1D1"/>
                </a:solidFill>
                <a:latin typeface="Avenir"/>
                <a:ea typeface="Avenir"/>
                <a:cs typeface="Avenir"/>
              </a:defRPr>
            </a:lvl9pPr>
          </a:lstStyle>
          <a:p xmlns:a="http://schemas.openxmlformats.org/drawingml/2006/main">
            <a:pPr algn="l">
              <a:lnSpc>
                <a:spcPct val="105000"/>
              </a:lnSpc>
              <a:buNone/>
              <a:defRPr sz="1575" b="0">
                <a:solidFill>
                  <a:srgbClr val="B4C1D1"/>
                </a:solidFill>
                <a:latin typeface="Avenir"/>
                <a:ea typeface="Avenir"/>
                <a:cs typeface="Avenir"/>
              </a:defRPr>
            </a:pPr>
            <a:r>
              <a:rPr sz="1575" b="0">
                <a:solidFill>
                  <a:srgbClr val="B4C1D1"/>
                </a:solidFill>
                <a:latin typeface="Avenir"/>
                <a:ea typeface="Avenir"/>
                <a:cs typeface="Avenir"/>
              </a:rPr>
              <a:t>Unsupported constructs produce a source-line diagnostic.</a:t>
            </a:r>
          </a:p>
        </p:txBody>
      </p:sp>
    </p:spTree>
    <p:extLst>
      <p:ext uri="{BB962C8B-B14F-4D97-AF65-F5344CB8AC3E}">
        <p14:creationId xmlns:p14="http://schemas.microsoft.com/office/powerpoint/2010/main" val="1870861983"/>
      </p:ext>
    </p:extLst>
  </p:cSld>
</p:sld>
</file>

<file path=ppt/slides/slide4.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77B80E74-D830-4A96-B32C-3DDAD1C5E21A}"/>
              </a:ext>
            </a:extLst>
          </p:cNvPr>
          <p:cNvCxnSpPr>
            <a:stCxn xmlns:a="http://schemas.openxmlformats.org/drawingml/2006/main" id="10" idx="1"/>
            <a:endCxn xmlns:a="http://schemas.openxmlformats.org/drawingml/2006/main" id="9" idx="1"/>
          </p:cNvCxnSpPr>
          <p:nvPr/>
        </p:nvCxnSpPr>
        <p:spPr>
          <a:xfrm xmlns:a="http://schemas.openxmlformats.org/drawingml/2006/main" flipV="1">
            <a:off x="5353050" y="3095625"/>
            <a:ext cx="971550" cy="1562100"/>
          </a:xfrm>
          <a:prstGeom xmlns:a="http://schemas.openxmlformats.org/drawingml/2006/main" prst="bentConnector4">
            <a:avLst/>
          </a:prstGeom>
          <a:ln xmlns:a="http://schemas.openxmlformats.org/drawingml/2006/main" w="19050">
            <a:solidFill>
              <a:srgbClr val="FFC86A"/>
            </a:solidFill>
            <a:prstDash val="solid"/>
            <a:tailEnd type="arrow" w="sm" len="sm"/>
          </a:ln>
        </p:spPr>
      </p:cxnSp>
      <p:cxnSp>
        <p:nvCxnSpPr>
          <p:cNvPr id="13" name="">
            <a:extLst xmlns:a="http://schemas.openxmlformats.org/drawingml/2006/main">
              <a:ext uri="{FF2B5EF4-FFF2-40B4-BE49-F238E27FC236}">
                <a16:creationId xmlns:a16="http://schemas.microsoft.com/office/drawing/2014/main" id="{423B6749-DB66-4C5F-8024-228F62A42A8C}"/>
              </a:ext>
            </a:extLst>
          </p:cNvPr>
          <p:cNvCxnSpPr>
            <a:stCxn xmlns:a="http://schemas.openxmlformats.org/drawingml/2006/main" id="9" idx="3"/>
            <a:endCxn xmlns:a="http://schemas.openxmlformats.org/drawingml/2006/main" id="11" idx="1"/>
          </p:cNvCxnSpPr>
          <p:nvPr/>
        </p:nvCxnSpPr>
        <p:spPr>
          <a:xfrm xmlns:a="http://schemas.openxmlformats.org/drawingml/2006/main">
            <a:off x="8515350" y="3095625"/>
            <a:ext cx="704850" cy="0"/>
          </a:xfrm>
          <a:prstGeom xmlns:a="http://schemas.openxmlformats.org/drawingml/2006/main" prst="straightConnector1">
            <a:avLst/>
          </a:prstGeom>
          <a:ln xmlns:a="http://schemas.openxmlformats.org/drawingml/2006/main" w="19050">
            <a:solidFill>
              <a:srgbClr val="9BE3BD"/>
            </a:solidFill>
            <a:prstDash val="solid"/>
            <a:tailEnd type="arrow" w="sm" len="sm"/>
          </a:ln>
        </p:spPr>
      </p:cxnSp>
      <p:cxnSp>
        <p:nvCxnSpPr>
          <p:cNvPr id="12" name="">
            <a:extLst xmlns:a="http://schemas.openxmlformats.org/drawingml/2006/main">
              <a:ext uri="{FF2B5EF4-FFF2-40B4-BE49-F238E27FC236}">
                <a16:creationId xmlns:a16="http://schemas.microsoft.com/office/drawing/2014/main" id="{F686AA51-9A09-477C-80B6-C6DC4A50844B}"/>
              </a:ext>
            </a:extLst>
          </p:cNvPr>
          <p:cNvCxnSpPr>
            <a:stCxn xmlns:a="http://schemas.openxmlformats.org/drawingml/2006/main" id="9" idx="2"/>
            <a:endCxn xmlns:a="http://schemas.openxmlformats.org/drawingml/2006/main" id="10" idx="0"/>
          </p:cNvCxnSpPr>
          <p:nvPr/>
        </p:nvCxnSpPr>
        <p:spPr>
          <a:xfrm xmlns:a="http://schemas.openxmlformats.org/drawingml/2006/main">
            <a:off x="7419975" y="3486150"/>
            <a:ext cx="0" cy="723900"/>
          </a:xfrm>
          <a:prstGeom xmlns:a="http://schemas.openxmlformats.org/drawingml/2006/main" prst="straightConnector1">
            <a:avLst/>
          </a:prstGeom>
          <a:ln xmlns:a="http://schemas.openxmlformats.org/drawingml/2006/main" w="19050">
            <a:solidFill>
              <a:srgbClr val="5AD6E6"/>
            </a:solidFill>
            <a:prstDash val="solid"/>
            <a:tailEnd type="arrow" w="sm" len="sm"/>
          </a:ln>
        </p:spPr>
      </p:cxnSp>
      <p:sp>
        <p:nvSpPr>
          <p:cNvPr id="18" name="">
            <a:extLst xmlns:a="http://schemas.openxmlformats.org/drawingml/2006/main">
              <a:ext uri="{FF2B5EF4-FFF2-40B4-BE49-F238E27FC236}">
                <a16:creationId xmlns:a16="http://schemas.microsoft.com/office/drawing/2014/main" id="{14B3C5B7-AF87-424C-B20E-C63D31A2A39E}"/>
              </a:ext>
            </a:extLst>
          </p:cNvPr>
          <p:cNvSpPr>
            <a:spLocks xmlns:a="http://schemas.openxmlformats.org/drawingml/2006/main" noGrp="1"/>
          </p:cNvSpPr>
          <p:nvPr/>
        </p:nvSpPr>
        <p:spPr>
          <a:xfrm xmlns:a="http://schemas.openxmlformats.org/drawingml/2006/main">
            <a:off x="685800" y="4191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525" b="1">
                <a:solidFill>
                  <a:srgbClr val="F4F7FB"/>
                </a:solidFill>
                <a:latin typeface="Avenir"/>
                <a:ea typeface="Avenir"/>
                <a:cs typeface="Avenir"/>
              </a:defRPr>
            </a:defPPr>
            <a:lvl1pPr algn="l">
              <a:defRPr sz="3525" b="1">
                <a:solidFill>
                  <a:srgbClr val="F4F7FB"/>
                </a:solidFill>
                <a:latin typeface="Avenir"/>
                <a:ea typeface="Avenir"/>
                <a:cs typeface="Avenir"/>
              </a:defRPr>
            </a:lvl1pPr>
            <a:lvl2pPr algn="l">
              <a:defRPr sz="3525" b="1">
                <a:solidFill>
                  <a:srgbClr val="F4F7FB"/>
                </a:solidFill>
                <a:latin typeface="Avenir"/>
                <a:ea typeface="Avenir"/>
                <a:cs typeface="Avenir"/>
              </a:defRPr>
            </a:lvl2pPr>
            <a:lvl3pPr algn="l">
              <a:defRPr sz="3525" b="1">
                <a:solidFill>
                  <a:srgbClr val="F4F7FB"/>
                </a:solidFill>
                <a:latin typeface="Avenir"/>
                <a:ea typeface="Avenir"/>
                <a:cs typeface="Avenir"/>
              </a:defRPr>
            </a:lvl3pPr>
            <a:lvl4pPr algn="l">
              <a:defRPr sz="3525" b="1">
                <a:solidFill>
                  <a:srgbClr val="F4F7FB"/>
                </a:solidFill>
                <a:latin typeface="Avenir"/>
                <a:ea typeface="Avenir"/>
                <a:cs typeface="Avenir"/>
              </a:defRPr>
            </a:lvl4pPr>
            <a:lvl5pPr algn="l">
              <a:defRPr sz="3525" b="1">
                <a:solidFill>
                  <a:srgbClr val="F4F7FB"/>
                </a:solidFill>
                <a:latin typeface="Avenir"/>
                <a:ea typeface="Avenir"/>
                <a:cs typeface="Avenir"/>
              </a:defRPr>
            </a:lvl5pPr>
            <a:lvl6pPr algn="l">
              <a:defRPr sz="3525" b="1">
                <a:solidFill>
                  <a:srgbClr val="F4F7FB"/>
                </a:solidFill>
                <a:latin typeface="Avenir"/>
                <a:ea typeface="Avenir"/>
                <a:cs typeface="Avenir"/>
              </a:defRPr>
            </a:lvl6pPr>
            <a:lvl7pPr algn="l">
              <a:defRPr sz="3525" b="1">
                <a:solidFill>
                  <a:srgbClr val="F4F7FB"/>
                </a:solidFill>
                <a:latin typeface="Avenir"/>
                <a:ea typeface="Avenir"/>
                <a:cs typeface="Avenir"/>
              </a:defRPr>
            </a:lvl7pPr>
            <a:lvl8pPr algn="l">
              <a:defRPr sz="3525" b="1">
                <a:solidFill>
                  <a:srgbClr val="F4F7FB"/>
                </a:solidFill>
                <a:latin typeface="Avenir"/>
                <a:ea typeface="Avenir"/>
                <a:cs typeface="Avenir"/>
              </a:defRPr>
            </a:lvl8pPr>
            <a:lvl9pPr algn="l">
              <a:defRPr sz="3525" b="1">
                <a:solidFill>
                  <a:srgbClr val="F4F7FB"/>
                </a:solidFill>
                <a:latin typeface="Avenir"/>
                <a:ea typeface="Avenir"/>
                <a:cs typeface="Avenir"/>
              </a:defRPr>
            </a:lvl9pPr>
          </a:lstStyle>
          <a:p xmlns:a="http://schemas.openxmlformats.org/drawingml/2006/main">
            <a:pPr algn="l">
              <a:lnSpc>
                <a:spcPct val="105000"/>
              </a:lnSpc>
              <a:buNone/>
              <a:defRPr sz="3525" b="1">
                <a:solidFill>
                  <a:srgbClr val="F4F7FB"/>
                </a:solidFill>
                <a:latin typeface="Avenir"/>
                <a:ea typeface="Avenir"/>
                <a:cs typeface="Avenir"/>
              </a:defRPr>
            </a:pPr>
            <a:r>
              <a:rPr sz="3525" b="1">
                <a:solidFill>
                  <a:srgbClr val="F4F7FB"/>
                </a:solidFill>
                <a:latin typeface="Avenir"/>
                <a:ea typeface="Avenir"/>
                <a:cs typeface="Avenir"/>
              </a:rPr>
              <a:t>A loop in IR and control flow</a:t>
            </a:r>
          </a:p>
        </p:txBody>
      </p:sp>
      <p:sp>
        <p:nvSpPr>
          <p:cNvPr id="2" name="">
            <a:extLst xmlns:a="http://schemas.openxmlformats.org/drawingml/2006/main">
              <a:ext uri="{FF2B5EF4-FFF2-40B4-BE49-F238E27FC236}">
                <a16:creationId xmlns:a16="http://schemas.microsoft.com/office/drawing/2014/main" id="{7EC8426A-3D88-411D-A3ED-4019466BAB0F}"/>
              </a:ext>
            </a:extLst>
          </p:cNvPr>
          <p:cNvSpPr>
            <a:spLocks xmlns:a="http://schemas.openxmlformats.org/drawingml/2006/main" noGrp="1"/>
          </p:cNvSpPr>
          <p:nvPr/>
        </p:nvSpPr>
        <p:spPr>
          <a:xfrm xmlns:a="http://schemas.openxmlformats.org/drawingml/2006/main">
            <a:off x="685800" y="1162050"/>
            <a:ext cx="819150" cy="38100"/>
          </a:xfrm>
          <a:prstGeom xmlns:a="http://schemas.openxmlformats.org/drawingml/2006/main" prst="rect">
            <a:avLst/>
          </a:prstGeom>
          <a:solidFill xmlns:a="http://schemas.openxmlformats.org/drawingml/2006/main">
            <a:srgbClr val="5AD6E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BF31523-93A9-489B-B7F3-02CDA0F84A90}"/>
              </a:ext>
            </a:extLst>
          </p:cNvPr>
          <p:cNvSpPr>
            <a:spLocks xmlns:a="http://schemas.openxmlformats.org/drawingml/2006/main" noGrp="1"/>
          </p:cNvSpPr>
          <p:nvPr/>
        </p:nvSpPr>
        <p:spPr>
          <a:xfrm xmlns:a="http://schemas.openxmlformats.org/drawingml/2006/main">
            <a:off x="685800" y="13906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B4C1D1"/>
                </a:solidFill>
                <a:latin typeface="Avenir"/>
                <a:ea typeface="Avenir"/>
                <a:cs typeface="Avenir"/>
              </a:defRPr>
            </a:defPPr>
            <a:lvl1pPr algn="l">
              <a:defRPr sz="1725" b="0">
                <a:solidFill>
                  <a:srgbClr val="B4C1D1"/>
                </a:solidFill>
                <a:latin typeface="Avenir"/>
                <a:ea typeface="Avenir"/>
                <a:cs typeface="Avenir"/>
              </a:defRPr>
            </a:lvl1pPr>
            <a:lvl2pPr algn="l">
              <a:defRPr sz="1725" b="0">
                <a:solidFill>
                  <a:srgbClr val="B4C1D1"/>
                </a:solidFill>
                <a:latin typeface="Avenir"/>
                <a:ea typeface="Avenir"/>
                <a:cs typeface="Avenir"/>
              </a:defRPr>
            </a:lvl2pPr>
            <a:lvl3pPr algn="l">
              <a:defRPr sz="1725" b="0">
                <a:solidFill>
                  <a:srgbClr val="B4C1D1"/>
                </a:solidFill>
                <a:latin typeface="Avenir"/>
                <a:ea typeface="Avenir"/>
                <a:cs typeface="Avenir"/>
              </a:defRPr>
            </a:lvl3pPr>
            <a:lvl4pPr algn="l">
              <a:defRPr sz="1725" b="0">
                <a:solidFill>
                  <a:srgbClr val="B4C1D1"/>
                </a:solidFill>
                <a:latin typeface="Avenir"/>
                <a:ea typeface="Avenir"/>
                <a:cs typeface="Avenir"/>
              </a:defRPr>
            </a:lvl4pPr>
            <a:lvl5pPr algn="l">
              <a:defRPr sz="1725" b="0">
                <a:solidFill>
                  <a:srgbClr val="B4C1D1"/>
                </a:solidFill>
                <a:latin typeface="Avenir"/>
                <a:ea typeface="Avenir"/>
                <a:cs typeface="Avenir"/>
              </a:defRPr>
            </a:lvl5pPr>
            <a:lvl6pPr algn="l">
              <a:defRPr sz="1725" b="0">
                <a:solidFill>
                  <a:srgbClr val="B4C1D1"/>
                </a:solidFill>
                <a:latin typeface="Avenir"/>
                <a:ea typeface="Avenir"/>
                <a:cs typeface="Avenir"/>
              </a:defRPr>
            </a:lvl6pPr>
            <a:lvl7pPr algn="l">
              <a:defRPr sz="1725" b="0">
                <a:solidFill>
                  <a:srgbClr val="B4C1D1"/>
                </a:solidFill>
                <a:latin typeface="Avenir"/>
                <a:ea typeface="Avenir"/>
                <a:cs typeface="Avenir"/>
              </a:defRPr>
            </a:lvl7pPr>
            <a:lvl8pPr algn="l">
              <a:defRPr sz="1725" b="0">
                <a:solidFill>
                  <a:srgbClr val="B4C1D1"/>
                </a:solidFill>
                <a:latin typeface="Avenir"/>
                <a:ea typeface="Avenir"/>
                <a:cs typeface="Avenir"/>
              </a:defRPr>
            </a:lvl8pPr>
            <a:lvl9pPr algn="l">
              <a:defRPr sz="1725" b="0">
                <a:solidFill>
                  <a:srgbClr val="B4C1D1"/>
                </a:solidFill>
                <a:latin typeface="Avenir"/>
                <a:ea typeface="Avenir"/>
                <a:cs typeface="Avenir"/>
              </a:defRPr>
            </a:lvl9pPr>
          </a:lstStyle>
          <a:p xmlns:a="http://schemas.openxmlformats.org/drawingml/2006/main">
            <a:pPr algn="l">
              <a:lnSpc>
                <a:spcPct val="105000"/>
              </a:lnSpc>
              <a:buNone/>
              <a:defRPr sz="1725" b="0">
                <a:solidFill>
                  <a:srgbClr val="B4C1D1"/>
                </a:solidFill>
                <a:latin typeface="Avenir"/>
                <a:ea typeface="Avenir"/>
                <a:cs typeface="Avenir"/>
              </a:defRPr>
            </a:pPr>
            <a:r>
              <a:rPr sz="1725" b="0">
                <a:solidFill>
                  <a:srgbClr val="B4C1D1"/>
                </a:solidFill>
                <a:latin typeface="Avenir"/>
                <a:ea typeface="Avenir"/>
                <a:cs typeface="Avenir"/>
              </a:rPr>
              <a:t>The same computation becomes explicit assignments, tests, and jumps.</a:t>
            </a:r>
          </a:p>
        </p:txBody>
      </p:sp>
      <p:sp>
        <p:nvSpPr>
          <p:cNvPr id="4" name="">
            <a:extLst xmlns:a="http://schemas.openxmlformats.org/drawingml/2006/main">
              <a:ext uri="{FF2B5EF4-FFF2-40B4-BE49-F238E27FC236}">
                <a16:creationId xmlns:a16="http://schemas.microsoft.com/office/drawing/2014/main" id="{5EEA8D9F-0F24-4A92-99ED-29D8E2A786B3}"/>
              </a:ext>
            </a:extLst>
          </p:cNvPr>
          <p:cNvSpPr>
            <a:spLocks xmlns:a="http://schemas.openxmlformats.org/drawingml/2006/main" noGrp="1"/>
          </p:cNvSpPr>
          <p:nvPr/>
        </p:nvSpPr>
        <p:spPr>
          <a:xfrm xmlns:a="http://schemas.openxmlformats.org/drawingml/2006/main">
            <a:off x="742950" y="2095500"/>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9BE3BD"/>
                </a:solidFill>
                <a:latin typeface="Avenir"/>
                <a:ea typeface="Avenir"/>
                <a:cs typeface="Avenir"/>
              </a:defRPr>
            </a:defPPr>
            <a:lvl1pPr algn="l">
              <a:defRPr sz="1425" b="1">
                <a:solidFill>
                  <a:srgbClr val="9BE3BD"/>
                </a:solidFill>
                <a:latin typeface="Avenir"/>
                <a:ea typeface="Avenir"/>
                <a:cs typeface="Avenir"/>
              </a:defRPr>
            </a:lvl1pPr>
            <a:lvl2pPr algn="l">
              <a:defRPr sz="1425" b="1">
                <a:solidFill>
                  <a:srgbClr val="9BE3BD"/>
                </a:solidFill>
                <a:latin typeface="Avenir"/>
                <a:ea typeface="Avenir"/>
                <a:cs typeface="Avenir"/>
              </a:defRPr>
            </a:lvl2pPr>
            <a:lvl3pPr algn="l">
              <a:defRPr sz="1425" b="1">
                <a:solidFill>
                  <a:srgbClr val="9BE3BD"/>
                </a:solidFill>
                <a:latin typeface="Avenir"/>
                <a:ea typeface="Avenir"/>
                <a:cs typeface="Avenir"/>
              </a:defRPr>
            </a:lvl3pPr>
            <a:lvl4pPr algn="l">
              <a:defRPr sz="1425" b="1">
                <a:solidFill>
                  <a:srgbClr val="9BE3BD"/>
                </a:solidFill>
                <a:latin typeface="Avenir"/>
                <a:ea typeface="Avenir"/>
                <a:cs typeface="Avenir"/>
              </a:defRPr>
            </a:lvl4pPr>
            <a:lvl5pPr algn="l">
              <a:defRPr sz="1425" b="1">
                <a:solidFill>
                  <a:srgbClr val="9BE3BD"/>
                </a:solidFill>
                <a:latin typeface="Avenir"/>
                <a:ea typeface="Avenir"/>
                <a:cs typeface="Avenir"/>
              </a:defRPr>
            </a:lvl5pPr>
            <a:lvl6pPr algn="l">
              <a:defRPr sz="1425" b="1">
                <a:solidFill>
                  <a:srgbClr val="9BE3BD"/>
                </a:solidFill>
                <a:latin typeface="Avenir"/>
                <a:ea typeface="Avenir"/>
                <a:cs typeface="Avenir"/>
              </a:defRPr>
            </a:lvl6pPr>
            <a:lvl7pPr algn="l">
              <a:defRPr sz="1425" b="1">
                <a:solidFill>
                  <a:srgbClr val="9BE3BD"/>
                </a:solidFill>
                <a:latin typeface="Avenir"/>
                <a:ea typeface="Avenir"/>
                <a:cs typeface="Avenir"/>
              </a:defRPr>
            </a:lvl7pPr>
            <a:lvl8pPr algn="l">
              <a:defRPr sz="1425" b="1">
                <a:solidFill>
                  <a:srgbClr val="9BE3BD"/>
                </a:solidFill>
                <a:latin typeface="Avenir"/>
                <a:ea typeface="Avenir"/>
                <a:cs typeface="Avenir"/>
              </a:defRPr>
            </a:lvl8pPr>
            <a:lvl9pPr algn="l">
              <a:defRPr sz="1425" b="1">
                <a:solidFill>
                  <a:srgbClr val="9BE3BD"/>
                </a:solidFill>
                <a:latin typeface="Avenir"/>
                <a:ea typeface="Avenir"/>
                <a:cs typeface="Avenir"/>
              </a:defRPr>
            </a:lvl9pPr>
          </a:lstStyle>
          <a:p xmlns:a="http://schemas.openxmlformats.org/drawingml/2006/main">
            <a:pPr algn="l">
              <a:lnSpc>
                <a:spcPct val="105000"/>
              </a:lnSpc>
              <a:buNone/>
              <a:defRPr sz="1425" b="1">
                <a:solidFill>
                  <a:srgbClr val="9BE3BD"/>
                </a:solidFill>
                <a:latin typeface="Avenir"/>
                <a:ea typeface="Avenir"/>
                <a:cs typeface="Avenir"/>
              </a:defRPr>
            </a:pPr>
            <a:r>
              <a:rPr sz="1425" b="1">
                <a:solidFill>
                  <a:srgbClr val="9BE3BD"/>
                </a:solidFill>
                <a:latin typeface="Avenir"/>
                <a:ea typeface="Avenir"/>
                <a:cs typeface="Avenir"/>
              </a:rPr>
              <a:t>Python idea</a:t>
            </a:r>
          </a:p>
        </p:txBody>
      </p:sp>
      <p:sp>
        <p:nvSpPr>
          <p:cNvPr id="5" name="">
            <a:extLst xmlns:a="http://schemas.openxmlformats.org/drawingml/2006/main">
              <a:ext uri="{FF2B5EF4-FFF2-40B4-BE49-F238E27FC236}">
                <a16:creationId xmlns:a16="http://schemas.microsoft.com/office/drawing/2014/main" id="{4ED7811D-CA23-4670-B017-DCEE8F651714}"/>
              </a:ext>
            </a:extLst>
          </p:cNvPr>
          <p:cNvSpPr>
            <a:spLocks xmlns:a="http://schemas.openxmlformats.org/drawingml/2006/main" noGrp="1"/>
          </p:cNvSpPr>
          <p:nvPr/>
        </p:nvSpPr>
        <p:spPr>
          <a:xfrm xmlns:a="http://schemas.openxmlformats.org/drawingml/2006/main">
            <a:off x="742950" y="2571750"/>
            <a:ext cx="4095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F4F7FB"/>
                </a:solidFill>
                <a:latin typeface="Menlo"/>
                <a:ea typeface="Menlo"/>
                <a:cs typeface="Menlo"/>
              </a:defRPr>
            </a:defPPr>
            <a:lvl1pPr algn="l">
              <a:defRPr sz="1800" b="0">
                <a:solidFill>
                  <a:srgbClr val="F4F7FB"/>
                </a:solidFill>
                <a:latin typeface="Menlo"/>
                <a:ea typeface="Menlo"/>
                <a:cs typeface="Menlo"/>
              </a:defRPr>
            </a:lvl1pPr>
            <a:lvl2pPr algn="l">
              <a:defRPr sz="1800" b="0">
                <a:solidFill>
                  <a:srgbClr val="F4F7FB"/>
                </a:solidFill>
                <a:latin typeface="Menlo"/>
                <a:ea typeface="Menlo"/>
                <a:cs typeface="Menlo"/>
              </a:defRPr>
            </a:lvl2pPr>
            <a:lvl3pPr algn="l">
              <a:defRPr sz="1800" b="0">
                <a:solidFill>
                  <a:srgbClr val="F4F7FB"/>
                </a:solidFill>
                <a:latin typeface="Menlo"/>
                <a:ea typeface="Menlo"/>
                <a:cs typeface="Menlo"/>
              </a:defRPr>
            </a:lvl3pPr>
            <a:lvl4pPr algn="l">
              <a:defRPr sz="1800" b="0">
                <a:solidFill>
                  <a:srgbClr val="F4F7FB"/>
                </a:solidFill>
                <a:latin typeface="Menlo"/>
                <a:ea typeface="Menlo"/>
                <a:cs typeface="Menlo"/>
              </a:defRPr>
            </a:lvl4pPr>
            <a:lvl5pPr algn="l">
              <a:defRPr sz="1800" b="0">
                <a:solidFill>
                  <a:srgbClr val="F4F7FB"/>
                </a:solidFill>
                <a:latin typeface="Menlo"/>
                <a:ea typeface="Menlo"/>
                <a:cs typeface="Menlo"/>
              </a:defRPr>
            </a:lvl5pPr>
            <a:lvl6pPr algn="l">
              <a:defRPr sz="1800" b="0">
                <a:solidFill>
                  <a:srgbClr val="F4F7FB"/>
                </a:solidFill>
                <a:latin typeface="Menlo"/>
                <a:ea typeface="Menlo"/>
                <a:cs typeface="Menlo"/>
              </a:defRPr>
            </a:lvl6pPr>
            <a:lvl7pPr algn="l">
              <a:defRPr sz="1800" b="0">
                <a:solidFill>
                  <a:srgbClr val="F4F7FB"/>
                </a:solidFill>
                <a:latin typeface="Menlo"/>
                <a:ea typeface="Menlo"/>
                <a:cs typeface="Menlo"/>
              </a:defRPr>
            </a:lvl7pPr>
            <a:lvl8pPr algn="l">
              <a:defRPr sz="1800" b="0">
                <a:solidFill>
                  <a:srgbClr val="F4F7FB"/>
                </a:solidFill>
                <a:latin typeface="Menlo"/>
                <a:ea typeface="Menlo"/>
                <a:cs typeface="Menlo"/>
              </a:defRPr>
            </a:lvl8pPr>
            <a:lvl9pPr algn="l">
              <a:defRPr sz="1800" b="0">
                <a:solidFill>
                  <a:srgbClr val="F4F7FB"/>
                </a:solidFill>
                <a:latin typeface="Menlo"/>
                <a:ea typeface="Menlo"/>
                <a:cs typeface="Menlo"/>
              </a:defRPr>
            </a:lvl9pPr>
          </a:lstStyle>
          <a:p xmlns:a="http://schemas.openxmlformats.org/drawingml/2006/main">
            <a:pPr algn="l">
              <a:lnSpc>
                <a:spcPct val="120000"/>
              </a:lnSpc>
              <a:buNone/>
              <a:defRPr sz="1800" b="0">
                <a:solidFill>
                  <a:srgbClr val="F4F7FB"/>
                </a:solidFill>
                <a:latin typeface="Menlo"/>
                <a:ea typeface="Menlo"/>
                <a:cs typeface="Menlo"/>
              </a:defRPr>
            </a:pPr>
            <a:r>
              <a:rPr sz="1800" b="0">
                <a:solidFill>
                  <a:srgbClr val="F4F7FB"/>
                </a:solidFill>
                <a:latin typeface="Menlo"/>
                <a:ea typeface="Menlo"/>
                <a:cs typeface="Menlo"/>
              </a:rPr>
              <a:t>total = 0</a:t>
            </a:r>
          </a:p>
          <a:p xmlns:a="http://schemas.openxmlformats.org/drawingml/2006/main">
            <a:pPr algn="l">
              <a:lnSpc>
                <a:spcPct val="120000"/>
              </a:lnSpc>
              <a:buNone/>
              <a:defRPr sz="1800" b="0">
                <a:solidFill>
                  <a:srgbClr val="F4F7FB"/>
                </a:solidFill>
                <a:latin typeface="Menlo"/>
                <a:ea typeface="Menlo"/>
                <a:cs typeface="Menlo"/>
              </a:defRPr>
            </a:pPr>
            <a:r>
              <a:rPr sz="1800" b="0">
                <a:solidFill>
                  <a:srgbClr val="F4F7FB"/>
                </a:solidFill>
                <a:latin typeface="Menlo"/>
                <a:ea typeface="Menlo"/>
                <a:cs typeface="Menlo"/>
              </a:rPr>
              <a:t>for i in range(1, 11):</a:t>
            </a:r>
          </a:p>
          <a:p xmlns:a="http://schemas.openxmlformats.org/drawingml/2006/main">
            <a:pPr algn="l">
              <a:lnSpc>
                <a:spcPct val="120000"/>
              </a:lnSpc>
              <a:buNone/>
              <a:defRPr sz="1800" b="0">
                <a:solidFill>
                  <a:srgbClr val="F4F7FB"/>
                </a:solidFill>
                <a:latin typeface="Menlo"/>
                <a:ea typeface="Menlo"/>
                <a:cs typeface="Menlo"/>
              </a:defRPr>
            </a:pPr>
            <a:r>
              <a:rPr sz="1800" b="0">
                <a:solidFill>
                  <a:srgbClr val="F4F7FB"/>
                </a:solidFill>
                <a:latin typeface="Menlo"/>
                <a:ea typeface="Menlo"/>
                <a:cs typeface="Menlo"/>
              </a:rPr>
              <a:t>    total += i</a:t>
            </a:r>
          </a:p>
        </p:txBody>
      </p:sp>
      <p:sp>
        <p:nvSpPr>
          <p:cNvPr id="6" name="">
            <a:extLst xmlns:a="http://schemas.openxmlformats.org/drawingml/2006/main">
              <a:ext uri="{FF2B5EF4-FFF2-40B4-BE49-F238E27FC236}">
                <a16:creationId xmlns:a16="http://schemas.microsoft.com/office/drawing/2014/main" id="{DD9F5C1B-7288-47B3-B56A-450996060CC5}"/>
              </a:ext>
            </a:extLst>
          </p:cNvPr>
          <p:cNvSpPr>
            <a:spLocks xmlns:a="http://schemas.openxmlformats.org/drawingml/2006/main" noGrp="1"/>
          </p:cNvSpPr>
          <p:nvPr/>
        </p:nvSpPr>
        <p:spPr>
          <a:xfrm xmlns:a="http://schemas.openxmlformats.org/drawingml/2006/main">
            <a:off x="742950" y="4143375"/>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9BE3BD"/>
                </a:solidFill>
                <a:latin typeface="Avenir"/>
                <a:ea typeface="Avenir"/>
                <a:cs typeface="Avenir"/>
              </a:defRPr>
            </a:defPPr>
            <a:lvl1pPr algn="l">
              <a:defRPr sz="1425" b="1">
                <a:solidFill>
                  <a:srgbClr val="9BE3BD"/>
                </a:solidFill>
                <a:latin typeface="Avenir"/>
                <a:ea typeface="Avenir"/>
                <a:cs typeface="Avenir"/>
              </a:defRPr>
            </a:lvl1pPr>
            <a:lvl2pPr algn="l">
              <a:defRPr sz="1425" b="1">
                <a:solidFill>
                  <a:srgbClr val="9BE3BD"/>
                </a:solidFill>
                <a:latin typeface="Avenir"/>
                <a:ea typeface="Avenir"/>
                <a:cs typeface="Avenir"/>
              </a:defRPr>
            </a:lvl2pPr>
            <a:lvl3pPr algn="l">
              <a:defRPr sz="1425" b="1">
                <a:solidFill>
                  <a:srgbClr val="9BE3BD"/>
                </a:solidFill>
                <a:latin typeface="Avenir"/>
                <a:ea typeface="Avenir"/>
                <a:cs typeface="Avenir"/>
              </a:defRPr>
            </a:lvl3pPr>
            <a:lvl4pPr algn="l">
              <a:defRPr sz="1425" b="1">
                <a:solidFill>
                  <a:srgbClr val="9BE3BD"/>
                </a:solidFill>
                <a:latin typeface="Avenir"/>
                <a:ea typeface="Avenir"/>
                <a:cs typeface="Avenir"/>
              </a:defRPr>
            </a:lvl4pPr>
            <a:lvl5pPr algn="l">
              <a:defRPr sz="1425" b="1">
                <a:solidFill>
                  <a:srgbClr val="9BE3BD"/>
                </a:solidFill>
                <a:latin typeface="Avenir"/>
                <a:ea typeface="Avenir"/>
                <a:cs typeface="Avenir"/>
              </a:defRPr>
            </a:lvl5pPr>
            <a:lvl6pPr algn="l">
              <a:defRPr sz="1425" b="1">
                <a:solidFill>
                  <a:srgbClr val="9BE3BD"/>
                </a:solidFill>
                <a:latin typeface="Avenir"/>
                <a:ea typeface="Avenir"/>
                <a:cs typeface="Avenir"/>
              </a:defRPr>
            </a:lvl6pPr>
            <a:lvl7pPr algn="l">
              <a:defRPr sz="1425" b="1">
                <a:solidFill>
                  <a:srgbClr val="9BE3BD"/>
                </a:solidFill>
                <a:latin typeface="Avenir"/>
                <a:ea typeface="Avenir"/>
                <a:cs typeface="Avenir"/>
              </a:defRPr>
            </a:lvl7pPr>
            <a:lvl8pPr algn="l">
              <a:defRPr sz="1425" b="1">
                <a:solidFill>
                  <a:srgbClr val="9BE3BD"/>
                </a:solidFill>
                <a:latin typeface="Avenir"/>
                <a:ea typeface="Avenir"/>
                <a:cs typeface="Avenir"/>
              </a:defRPr>
            </a:lvl8pPr>
            <a:lvl9pPr algn="l">
              <a:defRPr sz="1425" b="1">
                <a:solidFill>
                  <a:srgbClr val="9BE3BD"/>
                </a:solidFill>
                <a:latin typeface="Avenir"/>
                <a:ea typeface="Avenir"/>
                <a:cs typeface="Avenir"/>
              </a:defRPr>
            </a:lvl9pPr>
          </a:lstStyle>
          <a:p xmlns:a="http://schemas.openxmlformats.org/drawingml/2006/main">
            <a:pPr algn="l">
              <a:lnSpc>
                <a:spcPct val="105000"/>
              </a:lnSpc>
              <a:buNone/>
              <a:defRPr sz="1425" b="1">
                <a:solidFill>
                  <a:srgbClr val="9BE3BD"/>
                </a:solidFill>
                <a:latin typeface="Avenir"/>
                <a:ea typeface="Avenir"/>
                <a:cs typeface="Avenir"/>
              </a:defRPr>
            </a:pPr>
            <a:r>
              <a:rPr sz="1425" b="1">
                <a:solidFill>
                  <a:srgbClr val="9BE3BD"/>
                </a:solidFill>
                <a:latin typeface="Avenir"/>
                <a:ea typeface="Avenir"/>
                <a:cs typeface="Avenir"/>
              </a:rPr>
              <a:t>Lowered IR</a:t>
            </a:r>
          </a:p>
        </p:txBody>
      </p:sp>
      <p:sp>
        <p:nvSpPr>
          <p:cNvPr id="7" name="">
            <a:extLst xmlns:a="http://schemas.openxmlformats.org/drawingml/2006/main">
              <a:ext uri="{FF2B5EF4-FFF2-40B4-BE49-F238E27FC236}">
                <a16:creationId xmlns:a16="http://schemas.microsoft.com/office/drawing/2014/main" id="{B574AE61-4816-4CE4-8E54-0E82EC846D43}"/>
              </a:ext>
            </a:extLst>
          </p:cNvPr>
          <p:cNvSpPr>
            <a:spLocks xmlns:a="http://schemas.openxmlformats.org/drawingml/2006/main" noGrp="1"/>
          </p:cNvSpPr>
          <p:nvPr/>
        </p:nvSpPr>
        <p:spPr>
          <a:xfrm xmlns:a="http://schemas.openxmlformats.org/drawingml/2006/main">
            <a:off x="742950" y="4572000"/>
            <a:ext cx="476250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747"/>
          </a:bodyPr>
          <a:lstStyle xmlns:a="http://schemas.openxmlformats.org/drawingml/2006/main">
            <a:defPPr algn="l">
              <a:defRPr sz="1425" b="0">
                <a:solidFill>
                  <a:srgbClr val="F4F7FB"/>
                </a:solidFill>
                <a:latin typeface="Menlo"/>
                <a:ea typeface="Menlo"/>
                <a:cs typeface="Menlo"/>
              </a:defRPr>
            </a:defPPr>
            <a:lvl1pPr algn="l">
              <a:defRPr sz="1425" b="0">
                <a:solidFill>
                  <a:srgbClr val="F4F7FB"/>
                </a:solidFill>
                <a:latin typeface="Menlo"/>
                <a:ea typeface="Menlo"/>
                <a:cs typeface="Menlo"/>
              </a:defRPr>
            </a:lvl1pPr>
            <a:lvl2pPr algn="l">
              <a:defRPr sz="1425" b="0">
                <a:solidFill>
                  <a:srgbClr val="F4F7FB"/>
                </a:solidFill>
                <a:latin typeface="Menlo"/>
                <a:ea typeface="Menlo"/>
                <a:cs typeface="Menlo"/>
              </a:defRPr>
            </a:lvl2pPr>
            <a:lvl3pPr algn="l">
              <a:defRPr sz="1425" b="0">
                <a:solidFill>
                  <a:srgbClr val="F4F7FB"/>
                </a:solidFill>
                <a:latin typeface="Menlo"/>
                <a:ea typeface="Menlo"/>
                <a:cs typeface="Menlo"/>
              </a:defRPr>
            </a:lvl3pPr>
            <a:lvl4pPr algn="l">
              <a:defRPr sz="1425" b="0">
                <a:solidFill>
                  <a:srgbClr val="F4F7FB"/>
                </a:solidFill>
                <a:latin typeface="Menlo"/>
                <a:ea typeface="Menlo"/>
                <a:cs typeface="Menlo"/>
              </a:defRPr>
            </a:lvl4pPr>
            <a:lvl5pPr algn="l">
              <a:defRPr sz="1425" b="0">
                <a:solidFill>
                  <a:srgbClr val="F4F7FB"/>
                </a:solidFill>
                <a:latin typeface="Menlo"/>
                <a:ea typeface="Menlo"/>
                <a:cs typeface="Menlo"/>
              </a:defRPr>
            </a:lvl5pPr>
            <a:lvl6pPr algn="l">
              <a:defRPr sz="1425" b="0">
                <a:solidFill>
                  <a:srgbClr val="F4F7FB"/>
                </a:solidFill>
                <a:latin typeface="Menlo"/>
                <a:ea typeface="Menlo"/>
                <a:cs typeface="Menlo"/>
              </a:defRPr>
            </a:lvl6pPr>
            <a:lvl7pPr algn="l">
              <a:defRPr sz="1425" b="0">
                <a:solidFill>
                  <a:srgbClr val="F4F7FB"/>
                </a:solidFill>
                <a:latin typeface="Menlo"/>
                <a:ea typeface="Menlo"/>
                <a:cs typeface="Menlo"/>
              </a:defRPr>
            </a:lvl7pPr>
            <a:lvl8pPr algn="l">
              <a:defRPr sz="1425" b="0">
                <a:solidFill>
                  <a:srgbClr val="F4F7FB"/>
                </a:solidFill>
                <a:latin typeface="Menlo"/>
                <a:ea typeface="Menlo"/>
                <a:cs typeface="Menlo"/>
              </a:defRPr>
            </a:lvl8pPr>
            <a:lvl9pPr algn="l">
              <a:defRPr sz="1425" b="0">
                <a:solidFill>
                  <a:srgbClr val="F4F7FB"/>
                </a:solidFill>
                <a:latin typeface="Menlo"/>
                <a:ea typeface="Menlo"/>
                <a:cs typeface="Menlo"/>
              </a:defRPr>
            </a:lvl9pPr>
          </a:lstStyle>
          <a:p xmlns:a="http://schemas.openxmlformats.org/drawingml/2006/main">
            <a:pPr algn="l">
              <a:lnSpc>
                <a:spcPct val="112000"/>
              </a:lnSpc>
              <a:buNone/>
              <a:defRPr sz="1425" b="0">
                <a:solidFill>
                  <a:srgbClr val="F4F7FB"/>
                </a:solidFill>
                <a:latin typeface="Menlo"/>
                <a:ea typeface="Menlo"/>
                <a:cs typeface="Menlo"/>
              </a:defRPr>
            </a:pPr>
            <a:r>
              <a:rPr sz="1425" b="0">
                <a:solidFill>
                  <a:srgbClr val="F4F7FB"/>
                </a:solidFill>
                <a:latin typeface="Menlo"/>
                <a:ea typeface="Menlo"/>
                <a:cs typeface="Menlo"/>
              </a:rPr>
              <a:t>total = 0</a:t>
            </a:r>
          </a:p>
          <a:p xmlns:a="http://schemas.openxmlformats.org/drawingml/2006/main">
            <a:pPr algn="l">
              <a:lnSpc>
                <a:spcPct val="112000"/>
              </a:lnSpc>
              <a:buNone/>
              <a:defRPr sz="1425" b="0">
                <a:solidFill>
                  <a:srgbClr val="F4F7FB"/>
                </a:solidFill>
                <a:latin typeface="Menlo"/>
                <a:ea typeface="Menlo"/>
                <a:cs typeface="Menlo"/>
              </a:defRPr>
            </a:pPr>
            <a:r>
              <a:rPr sz="1425" b="0">
                <a:solidFill>
                  <a:srgbClr val="F4F7FB"/>
                </a:solidFill>
                <a:latin typeface="Menlo"/>
                <a:ea typeface="Menlo"/>
                <a:cs typeface="Menlo"/>
              </a:rPr>
              <a:t>i = 1</a:t>
            </a:r>
          </a:p>
          <a:p xmlns:a="http://schemas.openxmlformats.org/drawingml/2006/main">
            <a:pPr algn="l">
              <a:lnSpc>
                <a:spcPct val="112000"/>
              </a:lnSpc>
              <a:buNone/>
              <a:defRPr sz="1425" b="0">
                <a:solidFill>
                  <a:srgbClr val="F4F7FB"/>
                </a:solidFill>
                <a:latin typeface="Menlo"/>
                <a:ea typeface="Menlo"/>
                <a:cs typeface="Menlo"/>
              </a:defRPr>
            </a:pPr>
            <a:r>
              <a:rPr sz="1425" b="0">
                <a:solidFill>
                  <a:srgbClr val="F4F7FB"/>
                </a:solidFill>
                <a:latin typeface="Menlo"/>
                <a:ea typeface="Menlo"/>
                <a:cs typeface="Menlo"/>
              </a:rPr>
              <a:t>loop:  c = i &gt; 10</a:t>
            </a:r>
          </a:p>
          <a:p xmlns:a="http://schemas.openxmlformats.org/drawingml/2006/main">
            <a:pPr algn="l">
              <a:lnSpc>
                <a:spcPct val="112000"/>
              </a:lnSpc>
              <a:buNone/>
              <a:defRPr sz="1425" b="0">
                <a:solidFill>
                  <a:srgbClr val="F4F7FB"/>
                </a:solidFill>
                <a:latin typeface="Menlo"/>
                <a:ea typeface="Menlo"/>
                <a:cs typeface="Menlo"/>
              </a:defRPr>
            </a:pPr>
            <a:r>
              <a:rPr sz="1425" b="0">
                <a:solidFill>
                  <a:srgbClr val="F4F7FB"/>
                </a:solidFill>
                <a:latin typeface="Menlo"/>
                <a:ea typeface="Menlo"/>
                <a:cs typeface="Menlo"/>
              </a:rPr>
              <a:t>ifnz c goto done</a:t>
            </a:r>
          </a:p>
          <a:p xmlns:a="http://schemas.openxmlformats.org/drawingml/2006/main">
            <a:pPr algn="l">
              <a:lnSpc>
                <a:spcPct val="112000"/>
              </a:lnSpc>
              <a:buNone/>
              <a:defRPr sz="1425" b="0">
                <a:solidFill>
                  <a:srgbClr val="F4F7FB"/>
                </a:solidFill>
                <a:latin typeface="Menlo"/>
                <a:ea typeface="Menlo"/>
                <a:cs typeface="Menlo"/>
              </a:defRPr>
            </a:pPr>
            <a:r>
              <a:rPr sz="1425" b="0">
                <a:solidFill>
                  <a:srgbClr val="F4F7FB"/>
                </a:solidFill>
                <a:latin typeface="Menlo"/>
                <a:ea typeface="Menlo"/>
                <a:cs typeface="Menlo"/>
              </a:rPr>
              <a:t>total = total + i</a:t>
            </a:r>
          </a:p>
          <a:p xmlns:a="http://schemas.openxmlformats.org/drawingml/2006/main">
            <a:pPr algn="l">
              <a:lnSpc>
                <a:spcPct val="112000"/>
              </a:lnSpc>
              <a:buNone/>
              <a:defRPr sz="1425" b="0">
                <a:solidFill>
                  <a:srgbClr val="F4F7FB"/>
                </a:solidFill>
                <a:latin typeface="Menlo"/>
                <a:ea typeface="Menlo"/>
                <a:cs typeface="Menlo"/>
              </a:defRPr>
            </a:pPr>
            <a:r>
              <a:rPr sz="1425" b="0">
                <a:solidFill>
                  <a:srgbClr val="F4F7FB"/>
                </a:solidFill>
                <a:latin typeface="Menlo"/>
                <a:ea typeface="Menlo"/>
                <a:cs typeface="Menlo"/>
              </a:rPr>
              <a:t>i = i + 1</a:t>
            </a:r>
          </a:p>
          <a:p xmlns:a="http://schemas.openxmlformats.org/drawingml/2006/main">
            <a:pPr algn="l">
              <a:lnSpc>
                <a:spcPct val="112000"/>
              </a:lnSpc>
              <a:buNone/>
              <a:defRPr sz="1425" b="0">
                <a:solidFill>
                  <a:srgbClr val="F4F7FB"/>
                </a:solidFill>
                <a:latin typeface="Menlo"/>
                <a:ea typeface="Menlo"/>
                <a:cs typeface="Menlo"/>
              </a:defRPr>
            </a:pPr>
            <a:r>
              <a:rPr sz="1425" b="0">
                <a:solidFill>
                  <a:srgbClr val="F4F7FB"/>
                </a:solidFill>
                <a:latin typeface="Menlo"/>
                <a:ea typeface="Menlo"/>
                <a:cs typeface="Menlo"/>
              </a:rPr>
              <a:t>goto loop</a:t>
            </a:r>
          </a:p>
        </p:txBody>
      </p:sp>
      <p:sp>
        <p:nvSpPr>
          <p:cNvPr id="8" name="">
            <a:extLst xmlns:a="http://schemas.openxmlformats.org/drawingml/2006/main">
              <a:ext uri="{FF2B5EF4-FFF2-40B4-BE49-F238E27FC236}">
                <a16:creationId xmlns:a16="http://schemas.microsoft.com/office/drawing/2014/main" id="{5E326ED8-000D-42DD-96FB-9E7ED8914B61}"/>
              </a:ext>
            </a:extLst>
          </p:cNvPr>
          <p:cNvSpPr>
            <a:spLocks xmlns:a="http://schemas.openxmlformats.org/drawingml/2006/main" noGrp="1"/>
          </p:cNvSpPr>
          <p:nvPr/>
        </p:nvSpPr>
        <p:spPr>
          <a:xfrm xmlns:a="http://schemas.openxmlformats.org/drawingml/2006/main">
            <a:off x="6153150" y="2095500"/>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5AD6E6"/>
                </a:solidFill>
                <a:latin typeface="Avenir"/>
                <a:ea typeface="Avenir"/>
                <a:cs typeface="Avenir"/>
              </a:defRPr>
            </a:defPPr>
            <a:lvl1pPr algn="l">
              <a:defRPr sz="1425" b="1">
                <a:solidFill>
                  <a:srgbClr val="5AD6E6"/>
                </a:solidFill>
                <a:latin typeface="Avenir"/>
                <a:ea typeface="Avenir"/>
                <a:cs typeface="Avenir"/>
              </a:defRPr>
            </a:lvl1pPr>
            <a:lvl2pPr algn="l">
              <a:defRPr sz="1425" b="1">
                <a:solidFill>
                  <a:srgbClr val="5AD6E6"/>
                </a:solidFill>
                <a:latin typeface="Avenir"/>
                <a:ea typeface="Avenir"/>
                <a:cs typeface="Avenir"/>
              </a:defRPr>
            </a:lvl2pPr>
            <a:lvl3pPr algn="l">
              <a:defRPr sz="1425" b="1">
                <a:solidFill>
                  <a:srgbClr val="5AD6E6"/>
                </a:solidFill>
                <a:latin typeface="Avenir"/>
                <a:ea typeface="Avenir"/>
                <a:cs typeface="Avenir"/>
              </a:defRPr>
            </a:lvl3pPr>
            <a:lvl4pPr algn="l">
              <a:defRPr sz="1425" b="1">
                <a:solidFill>
                  <a:srgbClr val="5AD6E6"/>
                </a:solidFill>
                <a:latin typeface="Avenir"/>
                <a:ea typeface="Avenir"/>
                <a:cs typeface="Avenir"/>
              </a:defRPr>
            </a:lvl4pPr>
            <a:lvl5pPr algn="l">
              <a:defRPr sz="1425" b="1">
                <a:solidFill>
                  <a:srgbClr val="5AD6E6"/>
                </a:solidFill>
                <a:latin typeface="Avenir"/>
                <a:ea typeface="Avenir"/>
                <a:cs typeface="Avenir"/>
              </a:defRPr>
            </a:lvl5pPr>
            <a:lvl6pPr algn="l">
              <a:defRPr sz="1425" b="1">
                <a:solidFill>
                  <a:srgbClr val="5AD6E6"/>
                </a:solidFill>
                <a:latin typeface="Avenir"/>
                <a:ea typeface="Avenir"/>
                <a:cs typeface="Avenir"/>
              </a:defRPr>
            </a:lvl6pPr>
            <a:lvl7pPr algn="l">
              <a:defRPr sz="1425" b="1">
                <a:solidFill>
                  <a:srgbClr val="5AD6E6"/>
                </a:solidFill>
                <a:latin typeface="Avenir"/>
                <a:ea typeface="Avenir"/>
                <a:cs typeface="Avenir"/>
              </a:defRPr>
            </a:lvl7pPr>
            <a:lvl8pPr algn="l">
              <a:defRPr sz="1425" b="1">
                <a:solidFill>
                  <a:srgbClr val="5AD6E6"/>
                </a:solidFill>
                <a:latin typeface="Avenir"/>
                <a:ea typeface="Avenir"/>
                <a:cs typeface="Avenir"/>
              </a:defRPr>
            </a:lvl8pPr>
            <a:lvl9pPr algn="l">
              <a:defRPr sz="1425" b="1">
                <a:solidFill>
                  <a:srgbClr val="5AD6E6"/>
                </a:solidFill>
                <a:latin typeface="Avenir"/>
                <a:ea typeface="Avenir"/>
                <a:cs typeface="Avenir"/>
              </a:defRPr>
            </a:lvl9pPr>
          </a:lstStyle>
          <a:p xmlns:a="http://schemas.openxmlformats.org/drawingml/2006/main">
            <a:pPr algn="l">
              <a:lnSpc>
                <a:spcPct val="105000"/>
              </a:lnSpc>
              <a:buNone/>
              <a:defRPr sz="1425" b="1">
                <a:solidFill>
                  <a:srgbClr val="5AD6E6"/>
                </a:solidFill>
                <a:latin typeface="Avenir"/>
                <a:ea typeface="Avenir"/>
                <a:cs typeface="Avenir"/>
              </a:defRPr>
            </a:pPr>
            <a:r>
              <a:rPr sz="1425" b="1">
                <a:solidFill>
                  <a:srgbClr val="5AD6E6"/>
                </a:solidFill>
                <a:latin typeface="Avenir"/>
                <a:ea typeface="Avenir"/>
                <a:cs typeface="Avenir"/>
              </a:rPr>
              <a:t>Basic blocks</a:t>
            </a:r>
          </a:p>
        </p:txBody>
      </p:sp>
      <p:sp>
        <p:nvSpPr>
          <p:cNvPr id="9" name="">
            <a:extLst xmlns:a="http://schemas.openxmlformats.org/drawingml/2006/main">
              <a:ext uri="{FF2B5EF4-FFF2-40B4-BE49-F238E27FC236}">
                <a16:creationId xmlns:a16="http://schemas.microsoft.com/office/drawing/2014/main" id="{9963C768-E496-4206-884E-1F795B744FD8}"/>
              </a:ext>
            </a:extLst>
          </p:cNvPr>
          <p:cNvSpPr>
            <a:spLocks xmlns:a="http://schemas.openxmlformats.org/drawingml/2006/main" noGrp="1"/>
          </p:cNvSpPr>
          <p:nvPr/>
        </p:nvSpPr>
        <p:spPr>
          <a:xfrm xmlns:a="http://schemas.openxmlformats.org/drawingml/2006/main">
            <a:off x="6324600" y="2705100"/>
            <a:ext cx="2190750" cy="781050"/>
          </a:xfrm>
          <a:prstGeom xmlns:a="http://schemas.openxmlformats.org/drawingml/2006/main" prst="roundRect">
            <a:avLst>
              <a:gd name="adj" fmla="val 17073"/>
            </a:avLst>
          </a:prstGeom>
          <a:solidFill xmlns:a="http://schemas.openxmlformats.org/drawingml/2006/main">
            <a:srgbClr val="17263A"/>
          </a:solidFill>
          <a:ln xmlns:a="http://schemas.openxmlformats.org/drawingml/2006/main" w="14288">
            <a:solidFill>
              <a:srgbClr val="5AD6E6"/>
            </a:solidFill>
            <a:prstDash val="solid"/>
          </a:ln>
        </p:spPr>
        <p:txBody>
          <a:bodyPr xmlns:a="http://schemas.openxmlformats.org/drawingml/2006/main" wrap="square" lIns="133350" tIns="114300" rIns="133350" bIns="114300" anchor="ctr">
            <a:normAutofit fontScale="98808"/>
          </a:bodyPr>
          <a:lstStyle xmlns:a="http://schemas.openxmlformats.org/drawingml/2006/main">
            <a:defPPr algn="ctr">
              <a:defRPr sz="1500" b="0">
                <a:solidFill>
                  <a:srgbClr val="F4F7FB"/>
                </a:solidFill>
                <a:latin typeface="Menlo"/>
                <a:ea typeface="Menlo"/>
                <a:cs typeface="Menlo"/>
              </a:defRPr>
            </a:defPPr>
            <a:lvl1pPr algn="ctr">
              <a:defRPr sz="1500" b="0">
                <a:solidFill>
                  <a:srgbClr val="F4F7FB"/>
                </a:solidFill>
                <a:latin typeface="Menlo"/>
                <a:ea typeface="Menlo"/>
                <a:cs typeface="Menlo"/>
              </a:defRPr>
            </a:lvl1pPr>
            <a:lvl2pPr algn="ctr">
              <a:defRPr sz="1500" b="0">
                <a:solidFill>
                  <a:srgbClr val="F4F7FB"/>
                </a:solidFill>
                <a:latin typeface="Menlo"/>
                <a:ea typeface="Menlo"/>
                <a:cs typeface="Menlo"/>
              </a:defRPr>
            </a:lvl2pPr>
            <a:lvl3pPr algn="ctr">
              <a:defRPr sz="1500" b="0">
                <a:solidFill>
                  <a:srgbClr val="F4F7FB"/>
                </a:solidFill>
                <a:latin typeface="Menlo"/>
                <a:ea typeface="Menlo"/>
                <a:cs typeface="Menlo"/>
              </a:defRPr>
            </a:lvl3pPr>
            <a:lvl4pPr algn="ctr">
              <a:defRPr sz="1500" b="0">
                <a:solidFill>
                  <a:srgbClr val="F4F7FB"/>
                </a:solidFill>
                <a:latin typeface="Menlo"/>
                <a:ea typeface="Menlo"/>
                <a:cs typeface="Menlo"/>
              </a:defRPr>
            </a:lvl4pPr>
            <a:lvl5pPr algn="ctr">
              <a:defRPr sz="1500" b="0">
                <a:solidFill>
                  <a:srgbClr val="F4F7FB"/>
                </a:solidFill>
                <a:latin typeface="Menlo"/>
                <a:ea typeface="Menlo"/>
                <a:cs typeface="Menlo"/>
              </a:defRPr>
            </a:lvl5pPr>
            <a:lvl6pPr algn="ctr">
              <a:defRPr sz="1500" b="0">
                <a:solidFill>
                  <a:srgbClr val="F4F7FB"/>
                </a:solidFill>
                <a:latin typeface="Menlo"/>
                <a:ea typeface="Menlo"/>
                <a:cs typeface="Menlo"/>
              </a:defRPr>
            </a:lvl6pPr>
            <a:lvl7pPr algn="ctr">
              <a:defRPr sz="1500" b="0">
                <a:solidFill>
                  <a:srgbClr val="F4F7FB"/>
                </a:solidFill>
                <a:latin typeface="Menlo"/>
                <a:ea typeface="Menlo"/>
                <a:cs typeface="Menlo"/>
              </a:defRPr>
            </a:lvl7pPr>
            <a:lvl8pPr algn="ctr">
              <a:defRPr sz="1500" b="0">
                <a:solidFill>
                  <a:srgbClr val="F4F7FB"/>
                </a:solidFill>
                <a:latin typeface="Menlo"/>
                <a:ea typeface="Menlo"/>
                <a:cs typeface="Menlo"/>
              </a:defRPr>
            </a:lvl8pPr>
            <a:lvl9pPr algn="ctr">
              <a:defRPr sz="1500" b="0">
                <a:solidFill>
                  <a:srgbClr val="F4F7FB"/>
                </a:solidFill>
                <a:latin typeface="Menlo"/>
                <a:ea typeface="Menlo"/>
                <a:cs typeface="Menlo"/>
              </a:defRPr>
            </a:lvl9pPr>
          </a:lstStyle>
          <a:p xmlns:a="http://schemas.openxmlformats.org/drawingml/2006/main">
            <a:pPr algn="ctr">
              <a:lnSpc>
                <a:spcPct val="105000"/>
              </a:lnSpc>
              <a:buNone/>
              <a:defRPr sz="1500" b="0">
                <a:solidFill>
                  <a:srgbClr val="F4F7FB"/>
                </a:solidFill>
                <a:latin typeface="Menlo"/>
                <a:ea typeface="Menlo"/>
                <a:cs typeface="Menlo"/>
              </a:defRPr>
            </a:pPr>
            <a:r>
              <a:rPr sz="1500" b="0">
                <a:solidFill>
                  <a:srgbClr val="F4F7FB"/>
                </a:solidFill>
                <a:latin typeface="Menlo"/>
                <a:ea typeface="Menlo"/>
                <a:cs typeface="Menlo"/>
              </a:rPr>
              <a:t>B1  condition</a:t>
            </a:r>
          </a:p>
          <a:p xmlns:a="http://schemas.openxmlformats.org/drawingml/2006/main">
            <a:pPr algn="ctr">
              <a:lnSpc>
                <a:spcPct val="105000"/>
              </a:lnSpc>
              <a:buNone/>
              <a:defRPr sz="1500" b="0">
                <a:solidFill>
                  <a:srgbClr val="F4F7FB"/>
                </a:solidFill>
                <a:latin typeface="Menlo"/>
                <a:ea typeface="Menlo"/>
                <a:cs typeface="Menlo"/>
              </a:defRPr>
            </a:pPr>
            <a:r>
              <a:rPr sz="1500" b="0">
                <a:solidFill>
                  <a:srgbClr val="F4F7FB"/>
                </a:solidFill>
                <a:latin typeface="Menlo"/>
                <a:ea typeface="Menlo"/>
                <a:cs typeface="Menlo"/>
              </a:rPr>
              <a:t>i &gt; 10</a:t>
            </a:r>
          </a:p>
        </p:txBody>
      </p:sp>
      <p:sp>
        <p:nvSpPr>
          <p:cNvPr id="10" name="">
            <a:extLst xmlns:a="http://schemas.openxmlformats.org/drawingml/2006/main">
              <a:ext uri="{FF2B5EF4-FFF2-40B4-BE49-F238E27FC236}">
                <a16:creationId xmlns:a16="http://schemas.microsoft.com/office/drawing/2014/main" id="{DB0EA648-44AE-4134-B590-21DCD715569B}"/>
              </a:ext>
            </a:extLst>
          </p:cNvPr>
          <p:cNvSpPr>
            <a:spLocks xmlns:a="http://schemas.openxmlformats.org/drawingml/2006/main" noGrp="1"/>
          </p:cNvSpPr>
          <p:nvPr/>
        </p:nvSpPr>
        <p:spPr>
          <a:xfrm xmlns:a="http://schemas.openxmlformats.org/drawingml/2006/main">
            <a:off x="6324600" y="4210050"/>
            <a:ext cx="2190750" cy="895350"/>
          </a:xfrm>
          <a:prstGeom xmlns:a="http://schemas.openxmlformats.org/drawingml/2006/main" prst="roundRect">
            <a:avLst>
              <a:gd name="adj" fmla="val 14894"/>
            </a:avLst>
          </a:prstGeom>
          <a:solidFill xmlns:a="http://schemas.openxmlformats.org/drawingml/2006/main">
            <a:srgbClr val="17263A"/>
          </a:solidFill>
          <a:ln xmlns:a="http://schemas.openxmlformats.org/drawingml/2006/main" w="14288">
            <a:solidFill>
              <a:srgbClr val="476078"/>
            </a:solidFill>
            <a:prstDash val="solid"/>
          </a:ln>
        </p:spPr>
        <p:txBody>
          <a:bodyPr xmlns:a="http://schemas.openxmlformats.org/drawingml/2006/main" wrap="square" lIns="133350" tIns="114300" rIns="133350" bIns="114300" anchor="ctr">
            <a:normAutofit fontScale="100000"/>
          </a:bodyPr>
          <a:lstStyle xmlns:a="http://schemas.openxmlformats.org/drawingml/2006/main">
            <a:defPPr algn="ctr">
              <a:defRPr sz="1425" b="0">
                <a:solidFill>
                  <a:srgbClr val="F4F7FB"/>
                </a:solidFill>
                <a:latin typeface="Menlo"/>
                <a:ea typeface="Menlo"/>
                <a:cs typeface="Menlo"/>
              </a:defRPr>
            </a:defPPr>
            <a:lvl1pPr algn="ctr">
              <a:defRPr sz="1425" b="0">
                <a:solidFill>
                  <a:srgbClr val="F4F7FB"/>
                </a:solidFill>
                <a:latin typeface="Menlo"/>
                <a:ea typeface="Menlo"/>
                <a:cs typeface="Menlo"/>
              </a:defRPr>
            </a:lvl1pPr>
            <a:lvl2pPr algn="ctr">
              <a:defRPr sz="1425" b="0">
                <a:solidFill>
                  <a:srgbClr val="F4F7FB"/>
                </a:solidFill>
                <a:latin typeface="Menlo"/>
                <a:ea typeface="Menlo"/>
                <a:cs typeface="Menlo"/>
              </a:defRPr>
            </a:lvl2pPr>
            <a:lvl3pPr algn="ctr">
              <a:defRPr sz="1425" b="0">
                <a:solidFill>
                  <a:srgbClr val="F4F7FB"/>
                </a:solidFill>
                <a:latin typeface="Menlo"/>
                <a:ea typeface="Menlo"/>
                <a:cs typeface="Menlo"/>
              </a:defRPr>
            </a:lvl3pPr>
            <a:lvl4pPr algn="ctr">
              <a:defRPr sz="1425" b="0">
                <a:solidFill>
                  <a:srgbClr val="F4F7FB"/>
                </a:solidFill>
                <a:latin typeface="Menlo"/>
                <a:ea typeface="Menlo"/>
                <a:cs typeface="Menlo"/>
              </a:defRPr>
            </a:lvl4pPr>
            <a:lvl5pPr algn="ctr">
              <a:defRPr sz="1425" b="0">
                <a:solidFill>
                  <a:srgbClr val="F4F7FB"/>
                </a:solidFill>
                <a:latin typeface="Menlo"/>
                <a:ea typeface="Menlo"/>
                <a:cs typeface="Menlo"/>
              </a:defRPr>
            </a:lvl5pPr>
            <a:lvl6pPr algn="ctr">
              <a:defRPr sz="1425" b="0">
                <a:solidFill>
                  <a:srgbClr val="F4F7FB"/>
                </a:solidFill>
                <a:latin typeface="Menlo"/>
                <a:ea typeface="Menlo"/>
                <a:cs typeface="Menlo"/>
              </a:defRPr>
            </a:lvl6pPr>
            <a:lvl7pPr algn="ctr">
              <a:defRPr sz="1425" b="0">
                <a:solidFill>
                  <a:srgbClr val="F4F7FB"/>
                </a:solidFill>
                <a:latin typeface="Menlo"/>
                <a:ea typeface="Menlo"/>
                <a:cs typeface="Menlo"/>
              </a:defRPr>
            </a:lvl7pPr>
            <a:lvl8pPr algn="ctr">
              <a:defRPr sz="1425" b="0">
                <a:solidFill>
                  <a:srgbClr val="F4F7FB"/>
                </a:solidFill>
                <a:latin typeface="Menlo"/>
                <a:ea typeface="Menlo"/>
                <a:cs typeface="Menlo"/>
              </a:defRPr>
            </a:lvl8pPr>
            <a:lvl9pPr algn="ctr">
              <a:defRPr sz="1425" b="0">
                <a:solidFill>
                  <a:srgbClr val="F4F7FB"/>
                </a:solidFill>
                <a:latin typeface="Menlo"/>
                <a:ea typeface="Menlo"/>
                <a:cs typeface="Menlo"/>
              </a:defRPr>
            </a:lvl9pPr>
          </a:lstStyle>
          <a:p xmlns:a="http://schemas.openxmlformats.org/drawingml/2006/main">
            <a:pPr algn="ctr">
              <a:lnSpc>
                <a:spcPct val="105000"/>
              </a:lnSpc>
              <a:buNone/>
              <a:defRPr sz="1425" b="0">
                <a:solidFill>
                  <a:srgbClr val="F4F7FB"/>
                </a:solidFill>
                <a:latin typeface="Menlo"/>
                <a:ea typeface="Menlo"/>
                <a:cs typeface="Menlo"/>
              </a:defRPr>
            </a:pPr>
            <a:r>
              <a:rPr sz="1425" b="0">
                <a:solidFill>
                  <a:srgbClr val="F4F7FB"/>
                </a:solidFill>
                <a:latin typeface="Menlo"/>
                <a:ea typeface="Menlo"/>
                <a:cs typeface="Menlo"/>
              </a:rPr>
              <a:t>B2  loop body</a:t>
            </a:r>
          </a:p>
          <a:p xmlns:a="http://schemas.openxmlformats.org/drawingml/2006/main">
            <a:pPr algn="ctr">
              <a:lnSpc>
                <a:spcPct val="105000"/>
              </a:lnSpc>
              <a:buNone/>
              <a:defRPr sz="1425" b="0">
                <a:solidFill>
                  <a:srgbClr val="F4F7FB"/>
                </a:solidFill>
                <a:latin typeface="Menlo"/>
                <a:ea typeface="Menlo"/>
                <a:cs typeface="Menlo"/>
              </a:defRPr>
            </a:pPr>
            <a:r>
              <a:rPr sz="1425" b="0">
                <a:solidFill>
                  <a:srgbClr val="F4F7FB"/>
                </a:solidFill>
                <a:latin typeface="Menlo"/>
                <a:ea typeface="Menlo"/>
                <a:cs typeface="Menlo"/>
              </a:rPr>
              <a:t>update total, i</a:t>
            </a:r>
          </a:p>
        </p:txBody>
      </p:sp>
      <p:sp>
        <p:nvSpPr>
          <p:cNvPr id="11" name="">
            <a:extLst xmlns:a="http://schemas.openxmlformats.org/drawingml/2006/main">
              <a:ext uri="{FF2B5EF4-FFF2-40B4-BE49-F238E27FC236}">
                <a16:creationId xmlns:a16="http://schemas.microsoft.com/office/drawing/2014/main" id="{4703D059-2977-43E5-B9C3-A336F6E051B8}"/>
              </a:ext>
            </a:extLst>
          </p:cNvPr>
          <p:cNvSpPr>
            <a:spLocks xmlns:a="http://schemas.openxmlformats.org/drawingml/2006/main" noGrp="1"/>
          </p:cNvSpPr>
          <p:nvPr/>
        </p:nvSpPr>
        <p:spPr>
          <a:xfrm xmlns:a="http://schemas.openxmlformats.org/drawingml/2006/main">
            <a:off x="9220200" y="2705100"/>
            <a:ext cx="2000250" cy="781050"/>
          </a:xfrm>
          <a:prstGeom xmlns:a="http://schemas.openxmlformats.org/drawingml/2006/main" prst="roundRect">
            <a:avLst>
              <a:gd name="adj" fmla="val 17073"/>
            </a:avLst>
          </a:prstGeom>
          <a:solidFill xmlns:a="http://schemas.openxmlformats.org/drawingml/2006/main">
            <a:srgbClr val="17263A"/>
          </a:solidFill>
          <a:ln xmlns:a="http://schemas.openxmlformats.org/drawingml/2006/main" w="14288">
            <a:solidFill>
              <a:srgbClr val="9BE3BD"/>
            </a:solidFill>
            <a:prstDash val="solid"/>
          </a:ln>
        </p:spPr>
        <p:txBody>
          <a:bodyPr xmlns:a="http://schemas.openxmlformats.org/drawingml/2006/main" wrap="square" lIns="133350" tIns="114300" rIns="133350" bIns="114300" anchor="ctr">
            <a:normAutofit fontScale="98808"/>
          </a:bodyPr>
          <a:lstStyle xmlns:a="http://schemas.openxmlformats.org/drawingml/2006/main">
            <a:defPPr algn="ctr">
              <a:defRPr sz="1500" b="0">
                <a:solidFill>
                  <a:srgbClr val="F4F7FB"/>
                </a:solidFill>
                <a:latin typeface="Menlo"/>
                <a:ea typeface="Menlo"/>
                <a:cs typeface="Menlo"/>
              </a:defRPr>
            </a:defPPr>
            <a:lvl1pPr algn="ctr">
              <a:defRPr sz="1500" b="0">
                <a:solidFill>
                  <a:srgbClr val="F4F7FB"/>
                </a:solidFill>
                <a:latin typeface="Menlo"/>
                <a:ea typeface="Menlo"/>
                <a:cs typeface="Menlo"/>
              </a:defRPr>
            </a:lvl1pPr>
            <a:lvl2pPr algn="ctr">
              <a:defRPr sz="1500" b="0">
                <a:solidFill>
                  <a:srgbClr val="F4F7FB"/>
                </a:solidFill>
                <a:latin typeface="Menlo"/>
                <a:ea typeface="Menlo"/>
                <a:cs typeface="Menlo"/>
              </a:defRPr>
            </a:lvl2pPr>
            <a:lvl3pPr algn="ctr">
              <a:defRPr sz="1500" b="0">
                <a:solidFill>
                  <a:srgbClr val="F4F7FB"/>
                </a:solidFill>
                <a:latin typeface="Menlo"/>
                <a:ea typeface="Menlo"/>
                <a:cs typeface="Menlo"/>
              </a:defRPr>
            </a:lvl3pPr>
            <a:lvl4pPr algn="ctr">
              <a:defRPr sz="1500" b="0">
                <a:solidFill>
                  <a:srgbClr val="F4F7FB"/>
                </a:solidFill>
                <a:latin typeface="Menlo"/>
                <a:ea typeface="Menlo"/>
                <a:cs typeface="Menlo"/>
              </a:defRPr>
            </a:lvl4pPr>
            <a:lvl5pPr algn="ctr">
              <a:defRPr sz="1500" b="0">
                <a:solidFill>
                  <a:srgbClr val="F4F7FB"/>
                </a:solidFill>
                <a:latin typeface="Menlo"/>
                <a:ea typeface="Menlo"/>
                <a:cs typeface="Menlo"/>
              </a:defRPr>
            </a:lvl5pPr>
            <a:lvl6pPr algn="ctr">
              <a:defRPr sz="1500" b="0">
                <a:solidFill>
                  <a:srgbClr val="F4F7FB"/>
                </a:solidFill>
                <a:latin typeface="Menlo"/>
                <a:ea typeface="Menlo"/>
                <a:cs typeface="Menlo"/>
              </a:defRPr>
            </a:lvl6pPr>
            <a:lvl7pPr algn="ctr">
              <a:defRPr sz="1500" b="0">
                <a:solidFill>
                  <a:srgbClr val="F4F7FB"/>
                </a:solidFill>
                <a:latin typeface="Menlo"/>
                <a:ea typeface="Menlo"/>
                <a:cs typeface="Menlo"/>
              </a:defRPr>
            </a:lvl7pPr>
            <a:lvl8pPr algn="ctr">
              <a:defRPr sz="1500" b="0">
                <a:solidFill>
                  <a:srgbClr val="F4F7FB"/>
                </a:solidFill>
                <a:latin typeface="Menlo"/>
                <a:ea typeface="Menlo"/>
                <a:cs typeface="Menlo"/>
              </a:defRPr>
            </a:lvl8pPr>
            <a:lvl9pPr algn="ctr">
              <a:defRPr sz="1500" b="0">
                <a:solidFill>
                  <a:srgbClr val="F4F7FB"/>
                </a:solidFill>
                <a:latin typeface="Menlo"/>
                <a:ea typeface="Menlo"/>
                <a:cs typeface="Menlo"/>
              </a:defRPr>
            </a:lvl9pPr>
          </a:lstStyle>
          <a:p xmlns:a="http://schemas.openxmlformats.org/drawingml/2006/main">
            <a:pPr algn="ctr">
              <a:lnSpc>
                <a:spcPct val="105000"/>
              </a:lnSpc>
              <a:buNone/>
              <a:defRPr sz="1500" b="0">
                <a:solidFill>
                  <a:srgbClr val="F4F7FB"/>
                </a:solidFill>
                <a:latin typeface="Menlo"/>
                <a:ea typeface="Menlo"/>
                <a:cs typeface="Menlo"/>
              </a:defRPr>
            </a:pPr>
            <a:r>
              <a:rPr sz="1500" b="0">
                <a:solidFill>
                  <a:srgbClr val="F4F7FB"/>
                </a:solidFill>
                <a:latin typeface="Menlo"/>
                <a:ea typeface="Menlo"/>
                <a:cs typeface="Menlo"/>
              </a:rPr>
              <a:t>B3  exit</a:t>
            </a:r>
          </a:p>
          <a:p xmlns:a="http://schemas.openxmlformats.org/drawingml/2006/main">
            <a:pPr algn="ctr">
              <a:lnSpc>
                <a:spcPct val="105000"/>
              </a:lnSpc>
              <a:buNone/>
              <a:defRPr sz="1500" b="0">
                <a:solidFill>
                  <a:srgbClr val="F4F7FB"/>
                </a:solidFill>
                <a:latin typeface="Menlo"/>
                <a:ea typeface="Menlo"/>
                <a:cs typeface="Menlo"/>
              </a:defRPr>
            </a:pPr>
            <a:r>
              <a:rPr sz="1500" b="0">
                <a:solidFill>
                  <a:srgbClr val="F4F7FB"/>
                </a:solidFill>
                <a:latin typeface="Menlo"/>
                <a:ea typeface="Menlo"/>
                <a:cs typeface="Menlo"/>
              </a:rPr>
              <a:t>print total</a:t>
            </a:r>
          </a:p>
        </p:txBody>
      </p:sp>
      <p:sp>
        <p:nvSpPr>
          <p:cNvPr id="14" name="">
            <a:extLst xmlns:a="http://schemas.openxmlformats.org/drawingml/2006/main">
              <a:ext uri="{FF2B5EF4-FFF2-40B4-BE49-F238E27FC236}">
                <a16:creationId xmlns:a16="http://schemas.microsoft.com/office/drawing/2014/main" id="{07CD412A-01F8-40CA-AF90-60784B9CDA76}"/>
              </a:ext>
            </a:extLst>
          </p:cNvPr>
          <p:cNvSpPr>
            <a:spLocks xmlns:a="http://schemas.openxmlformats.org/drawingml/2006/main" noGrp="1"/>
          </p:cNvSpPr>
          <p:nvPr/>
        </p:nvSpPr>
        <p:spPr>
          <a:xfrm xmlns:a="http://schemas.openxmlformats.org/drawingml/2006/main">
            <a:off x="7524750" y="35814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0">
                <a:solidFill>
                  <a:srgbClr val="5AD6E6"/>
                </a:solidFill>
                <a:latin typeface="Avenir"/>
                <a:ea typeface="Avenir"/>
                <a:cs typeface="Avenir"/>
              </a:defRPr>
            </a:defPPr>
            <a:lvl1pPr algn="ctr">
              <a:defRPr sz="1275" b="0">
                <a:solidFill>
                  <a:srgbClr val="5AD6E6"/>
                </a:solidFill>
                <a:latin typeface="Avenir"/>
                <a:ea typeface="Avenir"/>
                <a:cs typeface="Avenir"/>
              </a:defRPr>
            </a:lvl1pPr>
            <a:lvl2pPr algn="ctr">
              <a:defRPr sz="1275" b="0">
                <a:solidFill>
                  <a:srgbClr val="5AD6E6"/>
                </a:solidFill>
                <a:latin typeface="Avenir"/>
                <a:ea typeface="Avenir"/>
                <a:cs typeface="Avenir"/>
              </a:defRPr>
            </a:lvl2pPr>
            <a:lvl3pPr algn="ctr">
              <a:defRPr sz="1275" b="0">
                <a:solidFill>
                  <a:srgbClr val="5AD6E6"/>
                </a:solidFill>
                <a:latin typeface="Avenir"/>
                <a:ea typeface="Avenir"/>
                <a:cs typeface="Avenir"/>
              </a:defRPr>
            </a:lvl3pPr>
            <a:lvl4pPr algn="ctr">
              <a:defRPr sz="1275" b="0">
                <a:solidFill>
                  <a:srgbClr val="5AD6E6"/>
                </a:solidFill>
                <a:latin typeface="Avenir"/>
                <a:ea typeface="Avenir"/>
                <a:cs typeface="Avenir"/>
              </a:defRPr>
            </a:lvl4pPr>
            <a:lvl5pPr algn="ctr">
              <a:defRPr sz="1275" b="0">
                <a:solidFill>
                  <a:srgbClr val="5AD6E6"/>
                </a:solidFill>
                <a:latin typeface="Avenir"/>
                <a:ea typeface="Avenir"/>
                <a:cs typeface="Avenir"/>
              </a:defRPr>
            </a:lvl5pPr>
            <a:lvl6pPr algn="ctr">
              <a:defRPr sz="1275" b="0">
                <a:solidFill>
                  <a:srgbClr val="5AD6E6"/>
                </a:solidFill>
                <a:latin typeface="Avenir"/>
                <a:ea typeface="Avenir"/>
                <a:cs typeface="Avenir"/>
              </a:defRPr>
            </a:lvl6pPr>
            <a:lvl7pPr algn="ctr">
              <a:defRPr sz="1275" b="0">
                <a:solidFill>
                  <a:srgbClr val="5AD6E6"/>
                </a:solidFill>
                <a:latin typeface="Avenir"/>
                <a:ea typeface="Avenir"/>
                <a:cs typeface="Avenir"/>
              </a:defRPr>
            </a:lvl7pPr>
            <a:lvl8pPr algn="ctr">
              <a:defRPr sz="1275" b="0">
                <a:solidFill>
                  <a:srgbClr val="5AD6E6"/>
                </a:solidFill>
                <a:latin typeface="Avenir"/>
                <a:ea typeface="Avenir"/>
                <a:cs typeface="Avenir"/>
              </a:defRPr>
            </a:lvl8pPr>
            <a:lvl9pPr algn="ctr">
              <a:defRPr sz="1275" b="0">
                <a:solidFill>
                  <a:srgbClr val="5AD6E6"/>
                </a:solidFill>
                <a:latin typeface="Avenir"/>
                <a:ea typeface="Avenir"/>
                <a:cs typeface="Avenir"/>
              </a:defRPr>
            </a:lvl9pPr>
          </a:lstStyle>
          <a:p xmlns:a="http://schemas.openxmlformats.org/drawingml/2006/main">
            <a:pPr algn="ctr">
              <a:lnSpc>
                <a:spcPct val="105000"/>
              </a:lnSpc>
              <a:buNone/>
              <a:defRPr sz="1275" b="0">
                <a:solidFill>
                  <a:srgbClr val="5AD6E6"/>
                </a:solidFill>
                <a:latin typeface="Avenir"/>
                <a:ea typeface="Avenir"/>
                <a:cs typeface="Avenir"/>
              </a:defRPr>
            </a:pPr>
            <a:r>
              <a:rPr sz="1275" b="0">
                <a:solidFill>
                  <a:srgbClr val="5AD6E6"/>
                </a:solidFill>
                <a:latin typeface="Avenir"/>
                <a:ea typeface="Avenir"/>
                <a:cs typeface="Avenir"/>
              </a:rPr>
              <a:t>body</a:t>
            </a:r>
          </a:p>
        </p:txBody>
      </p:sp>
      <p:sp>
        <p:nvSpPr>
          <p:cNvPr id="15" name="">
            <a:extLst xmlns:a="http://schemas.openxmlformats.org/drawingml/2006/main">
              <a:ext uri="{FF2B5EF4-FFF2-40B4-BE49-F238E27FC236}">
                <a16:creationId xmlns:a16="http://schemas.microsoft.com/office/drawing/2014/main" id="{52943E5B-7C19-4F5B-8258-79B9F34C7C9F}"/>
              </a:ext>
            </a:extLst>
          </p:cNvPr>
          <p:cNvSpPr>
            <a:spLocks xmlns:a="http://schemas.openxmlformats.org/drawingml/2006/main" noGrp="1"/>
          </p:cNvSpPr>
          <p:nvPr/>
        </p:nvSpPr>
        <p:spPr>
          <a:xfrm xmlns:a="http://schemas.openxmlformats.org/drawingml/2006/main">
            <a:off x="8543925" y="2762250"/>
            <a:ext cx="609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0">
                <a:solidFill>
                  <a:srgbClr val="9BE3BD"/>
                </a:solidFill>
                <a:latin typeface="Avenir"/>
                <a:ea typeface="Avenir"/>
                <a:cs typeface="Avenir"/>
              </a:defRPr>
            </a:defPPr>
            <a:lvl1pPr algn="ctr">
              <a:defRPr sz="1275" b="0">
                <a:solidFill>
                  <a:srgbClr val="9BE3BD"/>
                </a:solidFill>
                <a:latin typeface="Avenir"/>
                <a:ea typeface="Avenir"/>
                <a:cs typeface="Avenir"/>
              </a:defRPr>
            </a:lvl1pPr>
            <a:lvl2pPr algn="ctr">
              <a:defRPr sz="1275" b="0">
                <a:solidFill>
                  <a:srgbClr val="9BE3BD"/>
                </a:solidFill>
                <a:latin typeface="Avenir"/>
                <a:ea typeface="Avenir"/>
                <a:cs typeface="Avenir"/>
              </a:defRPr>
            </a:lvl2pPr>
            <a:lvl3pPr algn="ctr">
              <a:defRPr sz="1275" b="0">
                <a:solidFill>
                  <a:srgbClr val="9BE3BD"/>
                </a:solidFill>
                <a:latin typeface="Avenir"/>
                <a:ea typeface="Avenir"/>
                <a:cs typeface="Avenir"/>
              </a:defRPr>
            </a:lvl3pPr>
            <a:lvl4pPr algn="ctr">
              <a:defRPr sz="1275" b="0">
                <a:solidFill>
                  <a:srgbClr val="9BE3BD"/>
                </a:solidFill>
                <a:latin typeface="Avenir"/>
                <a:ea typeface="Avenir"/>
                <a:cs typeface="Avenir"/>
              </a:defRPr>
            </a:lvl4pPr>
            <a:lvl5pPr algn="ctr">
              <a:defRPr sz="1275" b="0">
                <a:solidFill>
                  <a:srgbClr val="9BE3BD"/>
                </a:solidFill>
                <a:latin typeface="Avenir"/>
                <a:ea typeface="Avenir"/>
                <a:cs typeface="Avenir"/>
              </a:defRPr>
            </a:lvl5pPr>
            <a:lvl6pPr algn="ctr">
              <a:defRPr sz="1275" b="0">
                <a:solidFill>
                  <a:srgbClr val="9BE3BD"/>
                </a:solidFill>
                <a:latin typeface="Avenir"/>
                <a:ea typeface="Avenir"/>
                <a:cs typeface="Avenir"/>
              </a:defRPr>
            </a:lvl6pPr>
            <a:lvl7pPr algn="ctr">
              <a:defRPr sz="1275" b="0">
                <a:solidFill>
                  <a:srgbClr val="9BE3BD"/>
                </a:solidFill>
                <a:latin typeface="Avenir"/>
                <a:ea typeface="Avenir"/>
                <a:cs typeface="Avenir"/>
              </a:defRPr>
            </a:lvl7pPr>
            <a:lvl8pPr algn="ctr">
              <a:defRPr sz="1275" b="0">
                <a:solidFill>
                  <a:srgbClr val="9BE3BD"/>
                </a:solidFill>
                <a:latin typeface="Avenir"/>
                <a:ea typeface="Avenir"/>
                <a:cs typeface="Avenir"/>
              </a:defRPr>
            </a:lvl8pPr>
            <a:lvl9pPr algn="ctr">
              <a:defRPr sz="1275" b="0">
                <a:solidFill>
                  <a:srgbClr val="9BE3BD"/>
                </a:solidFill>
                <a:latin typeface="Avenir"/>
                <a:ea typeface="Avenir"/>
                <a:cs typeface="Avenir"/>
              </a:defRPr>
            </a:lvl9pPr>
          </a:lstStyle>
          <a:p xmlns:a="http://schemas.openxmlformats.org/drawingml/2006/main">
            <a:pPr algn="ctr">
              <a:lnSpc>
                <a:spcPct val="105000"/>
              </a:lnSpc>
              <a:buNone/>
              <a:defRPr sz="1275" b="0">
                <a:solidFill>
                  <a:srgbClr val="9BE3BD"/>
                </a:solidFill>
                <a:latin typeface="Avenir"/>
                <a:ea typeface="Avenir"/>
                <a:cs typeface="Avenir"/>
              </a:defRPr>
            </a:pPr>
            <a:r>
              <a:rPr sz="1275" b="0">
                <a:solidFill>
                  <a:srgbClr val="9BE3BD"/>
                </a:solidFill>
                <a:latin typeface="Avenir"/>
                <a:ea typeface="Avenir"/>
                <a:cs typeface="Avenir"/>
              </a:rPr>
              <a:t>done</a:t>
            </a:r>
          </a:p>
        </p:txBody>
      </p:sp>
      <p:sp>
        <p:nvSpPr>
          <p:cNvPr id="17" name="">
            <a:extLst xmlns:a="http://schemas.openxmlformats.org/drawingml/2006/main">
              <a:ext uri="{FF2B5EF4-FFF2-40B4-BE49-F238E27FC236}">
                <a16:creationId xmlns:a16="http://schemas.microsoft.com/office/drawing/2014/main" id="{679546E0-AE4D-488D-93F5-1653481386E4}"/>
              </a:ext>
            </a:extLst>
          </p:cNvPr>
          <p:cNvSpPr>
            <a:spLocks xmlns:a="http://schemas.openxmlformats.org/drawingml/2006/main" noGrp="1"/>
          </p:cNvSpPr>
          <p:nvPr/>
        </p:nvSpPr>
        <p:spPr>
          <a:xfrm xmlns:a="http://schemas.openxmlformats.org/drawingml/2006/main">
            <a:off x="5467350" y="3648075"/>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0">
                <a:solidFill>
                  <a:srgbClr val="FFC86A"/>
                </a:solidFill>
                <a:latin typeface="Avenir"/>
                <a:ea typeface="Avenir"/>
                <a:cs typeface="Avenir"/>
              </a:defRPr>
            </a:defPPr>
            <a:lvl1pPr algn="ctr">
              <a:defRPr sz="1200" b="0">
                <a:solidFill>
                  <a:srgbClr val="FFC86A"/>
                </a:solidFill>
                <a:latin typeface="Avenir"/>
                <a:ea typeface="Avenir"/>
                <a:cs typeface="Avenir"/>
              </a:defRPr>
            </a:lvl1pPr>
            <a:lvl2pPr algn="ctr">
              <a:defRPr sz="1200" b="0">
                <a:solidFill>
                  <a:srgbClr val="FFC86A"/>
                </a:solidFill>
                <a:latin typeface="Avenir"/>
                <a:ea typeface="Avenir"/>
                <a:cs typeface="Avenir"/>
              </a:defRPr>
            </a:lvl2pPr>
            <a:lvl3pPr algn="ctr">
              <a:defRPr sz="1200" b="0">
                <a:solidFill>
                  <a:srgbClr val="FFC86A"/>
                </a:solidFill>
                <a:latin typeface="Avenir"/>
                <a:ea typeface="Avenir"/>
                <a:cs typeface="Avenir"/>
              </a:defRPr>
            </a:lvl3pPr>
            <a:lvl4pPr algn="ctr">
              <a:defRPr sz="1200" b="0">
                <a:solidFill>
                  <a:srgbClr val="FFC86A"/>
                </a:solidFill>
                <a:latin typeface="Avenir"/>
                <a:ea typeface="Avenir"/>
                <a:cs typeface="Avenir"/>
              </a:defRPr>
            </a:lvl4pPr>
            <a:lvl5pPr algn="ctr">
              <a:defRPr sz="1200" b="0">
                <a:solidFill>
                  <a:srgbClr val="FFC86A"/>
                </a:solidFill>
                <a:latin typeface="Avenir"/>
                <a:ea typeface="Avenir"/>
                <a:cs typeface="Avenir"/>
              </a:defRPr>
            </a:lvl5pPr>
            <a:lvl6pPr algn="ctr">
              <a:defRPr sz="1200" b="0">
                <a:solidFill>
                  <a:srgbClr val="FFC86A"/>
                </a:solidFill>
                <a:latin typeface="Avenir"/>
                <a:ea typeface="Avenir"/>
                <a:cs typeface="Avenir"/>
              </a:defRPr>
            </a:lvl6pPr>
            <a:lvl7pPr algn="ctr">
              <a:defRPr sz="1200" b="0">
                <a:solidFill>
                  <a:srgbClr val="FFC86A"/>
                </a:solidFill>
                <a:latin typeface="Avenir"/>
                <a:ea typeface="Avenir"/>
                <a:cs typeface="Avenir"/>
              </a:defRPr>
            </a:lvl7pPr>
            <a:lvl8pPr algn="ctr">
              <a:defRPr sz="1200" b="0">
                <a:solidFill>
                  <a:srgbClr val="FFC86A"/>
                </a:solidFill>
                <a:latin typeface="Avenir"/>
                <a:ea typeface="Avenir"/>
                <a:cs typeface="Avenir"/>
              </a:defRPr>
            </a:lvl8pPr>
            <a:lvl9pPr algn="ctr">
              <a:defRPr sz="1200" b="0">
                <a:solidFill>
                  <a:srgbClr val="FFC86A"/>
                </a:solidFill>
                <a:latin typeface="Avenir"/>
                <a:ea typeface="Avenir"/>
                <a:cs typeface="Avenir"/>
              </a:defRPr>
            </a:lvl9pPr>
          </a:lstStyle>
          <a:p xmlns:a="http://schemas.openxmlformats.org/drawingml/2006/main">
            <a:pPr algn="ctr">
              <a:lnSpc>
                <a:spcPct val="105000"/>
              </a:lnSpc>
              <a:buNone/>
              <a:defRPr sz="1200" b="0">
                <a:solidFill>
                  <a:srgbClr val="FFC86A"/>
                </a:solidFill>
                <a:latin typeface="Avenir"/>
                <a:ea typeface="Avenir"/>
                <a:cs typeface="Avenir"/>
              </a:defRPr>
            </a:pPr>
            <a:r>
              <a:rPr sz="1200" b="0">
                <a:solidFill>
                  <a:srgbClr val="FFC86A"/>
                </a:solidFill>
                <a:latin typeface="Avenir"/>
                <a:ea typeface="Avenir"/>
                <a:cs typeface="Avenir"/>
              </a:rPr>
              <a:t>back-edge</a:t>
            </a:r>
          </a:p>
        </p:txBody>
      </p:sp>
    </p:spTree>
    <p:extLst>
      <p:ext uri="{BB962C8B-B14F-4D97-AF65-F5344CB8AC3E}">
        <p14:creationId xmlns:p14="http://schemas.microsoft.com/office/powerpoint/2010/main" val="1060216992"/>
      </p:ext>
    </p:extLst>
  </p:cSld>
</p:sld>
</file>

<file path=ppt/slides/slide5.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484D0CE0-7FD7-45E2-9361-E7BF42ABD380}"/>
              </a:ext>
            </a:extLst>
          </p:cNvPr>
          <p:cNvCxnSpPr>
            <a:stCxn xmlns:a="http://schemas.openxmlformats.org/drawingml/2006/main" id="5" idx="3"/>
            <a:endCxn xmlns:a="http://schemas.openxmlformats.org/drawingml/2006/main" id="7" idx="1"/>
          </p:cNvCxnSpPr>
          <p:nvPr/>
        </p:nvCxnSpPr>
        <p:spPr>
          <a:xfrm xmlns:a="http://schemas.openxmlformats.org/drawingml/2006/main">
            <a:off x="7505700" y="3143250"/>
            <a:ext cx="1333500" cy="0"/>
          </a:xfrm>
          <a:prstGeom xmlns:a="http://schemas.openxmlformats.org/drawingml/2006/main" prst="straightConnector1">
            <a:avLst/>
          </a:prstGeom>
          <a:ln xmlns:a="http://schemas.openxmlformats.org/drawingml/2006/main" w="19050">
            <a:solidFill>
              <a:srgbClr val="5AD6E6"/>
            </a:solidFill>
            <a:prstDash val="solid"/>
            <a:tailEnd type="arrow" w="sm" len="sm"/>
          </a:ln>
        </p:spPr>
      </p:cxnSp>
      <p:cxnSp>
        <p:nvCxnSpPr>
          <p:cNvPr id="10" name="">
            <a:extLst xmlns:a="http://schemas.openxmlformats.org/drawingml/2006/main">
              <a:ext uri="{FF2B5EF4-FFF2-40B4-BE49-F238E27FC236}">
                <a16:creationId xmlns:a16="http://schemas.microsoft.com/office/drawing/2014/main" id="{DF5261AC-FE3A-42EF-8AF6-1B98B13B4C91}"/>
              </a:ext>
            </a:extLst>
          </p:cNvPr>
          <p:cNvCxnSpPr>
            <a:stCxn xmlns:a="http://schemas.openxmlformats.org/drawingml/2006/main" id="6" idx="1"/>
            <a:endCxn xmlns:a="http://schemas.openxmlformats.org/drawingml/2006/main" id="5" idx="2"/>
          </p:cNvCxnSpPr>
          <p:nvPr/>
        </p:nvCxnSpPr>
        <p:spPr>
          <a:xfrm xmlns:a="http://schemas.openxmlformats.org/drawingml/2006/main" flipV="1">
            <a:off x="4705350" y="3638550"/>
            <a:ext cx="1514475" cy="1409700"/>
          </a:xfrm>
          <a:prstGeom xmlns:a="http://schemas.openxmlformats.org/drawingml/2006/main" prst="bentConnector4">
            <a:avLst/>
          </a:prstGeom>
          <a:ln xmlns:a="http://schemas.openxmlformats.org/drawingml/2006/main" w="19050">
            <a:solidFill>
              <a:srgbClr val="FFC86A"/>
            </a:solidFill>
            <a:prstDash val="solid"/>
            <a:tailEnd type="arrow" w="sm" len="sm"/>
          </a:ln>
        </p:spPr>
      </p:cxnSp>
      <p:cxnSp>
        <p:nvCxnSpPr>
          <p:cNvPr id="9" name="">
            <a:extLst xmlns:a="http://schemas.openxmlformats.org/drawingml/2006/main">
              <a:ext uri="{FF2B5EF4-FFF2-40B4-BE49-F238E27FC236}">
                <a16:creationId xmlns:a16="http://schemas.microsoft.com/office/drawing/2014/main" id="{45F6FE4D-0814-43AD-A1A5-55EFDDF93F43}"/>
              </a:ext>
            </a:extLst>
          </p:cNvPr>
          <p:cNvCxnSpPr>
            <a:stCxn xmlns:a="http://schemas.openxmlformats.org/drawingml/2006/main" id="5" idx="2"/>
            <a:endCxn xmlns:a="http://schemas.openxmlformats.org/drawingml/2006/main" id="6" idx="0"/>
          </p:cNvCxnSpPr>
          <p:nvPr/>
        </p:nvCxnSpPr>
        <p:spPr>
          <a:xfrm xmlns:a="http://schemas.openxmlformats.org/drawingml/2006/main">
            <a:off x="6219825" y="3638550"/>
            <a:ext cx="0" cy="971550"/>
          </a:xfrm>
          <a:prstGeom xmlns:a="http://schemas.openxmlformats.org/drawingml/2006/main" prst="straightConnector1">
            <a:avLst/>
          </a:prstGeom>
          <a:ln xmlns:a="http://schemas.openxmlformats.org/drawingml/2006/main" w="19050">
            <a:solidFill>
              <a:srgbClr val="5AD6E6"/>
            </a:solidFill>
            <a:prstDash val="solid"/>
            <a:tailEnd type="arrow" w="sm" len="sm"/>
          </a:ln>
        </p:spPr>
      </p:cxnSp>
      <p:cxnSp>
        <p:nvCxnSpPr>
          <p:cNvPr id="8" name="">
            <a:extLst xmlns:a="http://schemas.openxmlformats.org/drawingml/2006/main">
              <a:ext uri="{FF2B5EF4-FFF2-40B4-BE49-F238E27FC236}">
                <a16:creationId xmlns:a16="http://schemas.microsoft.com/office/drawing/2014/main" id="{E0E455AA-0F57-4F3F-A913-F78806DE996B}"/>
              </a:ext>
            </a:extLst>
          </p:cNvPr>
          <p:cNvCxnSpPr>
            <a:stCxn xmlns:a="http://schemas.openxmlformats.org/drawingml/2006/main" id="4" idx="3"/>
            <a:endCxn xmlns:a="http://schemas.openxmlformats.org/drawingml/2006/main" id="5" idx="1"/>
          </p:cNvCxnSpPr>
          <p:nvPr/>
        </p:nvCxnSpPr>
        <p:spPr>
          <a:xfrm xmlns:a="http://schemas.openxmlformats.org/drawingml/2006/main">
            <a:off x="3162300" y="3143250"/>
            <a:ext cx="1771650" cy="0"/>
          </a:xfrm>
          <a:prstGeom xmlns:a="http://schemas.openxmlformats.org/drawingml/2006/main" prst="straightConnector1">
            <a:avLst/>
          </a:prstGeom>
          <a:ln xmlns:a="http://schemas.openxmlformats.org/drawingml/2006/main" w="19050">
            <a:solidFill>
              <a:srgbClr val="9BE3BD"/>
            </a:solidFill>
            <a:prstDash val="solid"/>
            <a:tailEnd type="arrow" w="sm" len="sm"/>
          </a:ln>
        </p:spPr>
      </p:cxnSp>
      <p:sp>
        <p:nvSpPr>
          <p:cNvPr id="14" name="">
            <a:extLst xmlns:a="http://schemas.openxmlformats.org/drawingml/2006/main">
              <a:ext uri="{FF2B5EF4-FFF2-40B4-BE49-F238E27FC236}">
                <a16:creationId xmlns:a16="http://schemas.microsoft.com/office/drawing/2014/main" id="{872D8ED5-9F5C-46FE-89A4-2F9C6912A0CE}"/>
              </a:ext>
            </a:extLst>
          </p:cNvPr>
          <p:cNvSpPr>
            <a:spLocks xmlns:a="http://schemas.openxmlformats.org/drawingml/2006/main" noGrp="1"/>
          </p:cNvSpPr>
          <p:nvPr/>
        </p:nvSpPr>
        <p:spPr>
          <a:xfrm xmlns:a="http://schemas.openxmlformats.org/drawingml/2006/main">
            <a:off x="685800" y="4191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525" b="1">
                <a:solidFill>
                  <a:srgbClr val="F4F7FB"/>
                </a:solidFill>
                <a:latin typeface="Avenir"/>
                <a:ea typeface="Avenir"/>
                <a:cs typeface="Avenir"/>
              </a:defRPr>
            </a:defPPr>
            <a:lvl1pPr algn="l">
              <a:defRPr sz="3525" b="1">
                <a:solidFill>
                  <a:srgbClr val="F4F7FB"/>
                </a:solidFill>
                <a:latin typeface="Avenir"/>
                <a:ea typeface="Avenir"/>
                <a:cs typeface="Avenir"/>
              </a:defRPr>
            </a:lvl1pPr>
            <a:lvl2pPr algn="l">
              <a:defRPr sz="3525" b="1">
                <a:solidFill>
                  <a:srgbClr val="F4F7FB"/>
                </a:solidFill>
                <a:latin typeface="Avenir"/>
                <a:ea typeface="Avenir"/>
                <a:cs typeface="Avenir"/>
              </a:defRPr>
            </a:lvl2pPr>
            <a:lvl3pPr algn="l">
              <a:defRPr sz="3525" b="1">
                <a:solidFill>
                  <a:srgbClr val="F4F7FB"/>
                </a:solidFill>
                <a:latin typeface="Avenir"/>
                <a:ea typeface="Avenir"/>
                <a:cs typeface="Avenir"/>
              </a:defRPr>
            </a:lvl3pPr>
            <a:lvl4pPr algn="l">
              <a:defRPr sz="3525" b="1">
                <a:solidFill>
                  <a:srgbClr val="F4F7FB"/>
                </a:solidFill>
                <a:latin typeface="Avenir"/>
                <a:ea typeface="Avenir"/>
                <a:cs typeface="Avenir"/>
              </a:defRPr>
            </a:lvl4pPr>
            <a:lvl5pPr algn="l">
              <a:defRPr sz="3525" b="1">
                <a:solidFill>
                  <a:srgbClr val="F4F7FB"/>
                </a:solidFill>
                <a:latin typeface="Avenir"/>
                <a:ea typeface="Avenir"/>
                <a:cs typeface="Avenir"/>
              </a:defRPr>
            </a:lvl5pPr>
            <a:lvl6pPr algn="l">
              <a:defRPr sz="3525" b="1">
                <a:solidFill>
                  <a:srgbClr val="F4F7FB"/>
                </a:solidFill>
                <a:latin typeface="Avenir"/>
                <a:ea typeface="Avenir"/>
                <a:cs typeface="Avenir"/>
              </a:defRPr>
            </a:lvl6pPr>
            <a:lvl7pPr algn="l">
              <a:defRPr sz="3525" b="1">
                <a:solidFill>
                  <a:srgbClr val="F4F7FB"/>
                </a:solidFill>
                <a:latin typeface="Avenir"/>
                <a:ea typeface="Avenir"/>
                <a:cs typeface="Avenir"/>
              </a:defRPr>
            </a:lvl7pPr>
            <a:lvl8pPr algn="l">
              <a:defRPr sz="3525" b="1">
                <a:solidFill>
                  <a:srgbClr val="F4F7FB"/>
                </a:solidFill>
                <a:latin typeface="Avenir"/>
                <a:ea typeface="Avenir"/>
                <a:cs typeface="Avenir"/>
              </a:defRPr>
            </a:lvl8pPr>
            <a:lvl9pPr algn="l">
              <a:defRPr sz="3525" b="1">
                <a:solidFill>
                  <a:srgbClr val="F4F7FB"/>
                </a:solidFill>
                <a:latin typeface="Avenir"/>
                <a:ea typeface="Avenir"/>
                <a:cs typeface="Avenir"/>
              </a:defRPr>
            </a:lvl9pPr>
          </a:lstStyle>
          <a:p xmlns:a="http://schemas.openxmlformats.org/drawingml/2006/main">
            <a:pPr algn="l">
              <a:lnSpc>
                <a:spcPct val="105000"/>
              </a:lnSpc>
              <a:buNone/>
              <a:defRPr sz="3525" b="1">
                <a:solidFill>
                  <a:srgbClr val="F4F7FB"/>
                </a:solidFill>
                <a:latin typeface="Avenir"/>
                <a:ea typeface="Avenir"/>
                <a:cs typeface="Avenir"/>
              </a:defRPr>
            </a:pPr>
            <a:r>
              <a:rPr sz="3525" b="1">
                <a:solidFill>
                  <a:srgbClr val="F4F7FB"/>
                </a:solidFill>
                <a:latin typeface="Avenir"/>
                <a:ea typeface="Avenir"/>
                <a:cs typeface="Avenir"/>
              </a:rPr>
              <a:t>Loop-aware constant propagation</a:t>
            </a:r>
          </a:p>
        </p:txBody>
      </p:sp>
      <p:sp>
        <p:nvSpPr>
          <p:cNvPr id="2" name="">
            <a:extLst xmlns:a="http://schemas.openxmlformats.org/drawingml/2006/main">
              <a:ext uri="{FF2B5EF4-FFF2-40B4-BE49-F238E27FC236}">
                <a16:creationId xmlns:a16="http://schemas.microsoft.com/office/drawing/2014/main" id="{A1B4616D-C39F-4453-8415-FE3E6C7F8BF2}"/>
              </a:ext>
            </a:extLst>
          </p:cNvPr>
          <p:cNvSpPr>
            <a:spLocks xmlns:a="http://schemas.openxmlformats.org/drawingml/2006/main" noGrp="1"/>
          </p:cNvSpPr>
          <p:nvPr/>
        </p:nvSpPr>
        <p:spPr>
          <a:xfrm xmlns:a="http://schemas.openxmlformats.org/drawingml/2006/main">
            <a:off x="685800" y="1162050"/>
            <a:ext cx="819150" cy="38100"/>
          </a:xfrm>
          <a:prstGeom xmlns:a="http://schemas.openxmlformats.org/drawingml/2006/main" prst="rect">
            <a:avLst/>
          </a:prstGeom>
          <a:solidFill xmlns:a="http://schemas.openxmlformats.org/drawingml/2006/main">
            <a:srgbClr val="5AD6E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8AB404C-9F7C-4625-9AB0-5C0F9ADD4027}"/>
              </a:ext>
            </a:extLst>
          </p:cNvPr>
          <p:cNvSpPr>
            <a:spLocks xmlns:a="http://schemas.openxmlformats.org/drawingml/2006/main" noGrp="1"/>
          </p:cNvSpPr>
          <p:nvPr/>
        </p:nvSpPr>
        <p:spPr>
          <a:xfrm xmlns:a="http://schemas.openxmlformats.org/drawingml/2006/main">
            <a:off x="685800" y="13906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B4C1D1"/>
                </a:solidFill>
                <a:latin typeface="Avenir"/>
                <a:ea typeface="Avenir"/>
                <a:cs typeface="Avenir"/>
              </a:defRPr>
            </a:defPPr>
            <a:lvl1pPr algn="l">
              <a:defRPr sz="1725" b="0">
                <a:solidFill>
                  <a:srgbClr val="B4C1D1"/>
                </a:solidFill>
                <a:latin typeface="Avenir"/>
                <a:ea typeface="Avenir"/>
                <a:cs typeface="Avenir"/>
              </a:defRPr>
            </a:lvl1pPr>
            <a:lvl2pPr algn="l">
              <a:defRPr sz="1725" b="0">
                <a:solidFill>
                  <a:srgbClr val="B4C1D1"/>
                </a:solidFill>
                <a:latin typeface="Avenir"/>
                <a:ea typeface="Avenir"/>
                <a:cs typeface="Avenir"/>
              </a:defRPr>
            </a:lvl2pPr>
            <a:lvl3pPr algn="l">
              <a:defRPr sz="1725" b="0">
                <a:solidFill>
                  <a:srgbClr val="B4C1D1"/>
                </a:solidFill>
                <a:latin typeface="Avenir"/>
                <a:ea typeface="Avenir"/>
                <a:cs typeface="Avenir"/>
              </a:defRPr>
            </a:lvl3pPr>
            <a:lvl4pPr algn="l">
              <a:defRPr sz="1725" b="0">
                <a:solidFill>
                  <a:srgbClr val="B4C1D1"/>
                </a:solidFill>
                <a:latin typeface="Avenir"/>
                <a:ea typeface="Avenir"/>
                <a:cs typeface="Avenir"/>
              </a:defRPr>
            </a:lvl4pPr>
            <a:lvl5pPr algn="l">
              <a:defRPr sz="1725" b="0">
                <a:solidFill>
                  <a:srgbClr val="B4C1D1"/>
                </a:solidFill>
                <a:latin typeface="Avenir"/>
                <a:ea typeface="Avenir"/>
                <a:cs typeface="Avenir"/>
              </a:defRPr>
            </a:lvl5pPr>
            <a:lvl6pPr algn="l">
              <a:defRPr sz="1725" b="0">
                <a:solidFill>
                  <a:srgbClr val="B4C1D1"/>
                </a:solidFill>
                <a:latin typeface="Avenir"/>
                <a:ea typeface="Avenir"/>
                <a:cs typeface="Avenir"/>
              </a:defRPr>
            </a:lvl6pPr>
            <a:lvl7pPr algn="l">
              <a:defRPr sz="1725" b="0">
                <a:solidFill>
                  <a:srgbClr val="B4C1D1"/>
                </a:solidFill>
                <a:latin typeface="Avenir"/>
                <a:ea typeface="Avenir"/>
                <a:cs typeface="Avenir"/>
              </a:defRPr>
            </a:lvl7pPr>
            <a:lvl8pPr algn="l">
              <a:defRPr sz="1725" b="0">
                <a:solidFill>
                  <a:srgbClr val="B4C1D1"/>
                </a:solidFill>
                <a:latin typeface="Avenir"/>
                <a:ea typeface="Avenir"/>
                <a:cs typeface="Avenir"/>
              </a:defRPr>
            </a:lvl8pPr>
            <a:lvl9pPr algn="l">
              <a:defRPr sz="1725" b="0">
                <a:solidFill>
                  <a:srgbClr val="B4C1D1"/>
                </a:solidFill>
                <a:latin typeface="Avenir"/>
                <a:ea typeface="Avenir"/>
                <a:cs typeface="Avenir"/>
              </a:defRPr>
            </a:lvl9pPr>
          </a:lstStyle>
          <a:p xmlns:a="http://schemas.openxmlformats.org/drawingml/2006/main">
            <a:pPr algn="l">
              <a:lnSpc>
                <a:spcPct val="105000"/>
              </a:lnSpc>
              <a:buNone/>
              <a:defRPr sz="1725" b="0">
                <a:solidFill>
                  <a:srgbClr val="B4C1D1"/>
                </a:solidFill>
                <a:latin typeface="Avenir"/>
                <a:ea typeface="Avenir"/>
                <a:cs typeface="Avenir"/>
              </a:defRPr>
            </a:pPr>
            <a:r>
              <a:rPr sz="1725" b="0">
                <a:solidFill>
                  <a:srgbClr val="B4C1D1"/>
                </a:solidFill>
                <a:latin typeface="Avenir"/>
                <a:ea typeface="Avenir"/>
                <a:cs typeface="Avenir"/>
              </a:rPr>
              <a:t>A constant survives a join only when every incoming path proves the same value.</a:t>
            </a:r>
          </a:p>
        </p:txBody>
      </p:sp>
      <p:sp>
        <p:nvSpPr>
          <p:cNvPr id="4" name="">
            <a:extLst xmlns:a="http://schemas.openxmlformats.org/drawingml/2006/main">
              <a:ext uri="{FF2B5EF4-FFF2-40B4-BE49-F238E27FC236}">
                <a16:creationId xmlns:a16="http://schemas.microsoft.com/office/drawing/2014/main" id="{52097730-35A1-4D57-BC6D-19F0B534675E}"/>
              </a:ext>
            </a:extLst>
          </p:cNvPr>
          <p:cNvSpPr>
            <a:spLocks xmlns:a="http://schemas.openxmlformats.org/drawingml/2006/main" noGrp="1"/>
          </p:cNvSpPr>
          <p:nvPr/>
        </p:nvSpPr>
        <p:spPr>
          <a:xfrm xmlns:a="http://schemas.openxmlformats.org/drawingml/2006/main">
            <a:off x="838200" y="2647950"/>
            <a:ext cx="2324100" cy="990600"/>
          </a:xfrm>
          <a:prstGeom xmlns:a="http://schemas.openxmlformats.org/drawingml/2006/main" prst="roundRect">
            <a:avLst>
              <a:gd name="adj" fmla="val 13462"/>
            </a:avLst>
          </a:prstGeom>
          <a:solidFill xmlns:a="http://schemas.openxmlformats.org/drawingml/2006/main">
            <a:srgbClr val="17263A"/>
          </a:solidFill>
          <a:ln xmlns:a="http://schemas.openxmlformats.org/drawingml/2006/main" w="14288">
            <a:solidFill>
              <a:srgbClr val="9BE3BD"/>
            </a:solidFill>
            <a:prstDash val="solid"/>
          </a:ln>
        </p:spPr>
        <p:txBody>
          <a:bodyPr xmlns:a="http://schemas.openxmlformats.org/drawingml/2006/main" wrap="square" lIns="133350" tIns="114300" rIns="133350" bIns="114300" anchor="ctr">
            <a:normAutofit fontScale="100000"/>
          </a:bodyPr>
          <a:lstStyle xmlns:a="http://schemas.openxmlformats.org/drawingml/2006/main">
            <a:defPPr algn="ctr">
              <a:defRPr sz="1650" b="0">
                <a:solidFill>
                  <a:srgbClr val="F4F7FB"/>
                </a:solidFill>
                <a:latin typeface="Menlo"/>
                <a:ea typeface="Menlo"/>
                <a:cs typeface="Menlo"/>
              </a:defRPr>
            </a:defPPr>
            <a:lvl1pPr algn="ctr">
              <a:defRPr sz="1650" b="0">
                <a:solidFill>
                  <a:srgbClr val="F4F7FB"/>
                </a:solidFill>
                <a:latin typeface="Menlo"/>
                <a:ea typeface="Menlo"/>
                <a:cs typeface="Menlo"/>
              </a:defRPr>
            </a:lvl1pPr>
            <a:lvl2pPr algn="ctr">
              <a:defRPr sz="1650" b="0">
                <a:solidFill>
                  <a:srgbClr val="F4F7FB"/>
                </a:solidFill>
                <a:latin typeface="Menlo"/>
                <a:ea typeface="Menlo"/>
                <a:cs typeface="Menlo"/>
              </a:defRPr>
            </a:lvl2pPr>
            <a:lvl3pPr algn="ctr">
              <a:defRPr sz="1650" b="0">
                <a:solidFill>
                  <a:srgbClr val="F4F7FB"/>
                </a:solidFill>
                <a:latin typeface="Menlo"/>
                <a:ea typeface="Menlo"/>
                <a:cs typeface="Menlo"/>
              </a:defRPr>
            </a:lvl3pPr>
            <a:lvl4pPr algn="ctr">
              <a:defRPr sz="1650" b="0">
                <a:solidFill>
                  <a:srgbClr val="F4F7FB"/>
                </a:solidFill>
                <a:latin typeface="Menlo"/>
                <a:ea typeface="Menlo"/>
                <a:cs typeface="Menlo"/>
              </a:defRPr>
            </a:lvl4pPr>
            <a:lvl5pPr algn="ctr">
              <a:defRPr sz="1650" b="0">
                <a:solidFill>
                  <a:srgbClr val="F4F7FB"/>
                </a:solidFill>
                <a:latin typeface="Menlo"/>
                <a:ea typeface="Menlo"/>
                <a:cs typeface="Menlo"/>
              </a:defRPr>
            </a:lvl5pPr>
            <a:lvl6pPr algn="ctr">
              <a:defRPr sz="1650" b="0">
                <a:solidFill>
                  <a:srgbClr val="F4F7FB"/>
                </a:solidFill>
                <a:latin typeface="Menlo"/>
                <a:ea typeface="Menlo"/>
                <a:cs typeface="Menlo"/>
              </a:defRPr>
            </a:lvl6pPr>
            <a:lvl7pPr algn="ctr">
              <a:defRPr sz="1650" b="0">
                <a:solidFill>
                  <a:srgbClr val="F4F7FB"/>
                </a:solidFill>
                <a:latin typeface="Menlo"/>
                <a:ea typeface="Menlo"/>
                <a:cs typeface="Menlo"/>
              </a:defRPr>
            </a:lvl7pPr>
            <a:lvl8pPr algn="ctr">
              <a:defRPr sz="1650" b="0">
                <a:solidFill>
                  <a:srgbClr val="F4F7FB"/>
                </a:solidFill>
                <a:latin typeface="Menlo"/>
                <a:ea typeface="Menlo"/>
                <a:cs typeface="Menlo"/>
              </a:defRPr>
            </a:lvl8pPr>
            <a:lvl9pPr algn="ctr">
              <a:defRPr sz="1650" b="0">
                <a:solidFill>
                  <a:srgbClr val="F4F7FB"/>
                </a:solidFill>
                <a:latin typeface="Menlo"/>
                <a:ea typeface="Menlo"/>
                <a:cs typeface="Menlo"/>
              </a:defRPr>
            </a:lvl9pPr>
          </a:lstStyle>
          <a:p xmlns:a="http://schemas.openxmlformats.org/drawingml/2006/main">
            <a:pPr algn="ctr">
              <a:lnSpc>
                <a:spcPct val="105000"/>
              </a:lnSpc>
              <a:buNone/>
              <a:defRPr sz="1650" b="0">
                <a:solidFill>
                  <a:srgbClr val="F4F7FB"/>
                </a:solidFill>
                <a:latin typeface="Menlo"/>
                <a:ea typeface="Menlo"/>
                <a:cs typeface="Menlo"/>
              </a:defRPr>
            </a:pPr>
            <a:r>
              <a:rPr sz="1650" b="0">
                <a:solidFill>
                  <a:srgbClr val="F4F7FB"/>
                </a:solidFill>
                <a:latin typeface="Menlo"/>
                <a:ea typeface="Menlo"/>
                <a:cs typeface="Menlo"/>
              </a:rPr>
              <a:t>Entry</a:t>
            </a:r>
          </a:p>
          <a:p xmlns:a="http://schemas.openxmlformats.org/drawingml/2006/main">
            <a:pPr algn="ctr">
              <a:lnSpc>
                <a:spcPct val="105000"/>
              </a:lnSpc>
              <a:buNone/>
              <a:defRPr sz="1650" b="0">
                <a:solidFill>
                  <a:srgbClr val="F4F7FB"/>
                </a:solidFill>
                <a:latin typeface="Menlo"/>
                <a:ea typeface="Menlo"/>
                <a:cs typeface="Menlo"/>
              </a:defRPr>
            </a:pPr>
            <a:r>
              <a:rPr sz="1650" b="0">
                <a:solidFill>
                  <a:srgbClr val="F4F7FB"/>
                </a:solidFill>
                <a:latin typeface="Menlo"/>
                <a:ea typeface="Menlo"/>
                <a:cs typeface="Menlo"/>
              </a:rPr>
              <a:t>n = 10, i = 1</a:t>
            </a:r>
          </a:p>
        </p:txBody>
      </p:sp>
      <p:sp>
        <p:nvSpPr>
          <p:cNvPr id="5" name="">
            <a:extLst xmlns:a="http://schemas.openxmlformats.org/drawingml/2006/main">
              <a:ext uri="{FF2B5EF4-FFF2-40B4-BE49-F238E27FC236}">
                <a16:creationId xmlns:a16="http://schemas.microsoft.com/office/drawing/2014/main" id="{E6D4B47F-1CF8-4D0B-87EB-07311CF9ABF2}"/>
              </a:ext>
            </a:extLst>
          </p:cNvPr>
          <p:cNvSpPr>
            <a:spLocks xmlns:a="http://schemas.openxmlformats.org/drawingml/2006/main" noGrp="1"/>
          </p:cNvSpPr>
          <p:nvPr/>
        </p:nvSpPr>
        <p:spPr>
          <a:xfrm xmlns:a="http://schemas.openxmlformats.org/drawingml/2006/main">
            <a:off x="4933950" y="2647950"/>
            <a:ext cx="2571750" cy="990600"/>
          </a:xfrm>
          <a:prstGeom xmlns:a="http://schemas.openxmlformats.org/drawingml/2006/main" prst="roundRect">
            <a:avLst>
              <a:gd name="adj" fmla="val 13462"/>
            </a:avLst>
          </a:prstGeom>
          <a:solidFill xmlns:a="http://schemas.openxmlformats.org/drawingml/2006/main">
            <a:srgbClr val="17263A"/>
          </a:solidFill>
          <a:ln xmlns:a="http://schemas.openxmlformats.org/drawingml/2006/main" w="14288">
            <a:solidFill>
              <a:srgbClr val="5AD6E6"/>
            </a:solidFill>
            <a:prstDash val="solid"/>
          </a:ln>
        </p:spPr>
        <p:txBody>
          <a:bodyPr xmlns:a="http://schemas.openxmlformats.org/drawingml/2006/main" wrap="square" lIns="133350" tIns="114300" rIns="133350" bIns="114300" anchor="ctr">
            <a:normAutofit fontScale="100000"/>
          </a:bodyPr>
          <a:lstStyle xmlns:a="http://schemas.openxmlformats.org/drawingml/2006/main">
            <a:defPPr algn="ctr">
              <a:defRPr sz="1650" b="0">
                <a:solidFill>
                  <a:srgbClr val="F4F7FB"/>
                </a:solidFill>
                <a:latin typeface="Menlo"/>
                <a:ea typeface="Menlo"/>
                <a:cs typeface="Menlo"/>
              </a:defRPr>
            </a:defPPr>
            <a:lvl1pPr algn="ctr">
              <a:defRPr sz="1650" b="0">
                <a:solidFill>
                  <a:srgbClr val="F4F7FB"/>
                </a:solidFill>
                <a:latin typeface="Menlo"/>
                <a:ea typeface="Menlo"/>
                <a:cs typeface="Menlo"/>
              </a:defRPr>
            </a:lvl1pPr>
            <a:lvl2pPr algn="ctr">
              <a:defRPr sz="1650" b="0">
                <a:solidFill>
                  <a:srgbClr val="F4F7FB"/>
                </a:solidFill>
                <a:latin typeface="Menlo"/>
                <a:ea typeface="Menlo"/>
                <a:cs typeface="Menlo"/>
              </a:defRPr>
            </a:lvl2pPr>
            <a:lvl3pPr algn="ctr">
              <a:defRPr sz="1650" b="0">
                <a:solidFill>
                  <a:srgbClr val="F4F7FB"/>
                </a:solidFill>
                <a:latin typeface="Menlo"/>
                <a:ea typeface="Menlo"/>
                <a:cs typeface="Menlo"/>
              </a:defRPr>
            </a:lvl3pPr>
            <a:lvl4pPr algn="ctr">
              <a:defRPr sz="1650" b="0">
                <a:solidFill>
                  <a:srgbClr val="F4F7FB"/>
                </a:solidFill>
                <a:latin typeface="Menlo"/>
                <a:ea typeface="Menlo"/>
                <a:cs typeface="Menlo"/>
              </a:defRPr>
            </a:lvl4pPr>
            <a:lvl5pPr algn="ctr">
              <a:defRPr sz="1650" b="0">
                <a:solidFill>
                  <a:srgbClr val="F4F7FB"/>
                </a:solidFill>
                <a:latin typeface="Menlo"/>
                <a:ea typeface="Menlo"/>
                <a:cs typeface="Menlo"/>
              </a:defRPr>
            </a:lvl5pPr>
            <a:lvl6pPr algn="ctr">
              <a:defRPr sz="1650" b="0">
                <a:solidFill>
                  <a:srgbClr val="F4F7FB"/>
                </a:solidFill>
                <a:latin typeface="Menlo"/>
                <a:ea typeface="Menlo"/>
                <a:cs typeface="Menlo"/>
              </a:defRPr>
            </a:lvl6pPr>
            <a:lvl7pPr algn="ctr">
              <a:defRPr sz="1650" b="0">
                <a:solidFill>
                  <a:srgbClr val="F4F7FB"/>
                </a:solidFill>
                <a:latin typeface="Menlo"/>
                <a:ea typeface="Menlo"/>
                <a:cs typeface="Menlo"/>
              </a:defRPr>
            </a:lvl7pPr>
            <a:lvl8pPr algn="ctr">
              <a:defRPr sz="1650" b="0">
                <a:solidFill>
                  <a:srgbClr val="F4F7FB"/>
                </a:solidFill>
                <a:latin typeface="Menlo"/>
                <a:ea typeface="Menlo"/>
                <a:cs typeface="Menlo"/>
              </a:defRPr>
            </a:lvl8pPr>
            <a:lvl9pPr algn="ctr">
              <a:defRPr sz="1650" b="0">
                <a:solidFill>
                  <a:srgbClr val="F4F7FB"/>
                </a:solidFill>
                <a:latin typeface="Menlo"/>
                <a:ea typeface="Menlo"/>
                <a:cs typeface="Menlo"/>
              </a:defRPr>
            </a:lvl9pPr>
          </a:lstStyle>
          <a:p xmlns:a="http://schemas.openxmlformats.org/drawingml/2006/main">
            <a:pPr algn="ctr">
              <a:lnSpc>
                <a:spcPct val="105000"/>
              </a:lnSpc>
              <a:buNone/>
              <a:defRPr sz="1650" b="0">
                <a:solidFill>
                  <a:srgbClr val="F4F7FB"/>
                </a:solidFill>
                <a:latin typeface="Menlo"/>
                <a:ea typeface="Menlo"/>
                <a:cs typeface="Menlo"/>
              </a:defRPr>
            </a:pPr>
            <a:r>
              <a:rPr sz="1650" b="0">
                <a:solidFill>
                  <a:srgbClr val="F4F7FB"/>
                </a:solidFill>
                <a:latin typeface="Menlo"/>
                <a:ea typeface="Menlo"/>
                <a:cs typeface="Menlo"/>
              </a:rPr>
              <a:t>Loop test</a:t>
            </a:r>
          </a:p>
          <a:p xmlns:a="http://schemas.openxmlformats.org/drawingml/2006/main">
            <a:pPr algn="ctr">
              <a:lnSpc>
                <a:spcPct val="105000"/>
              </a:lnSpc>
              <a:buNone/>
              <a:defRPr sz="1650" b="0">
                <a:solidFill>
                  <a:srgbClr val="F4F7FB"/>
                </a:solidFill>
                <a:latin typeface="Menlo"/>
                <a:ea typeface="Menlo"/>
                <a:cs typeface="Menlo"/>
              </a:defRPr>
            </a:pPr>
            <a:r>
              <a:rPr sz="1650" b="0">
                <a:solidFill>
                  <a:srgbClr val="F4F7FB"/>
                </a:solidFill>
                <a:latin typeface="Menlo"/>
                <a:ea typeface="Menlo"/>
                <a:cs typeface="Menlo"/>
              </a:rPr>
              <a:t>i &gt; n</a:t>
            </a:r>
          </a:p>
        </p:txBody>
      </p:sp>
      <p:sp>
        <p:nvSpPr>
          <p:cNvPr id="6" name="">
            <a:extLst xmlns:a="http://schemas.openxmlformats.org/drawingml/2006/main">
              <a:ext uri="{FF2B5EF4-FFF2-40B4-BE49-F238E27FC236}">
                <a16:creationId xmlns:a16="http://schemas.microsoft.com/office/drawing/2014/main" id="{0E017BBB-DCEE-4CB6-BE88-66AAE05B2D08}"/>
              </a:ext>
            </a:extLst>
          </p:cNvPr>
          <p:cNvSpPr>
            <a:spLocks xmlns:a="http://schemas.openxmlformats.org/drawingml/2006/main" noGrp="1"/>
          </p:cNvSpPr>
          <p:nvPr/>
        </p:nvSpPr>
        <p:spPr>
          <a:xfrm xmlns:a="http://schemas.openxmlformats.org/drawingml/2006/main">
            <a:off x="4933950" y="4610100"/>
            <a:ext cx="2571750" cy="876300"/>
          </a:xfrm>
          <a:prstGeom xmlns:a="http://schemas.openxmlformats.org/drawingml/2006/main" prst="roundRect">
            <a:avLst>
              <a:gd name="adj" fmla="val 15217"/>
            </a:avLst>
          </a:prstGeom>
          <a:solidFill xmlns:a="http://schemas.openxmlformats.org/drawingml/2006/main">
            <a:srgbClr val="17263A"/>
          </a:solidFill>
          <a:ln xmlns:a="http://schemas.openxmlformats.org/drawingml/2006/main" w="14288">
            <a:solidFill>
              <a:srgbClr val="476078"/>
            </a:solidFill>
            <a:prstDash val="solid"/>
          </a:ln>
        </p:spPr>
        <p:txBody>
          <a:bodyPr xmlns:a="http://schemas.openxmlformats.org/drawingml/2006/main" wrap="square" lIns="133350" tIns="114300" rIns="133350" bIns="114300" anchor="ctr">
            <a:normAutofit fontScale="100000"/>
          </a:bodyPr>
          <a:lstStyle xmlns:a="http://schemas.openxmlformats.org/drawingml/2006/main">
            <a:defPPr algn="ctr">
              <a:defRPr sz="1650" b="0">
                <a:solidFill>
                  <a:srgbClr val="F4F7FB"/>
                </a:solidFill>
                <a:latin typeface="Menlo"/>
                <a:ea typeface="Menlo"/>
                <a:cs typeface="Menlo"/>
              </a:defRPr>
            </a:defPPr>
            <a:lvl1pPr algn="ctr">
              <a:defRPr sz="1650" b="0">
                <a:solidFill>
                  <a:srgbClr val="F4F7FB"/>
                </a:solidFill>
                <a:latin typeface="Menlo"/>
                <a:ea typeface="Menlo"/>
                <a:cs typeface="Menlo"/>
              </a:defRPr>
            </a:lvl1pPr>
            <a:lvl2pPr algn="ctr">
              <a:defRPr sz="1650" b="0">
                <a:solidFill>
                  <a:srgbClr val="F4F7FB"/>
                </a:solidFill>
                <a:latin typeface="Menlo"/>
                <a:ea typeface="Menlo"/>
                <a:cs typeface="Menlo"/>
              </a:defRPr>
            </a:lvl2pPr>
            <a:lvl3pPr algn="ctr">
              <a:defRPr sz="1650" b="0">
                <a:solidFill>
                  <a:srgbClr val="F4F7FB"/>
                </a:solidFill>
                <a:latin typeface="Menlo"/>
                <a:ea typeface="Menlo"/>
                <a:cs typeface="Menlo"/>
              </a:defRPr>
            </a:lvl3pPr>
            <a:lvl4pPr algn="ctr">
              <a:defRPr sz="1650" b="0">
                <a:solidFill>
                  <a:srgbClr val="F4F7FB"/>
                </a:solidFill>
                <a:latin typeface="Menlo"/>
                <a:ea typeface="Menlo"/>
                <a:cs typeface="Menlo"/>
              </a:defRPr>
            </a:lvl4pPr>
            <a:lvl5pPr algn="ctr">
              <a:defRPr sz="1650" b="0">
                <a:solidFill>
                  <a:srgbClr val="F4F7FB"/>
                </a:solidFill>
                <a:latin typeface="Menlo"/>
                <a:ea typeface="Menlo"/>
                <a:cs typeface="Menlo"/>
              </a:defRPr>
            </a:lvl5pPr>
            <a:lvl6pPr algn="ctr">
              <a:defRPr sz="1650" b="0">
                <a:solidFill>
                  <a:srgbClr val="F4F7FB"/>
                </a:solidFill>
                <a:latin typeface="Menlo"/>
                <a:ea typeface="Menlo"/>
                <a:cs typeface="Menlo"/>
              </a:defRPr>
            </a:lvl6pPr>
            <a:lvl7pPr algn="ctr">
              <a:defRPr sz="1650" b="0">
                <a:solidFill>
                  <a:srgbClr val="F4F7FB"/>
                </a:solidFill>
                <a:latin typeface="Menlo"/>
                <a:ea typeface="Menlo"/>
                <a:cs typeface="Menlo"/>
              </a:defRPr>
            </a:lvl7pPr>
            <a:lvl8pPr algn="ctr">
              <a:defRPr sz="1650" b="0">
                <a:solidFill>
                  <a:srgbClr val="F4F7FB"/>
                </a:solidFill>
                <a:latin typeface="Menlo"/>
                <a:ea typeface="Menlo"/>
                <a:cs typeface="Menlo"/>
              </a:defRPr>
            </a:lvl8pPr>
            <a:lvl9pPr algn="ctr">
              <a:defRPr sz="1650" b="0">
                <a:solidFill>
                  <a:srgbClr val="F4F7FB"/>
                </a:solidFill>
                <a:latin typeface="Menlo"/>
                <a:ea typeface="Menlo"/>
                <a:cs typeface="Menlo"/>
              </a:defRPr>
            </a:lvl9pPr>
          </a:lstStyle>
          <a:p xmlns:a="http://schemas.openxmlformats.org/drawingml/2006/main">
            <a:pPr algn="ctr">
              <a:lnSpc>
                <a:spcPct val="105000"/>
              </a:lnSpc>
              <a:buNone/>
              <a:defRPr sz="1650" b="0">
                <a:solidFill>
                  <a:srgbClr val="F4F7FB"/>
                </a:solidFill>
                <a:latin typeface="Menlo"/>
                <a:ea typeface="Menlo"/>
                <a:cs typeface="Menlo"/>
              </a:defRPr>
            </a:pPr>
            <a:r>
              <a:rPr sz="1650" b="0">
                <a:solidFill>
                  <a:srgbClr val="F4F7FB"/>
                </a:solidFill>
                <a:latin typeface="Menlo"/>
                <a:ea typeface="Menlo"/>
                <a:cs typeface="Menlo"/>
              </a:rPr>
              <a:t>Loop update</a:t>
            </a:r>
          </a:p>
          <a:p xmlns:a="http://schemas.openxmlformats.org/drawingml/2006/main">
            <a:pPr algn="ctr">
              <a:lnSpc>
                <a:spcPct val="105000"/>
              </a:lnSpc>
              <a:buNone/>
              <a:defRPr sz="1650" b="0">
                <a:solidFill>
                  <a:srgbClr val="F4F7FB"/>
                </a:solidFill>
                <a:latin typeface="Menlo"/>
                <a:ea typeface="Menlo"/>
                <a:cs typeface="Menlo"/>
              </a:defRPr>
            </a:pPr>
            <a:r>
              <a:rPr sz="1650" b="0">
                <a:solidFill>
                  <a:srgbClr val="F4F7FB"/>
                </a:solidFill>
                <a:latin typeface="Menlo"/>
                <a:ea typeface="Menlo"/>
                <a:cs typeface="Menlo"/>
              </a:rPr>
              <a:t>i = i + 1</a:t>
            </a:r>
          </a:p>
        </p:txBody>
      </p:sp>
      <p:sp>
        <p:nvSpPr>
          <p:cNvPr id="7" name="">
            <a:extLst xmlns:a="http://schemas.openxmlformats.org/drawingml/2006/main">
              <a:ext uri="{FF2B5EF4-FFF2-40B4-BE49-F238E27FC236}">
                <a16:creationId xmlns:a16="http://schemas.microsoft.com/office/drawing/2014/main" id="{BF4C9DA3-38D7-4D78-8EB6-8475EBB66C41}"/>
              </a:ext>
            </a:extLst>
          </p:cNvPr>
          <p:cNvSpPr>
            <a:spLocks xmlns:a="http://schemas.openxmlformats.org/drawingml/2006/main" noGrp="1"/>
          </p:cNvSpPr>
          <p:nvPr/>
        </p:nvSpPr>
        <p:spPr>
          <a:xfrm xmlns:a="http://schemas.openxmlformats.org/drawingml/2006/main">
            <a:off x="8839200" y="2647950"/>
            <a:ext cx="2476500" cy="990600"/>
          </a:xfrm>
          <a:prstGeom xmlns:a="http://schemas.openxmlformats.org/drawingml/2006/main" prst="roundRect">
            <a:avLst>
              <a:gd name="adj" fmla="val 13462"/>
            </a:avLst>
          </a:prstGeom>
          <a:solidFill xmlns:a="http://schemas.openxmlformats.org/drawingml/2006/main">
            <a:srgbClr val="17263A"/>
          </a:solidFill>
          <a:ln xmlns:a="http://schemas.openxmlformats.org/drawingml/2006/main" w="14288">
            <a:solidFill>
              <a:srgbClr val="9BE3BD"/>
            </a:solidFill>
            <a:prstDash val="solid"/>
          </a:ln>
        </p:spPr>
        <p:txBody>
          <a:bodyPr xmlns:a="http://schemas.openxmlformats.org/drawingml/2006/main" wrap="square" lIns="133350" tIns="114300" rIns="133350" bIns="114300" anchor="ctr">
            <a:normAutofit fontScale="100000"/>
          </a:bodyPr>
          <a:lstStyle xmlns:a="http://schemas.openxmlformats.org/drawingml/2006/main">
            <a:defPPr algn="ctr">
              <a:defRPr sz="1650" b="0">
                <a:solidFill>
                  <a:srgbClr val="F4F7FB"/>
                </a:solidFill>
                <a:latin typeface="Menlo"/>
                <a:ea typeface="Menlo"/>
                <a:cs typeface="Menlo"/>
              </a:defRPr>
            </a:defPPr>
            <a:lvl1pPr algn="ctr">
              <a:defRPr sz="1650" b="0">
                <a:solidFill>
                  <a:srgbClr val="F4F7FB"/>
                </a:solidFill>
                <a:latin typeface="Menlo"/>
                <a:ea typeface="Menlo"/>
                <a:cs typeface="Menlo"/>
              </a:defRPr>
            </a:lvl1pPr>
            <a:lvl2pPr algn="ctr">
              <a:defRPr sz="1650" b="0">
                <a:solidFill>
                  <a:srgbClr val="F4F7FB"/>
                </a:solidFill>
                <a:latin typeface="Menlo"/>
                <a:ea typeface="Menlo"/>
                <a:cs typeface="Menlo"/>
              </a:defRPr>
            </a:lvl2pPr>
            <a:lvl3pPr algn="ctr">
              <a:defRPr sz="1650" b="0">
                <a:solidFill>
                  <a:srgbClr val="F4F7FB"/>
                </a:solidFill>
                <a:latin typeface="Menlo"/>
                <a:ea typeface="Menlo"/>
                <a:cs typeface="Menlo"/>
              </a:defRPr>
            </a:lvl3pPr>
            <a:lvl4pPr algn="ctr">
              <a:defRPr sz="1650" b="0">
                <a:solidFill>
                  <a:srgbClr val="F4F7FB"/>
                </a:solidFill>
                <a:latin typeface="Menlo"/>
                <a:ea typeface="Menlo"/>
                <a:cs typeface="Menlo"/>
              </a:defRPr>
            </a:lvl4pPr>
            <a:lvl5pPr algn="ctr">
              <a:defRPr sz="1650" b="0">
                <a:solidFill>
                  <a:srgbClr val="F4F7FB"/>
                </a:solidFill>
                <a:latin typeface="Menlo"/>
                <a:ea typeface="Menlo"/>
                <a:cs typeface="Menlo"/>
              </a:defRPr>
            </a:lvl5pPr>
            <a:lvl6pPr algn="ctr">
              <a:defRPr sz="1650" b="0">
                <a:solidFill>
                  <a:srgbClr val="F4F7FB"/>
                </a:solidFill>
                <a:latin typeface="Menlo"/>
                <a:ea typeface="Menlo"/>
                <a:cs typeface="Menlo"/>
              </a:defRPr>
            </a:lvl6pPr>
            <a:lvl7pPr algn="ctr">
              <a:defRPr sz="1650" b="0">
                <a:solidFill>
                  <a:srgbClr val="F4F7FB"/>
                </a:solidFill>
                <a:latin typeface="Menlo"/>
                <a:ea typeface="Menlo"/>
                <a:cs typeface="Menlo"/>
              </a:defRPr>
            </a:lvl7pPr>
            <a:lvl8pPr algn="ctr">
              <a:defRPr sz="1650" b="0">
                <a:solidFill>
                  <a:srgbClr val="F4F7FB"/>
                </a:solidFill>
                <a:latin typeface="Menlo"/>
                <a:ea typeface="Menlo"/>
                <a:cs typeface="Menlo"/>
              </a:defRPr>
            </a:lvl8pPr>
            <a:lvl9pPr algn="ctr">
              <a:defRPr sz="1650" b="0">
                <a:solidFill>
                  <a:srgbClr val="F4F7FB"/>
                </a:solidFill>
                <a:latin typeface="Menlo"/>
                <a:ea typeface="Menlo"/>
                <a:cs typeface="Menlo"/>
              </a:defRPr>
            </a:lvl9pPr>
          </a:lstStyle>
          <a:p xmlns:a="http://schemas.openxmlformats.org/drawingml/2006/main">
            <a:pPr algn="ctr">
              <a:lnSpc>
                <a:spcPct val="105000"/>
              </a:lnSpc>
              <a:buNone/>
              <a:defRPr sz="1650" b="0">
                <a:solidFill>
                  <a:srgbClr val="F4F7FB"/>
                </a:solidFill>
                <a:latin typeface="Menlo"/>
                <a:ea typeface="Menlo"/>
                <a:cs typeface="Menlo"/>
              </a:defRPr>
            </a:pPr>
            <a:r>
              <a:rPr sz="1650" b="0">
                <a:solidFill>
                  <a:srgbClr val="F4F7FB"/>
                </a:solidFill>
                <a:latin typeface="Menlo"/>
                <a:ea typeface="Menlo"/>
                <a:cs typeface="Menlo"/>
              </a:rPr>
              <a:t>Optimized test</a:t>
            </a:r>
          </a:p>
          <a:p xmlns:a="http://schemas.openxmlformats.org/drawingml/2006/main">
            <a:pPr algn="ctr">
              <a:lnSpc>
                <a:spcPct val="105000"/>
              </a:lnSpc>
              <a:buNone/>
              <a:defRPr sz="1650" b="0">
                <a:solidFill>
                  <a:srgbClr val="F4F7FB"/>
                </a:solidFill>
                <a:latin typeface="Menlo"/>
                <a:ea typeface="Menlo"/>
                <a:cs typeface="Menlo"/>
              </a:defRPr>
            </a:pPr>
            <a:r>
              <a:rPr sz="1650" b="0">
                <a:solidFill>
                  <a:srgbClr val="F4F7FB"/>
                </a:solidFill>
                <a:latin typeface="Menlo"/>
                <a:ea typeface="Menlo"/>
                <a:cs typeface="Menlo"/>
              </a:rPr>
              <a:t>i &gt; 10</a:t>
            </a:r>
          </a:p>
        </p:txBody>
      </p:sp>
      <p:sp>
        <p:nvSpPr>
          <p:cNvPr id="12" name="">
            <a:extLst xmlns:a="http://schemas.openxmlformats.org/drawingml/2006/main">
              <a:ext uri="{FF2B5EF4-FFF2-40B4-BE49-F238E27FC236}">
                <a16:creationId xmlns:a16="http://schemas.microsoft.com/office/drawing/2014/main" id="{A67816E8-D583-4407-B9E5-C0B10E383A4E}"/>
              </a:ext>
            </a:extLst>
          </p:cNvPr>
          <p:cNvSpPr>
            <a:spLocks xmlns:a="http://schemas.openxmlformats.org/drawingml/2006/main" noGrp="1"/>
          </p:cNvSpPr>
          <p:nvPr/>
        </p:nvSpPr>
        <p:spPr>
          <a:xfrm xmlns:a="http://schemas.openxmlformats.org/drawingml/2006/main">
            <a:off x="7658100" y="461010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9BE3BD"/>
                </a:solidFill>
                <a:latin typeface="Avenir"/>
                <a:ea typeface="Avenir"/>
                <a:cs typeface="Avenir"/>
              </a:defRPr>
            </a:defPPr>
            <a:lvl1pPr algn="l">
              <a:defRPr sz="1575" b="0">
                <a:solidFill>
                  <a:srgbClr val="9BE3BD"/>
                </a:solidFill>
                <a:latin typeface="Avenir"/>
                <a:ea typeface="Avenir"/>
                <a:cs typeface="Avenir"/>
              </a:defRPr>
            </a:lvl1pPr>
            <a:lvl2pPr algn="l">
              <a:defRPr sz="1575" b="0">
                <a:solidFill>
                  <a:srgbClr val="9BE3BD"/>
                </a:solidFill>
                <a:latin typeface="Avenir"/>
                <a:ea typeface="Avenir"/>
                <a:cs typeface="Avenir"/>
              </a:defRPr>
            </a:lvl2pPr>
            <a:lvl3pPr algn="l">
              <a:defRPr sz="1575" b="0">
                <a:solidFill>
                  <a:srgbClr val="9BE3BD"/>
                </a:solidFill>
                <a:latin typeface="Avenir"/>
                <a:ea typeface="Avenir"/>
                <a:cs typeface="Avenir"/>
              </a:defRPr>
            </a:lvl3pPr>
            <a:lvl4pPr algn="l">
              <a:defRPr sz="1575" b="0">
                <a:solidFill>
                  <a:srgbClr val="9BE3BD"/>
                </a:solidFill>
                <a:latin typeface="Avenir"/>
                <a:ea typeface="Avenir"/>
                <a:cs typeface="Avenir"/>
              </a:defRPr>
            </a:lvl4pPr>
            <a:lvl5pPr algn="l">
              <a:defRPr sz="1575" b="0">
                <a:solidFill>
                  <a:srgbClr val="9BE3BD"/>
                </a:solidFill>
                <a:latin typeface="Avenir"/>
                <a:ea typeface="Avenir"/>
                <a:cs typeface="Avenir"/>
              </a:defRPr>
            </a:lvl5pPr>
            <a:lvl6pPr algn="l">
              <a:defRPr sz="1575" b="0">
                <a:solidFill>
                  <a:srgbClr val="9BE3BD"/>
                </a:solidFill>
                <a:latin typeface="Avenir"/>
                <a:ea typeface="Avenir"/>
                <a:cs typeface="Avenir"/>
              </a:defRPr>
            </a:lvl6pPr>
            <a:lvl7pPr algn="l">
              <a:defRPr sz="1575" b="0">
                <a:solidFill>
                  <a:srgbClr val="9BE3BD"/>
                </a:solidFill>
                <a:latin typeface="Avenir"/>
                <a:ea typeface="Avenir"/>
                <a:cs typeface="Avenir"/>
              </a:defRPr>
            </a:lvl7pPr>
            <a:lvl8pPr algn="l">
              <a:defRPr sz="1575" b="0">
                <a:solidFill>
                  <a:srgbClr val="9BE3BD"/>
                </a:solidFill>
                <a:latin typeface="Avenir"/>
                <a:ea typeface="Avenir"/>
                <a:cs typeface="Avenir"/>
              </a:defRPr>
            </a:lvl8pPr>
            <a:lvl9pPr algn="l">
              <a:defRPr sz="1575" b="0">
                <a:solidFill>
                  <a:srgbClr val="9BE3BD"/>
                </a:solidFill>
                <a:latin typeface="Avenir"/>
                <a:ea typeface="Avenir"/>
                <a:cs typeface="Avenir"/>
              </a:defRPr>
            </a:lvl9pPr>
          </a:lstStyle>
          <a:p xmlns:a="http://schemas.openxmlformats.org/drawingml/2006/main">
            <a:pPr algn="l">
              <a:lnSpc>
                <a:spcPct val="105000"/>
              </a:lnSpc>
              <a:buNone/>
              <a:defRPr sz="1575" b="0">
                <a:solidFill>
                  <a:srgbClr val="9BE3BD"/>
                </a:solidFill>
                <a:latin typeface="Avenir"/>
                <a:ea typeface="Avenir"/>
                <a:cs typeface="Avenir"/>
              </a:defRPr>
            </a:pPr>
            <a:r>
              <a:rPr sz="1575" b="0">
                <a:solidFill>
                  <a:srgbClr val="9BE3BD"/>
                </a:solidFill>
                <a:latin typeface="Avenir"/>
                <a:ea typeface="Avenir"/>
                <a:cs typeface="Avenir"/>
              </a:rPr>
              <a:t>n remains 10 on the back-edge</a:t>
            </a:r>
          </a:p>
        </p:txBody>
      </p:sp>
      <p:sp>
        <p:nvSpPr>
          <p:cNvPr id="13" name="">
            <a:extLst xmlns:a="http://schemas.openxmlformats.org/drawingml/2006/main">
              <a:ext uri="{FF2B5EF4-FFF2-40B4-BE49-F238E27FC236}">
                <a16:creationId xmlns:a16="http://schemas.microsoft.com/office/drawing/2014/main" id="{FA48A830-07A7-457D-9387-B9857810BA1A}"/>
              </a:ext>
            </a:extLst>
          </p:cNvPr>
          <p:cNvSpPr>
            <a:spLocks xmlns:a="http://schemas.openxmlformats.org/drawingml/2006/main" noGrp="1"/>
          </p:cNvSpPr>
          <p:nvPr/>
        </p:nvSpPr>
        <p:spPr>
          <a:xfrm xmlns:a="http://schemas.openxmlformats.org/drawingml/2006/main">
            <a:off x="762000" y="58674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B4C1D1"/>
                </a:solidFill>
                <a:latin typeface="Avenir"/>
                <a:ea typeface="Avenir"/>
                <a:cs typeface="Avenir"/>
              </a:defRPr>
            </a:defPPr>
            <a:lvl1pPr algn="l">
              <a:defRPr sz="1575" b="0">
                <a:solidFill>
                  <a:srgbClr val="B4C1D1"/>
                </a:solidFill>
                <a:latin typeface="Avenir"/>
                <a:ea typeface="Avenir"/>
                <a:cs typeface="Avenir"/>
              </a:defRPr>
            </a:lvl1pPr>
            <a:lvl2pPr algn="l">
              <a:defRPr sz="1575" b="0">
                <a:solidFill>
                  <a:srgbClr val="B4C1D1"/>
                </a:solidFill>
                <a:latin typeface="Avenir"/>
                <a:ea typeface="Avenir"/>
                <a:cs typeface="Avenir"/>
              </a:defRPr>
            </a:lvl2pPr>
            <a:lvl3pPr algn="l">
              <a:defRPr sz="1575" b="0">
                <a:solidFill>
                  <a:srgbClr val="B4C1D1"/>
                </a:solidFill>
                <a:latin typeface="Avenir"/>
                <a:ea typeface="Avenir"/>
                <a:cs typeface="Avenir"/>
              </a:defRPr>
            </a:lvl3pPr>
            <a:lvl4pPr algn="l">
              <a:defRPr sz="1575" b="0">
                <a:solidFill>
                  <a:srgbClr val="B4C1D1"/>
                </a:solidFill>
                <a:latin typeface="Avenir"/>
                <a:ea typeface="Avenir"/>
                <a:cs typeface="Avenir"/>
              </a:defRPr>
            </a:lvl4pPr>
            <a:lvl5pPr algn="l">
              <a:defRPr sz="1575" b="0">
                <a:solidFill>
                  <a:srgbClr val="B4C1D1"/>
                </a:solidFill>
                <a:latin typeface="Avenir"/>
                <a:ea typeface="Avenir"/>
                <a:cs typeface="Avenir"/>
              </a:defRPr>
            </a:lvl5pPr>
            <a:lvl6pPr algn="l">
              <a:defRPr sz="1575" b="0">
                <a:solidFill>
                  <a:srgbClr val="B4C1D1"/>
                </a:solidFill>
                <a:latin typeface="Avenir"/>
                <a:ea typeface="Avenir"/>
                <a:cs typeface="Avenir"/>
              </a:defRPr>
            </a:lvl6pPr>
            <a:lvl7pPr algn="l">
              <a:defRPr sz="1575" b="0">
                <a:solidFill>
                  <a:srgbClr val="B4C1D1"/>
                </a:solidFill>
                <a:latin typeface="Avenir"/>
                <a:ea typeface="Avenir"/>
                <a:cs typeface="Avenir"/>
              </a:defRPr>
            </a:lvl7pPr>
            <a:lvl8pPr algn="l">
              <a:defRPr sz="1575" b="0">
                <a:solidFill>
                  <a:srgbClr val="B4C1D1"/>
                </a:solidFill>
                <a:latin typeface="Avenir"/>
                <a:ea typeface="Avenir"/>
                <a:cs typeface="Avenir"/>
              </a:defRPr>
            </a:lvl8pPr>
            <a:lvl9pPr algn="l">
              <a:defRPr sz="1575" b="0">
                <a:solidFill>
                  <a:srgbClr val="B4C1D1"/>
                </a:solidFill>
                <a:latin typeface="Avenir"/>
                <a:ea typeface="Avenir"/>
                <a:cs typeface="Avenir"/>
              </a:defRPr>
            </a:lvl9pPr>
          </a:lstStyle>
          <a:p xmlns:a="http://schemas.openxmlformats.org/drawingml/2006/main">
            <a:pPr algn="l">
              <a:lnSpc>
                <a:spcPct val="105000"/>
              </a:lnSpc>
              <a:buNone/>
              <a:defRPr sz="1575" b="0">
                <a:solidFill>
                  <a:srgbClr val="B4C1D1"/>
                </a:solidFill>
                <a:latin typeface="Avenir"/>
                <a:ea typeface="Avenir"/>
                <a:cs typeface="Avenir"/>
              </a:defRPr>
            </a:pPr>
            <a:r>
              <a:rPr sz="1575" b="0">
                <a:solidFill>
                  <a:srgbClr val="B4C1D1"/>
                </a:solidFill>
                <a:latin typeface="Avenir"/>
                <a:ea typeface="Avenir"/>
                <a:cs typeface="Avenir"/>
              </a:rPr>
              <a:t>i changes, so it remains unknown at the loop test</a:t>
            </a:r>
          </a:p>
        </p:txBody>
      </p:sp>
    </p:spTree>
    <p:extLst>
      <p:ext uri="{BB962C8B-B14F-4D97-AF65-F5344CB8AC3E}">
        <p14:creationId xmlns:p14="http://schemas.microsoft.com/office/powerpoint/2010/main" val="142916528"/>
      </p:ext>
    </p:extLst>
  </p:cSld>
</p:sld>
</file>

<file path=ppt/slides/slide6.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6CAEC87-071E-4EA6-8128-5A48AD4AEBD8}"/>
              </a:ext>
            </a:extLst>
          </p:cNvPr>
          <p:cNvSpPr>
            <a:spLocks xmlns:a="http://schemas.openxmlformats.org/drawingml/2006/main" noGrp="1"/>
          </p:cNvSpPr>
          <p:nvPr/>
        </p:nvSpPr>
        <p:spPr>
          <a:xfrm xmlns:a="http://schemas.openxmlformats.org/drawingml/2006/main">
            <a:off x="685800" y="4191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525" b="1">
                <a:solidFill>
                  <a:srgbClr val="F4F7FB"/>
                </a:solidFill>
                <a:latin typeface="Avenir"/>
                <a:ea typeface="Avenir"/>
                <a:cs typeface="Avenir"/>
              </a:defRPr>
            </a:defPPr>
            <a:lvl1pPr algn="l">
              <a:defRPr sz="3525" b="1">
                <a:solidFill>
                  <a:srgbClr val="F4F7FB"/>
                </a:solidFill>
                <a:latin typeface="Avenir"/>
                <a:ea typeface="Avenir"/>
                <a:cs typeface="Avenir"/>
              </a:defRPr>
            </a:lvl1pPr>
            <a:lvl2pPr algn="l">
              <a:defRPr sz="3525" b="1">
                <a:solidFill>
                  <a:srgbClr val="F4F7FB"/>
                </a:solidFill>
                <a:latin typeface="Avenir"/>
                <a:ea typeface="Avenir"/>
                <a:cs typeface="Avenir"/>
              </a:defRPr>
            </a:lvl2pPr>
            <a:lvl3pPr algn="l">
              <a:defRPr sz="3525" b="1">
                <a:solidFill>
                  <a:srgbClr val="F4F7FB"/>
                </a:solidFill>
                <a:latin typeface="Avenir"/>
                <a:ea typeface="Avenir"/>
                <a:cs typeface="Avenir"/>
              </a:defRPr>
            </a:lvl3pPr>
            <a:lvl4pPr algn="l">
              <a:defRPr sz="3525" b="1">
                <a:solidFill>
                  <a:srgbClr val="F4F7FB"/>
                </a:solidFill>
                <a:latin typeface="Avenir"/>
                <a:ea typeface="Avenir"/>
                <a:cs typeface="Avenir"/>
              </a:defRPr>
            </a:lvl4pPr>
            <a:lvl5pPr algn="l">
              <a:defRPr sz="3525" b="1">
                <a:solidFill>
                  <a:srgbClr val="F4F7FB"/>
                </a:solidFill>
                <a:latin typeface="Avenir"/>
                <a:ea typeface="Avenir"/>
                <a:cs typeface="Avenir"/>
              </a:defRPr>
            </a:lvl5pPr>
            <a:lvl6pPr algn="l">
              <a:defRPr sz="3525" b="1">
                <a:solidFill>
                  <a:srgbClr val="F4F7FB"/>
                </a:solidFill>
                <a:latin typeface="Avenir"/>
                <a:ea typeface="Avenir"/>
                <a:cs typeface="Avenir"/>
              </a:defRPr>
            </a:lvl6pPr>
            <a:lvl7pPr algn="l">
              <a:defRPr sz="3525" b="1">
                <a:solidFill>
                  <a:srgbClr val="F4F7FB"/>
                </a:solidFill>
                <a:latin typeface="Avenir"/>
                <a:ea typeface="Avenir"/>
                <a:cs typeface="Avenir"/>
              </a:defRPr>
            </a:lvl7pPr>
            <a:lvl8pPr algn="l">
              <a:defRPr sz="3525" b="1">
                <a:solidFill>
                  <a:srgbClr val="F4F7FB"/>
                </a:solidFill>
                <a:latin typeface="Avenir"/>
                <a:ea typeface="Avenir"/>
                <a:cs typeface="Avenir"/>
              </a:defRPr>
            </a:lvl8pPr>
            <a:lvl9pPr algn="l">
              <a:defRPr sz="3525" b="1">
                <a:solidFill>
                  <a:srgbClr val="F4F7FB"/>
                </a:solidFill>
                <a:latin typeface="Avenir"/>
                <a:ea typeface="Avenir"/>
                <a:cs typeface="Avenir"/>
              </a:defRPr>
            </a:lvl9pPr>
          </a:lstStyle>
          <a:p xmlns:a="http://schemas.openxmlformats.org/drawingml/2006/main">
            <a:pPr algn="l">
              <a:lnSpc>
                <a:spcPct val="105000"/>
              </a:lnSpc>
              <a:buNone/>
              <a:defRPr sz="3525" b="1">
                <a:solidFill>
                  <a:srgbClr val="F4F7FB"/>
                </a:solidFill>
                <a:latin typeface="Avenir"/>
                <a:ea typeface="Avenir"/>
                <a:cs typeface="Avenir"/>
              </a:defRPr>
            </a:pPr>
            <a:r>
              <a:rPr sz="3525" b="1">
                <a:solidFill>
                  <a:srgbClr val="F4F7FB"/>
                </a:solidFill>
                <a:latin typeface="Avenir"/>
                <a:ea typeface="Avenir"/>
                <a:cs typeface="Avenir"/>
              </a:rPr>
              <a:t>Optimized and unoptimized execution</a:t>
            </a:r>
          </a:p>
        </p:txBody>
      </p:sp>
      <p:sp>
        <p:nvSpPr>
          <p:cNvPr id="2" name="">
            <a:extLst xmlns:a="http://schemas.openxmlformats.org/drawingml/2006/main">
              <a:ext uri="{FF2B5EF4-FFF2-40B4-BE49-F238E27FC236}">
                <a16:creationId xmlns:a16="http://schemas.microsoft.com/office/drawing/2014/main" id="{A5020EA4-3CEE-4087-B3A8-39ABF9B6B9A9}"/>
              </a:ext>
            </a:extLst>
          </p:cNvPr>
          <p:cNvSpPr>
            <a:spLocks xmlns:a="http://schemas.openxmlformats.org/drawingml/2006/main" noGrp="1"/>
          </p:cNvSpPr>
          <p:nvPr/>
        </p:nvSpPr>
        <p:spPr>
          <a:xfrm xmlns:a="http://schemas.openxmlformats.org/drawingml/2006/main">
            <a:off x="685800" y="1162050"/>
            <a:ext cx="819150" cy="38100"/>
          </a:xfrm>
          <a:prstGeom xmlns:a="http://schemas.openxmlformats.org/drawingml/2006/main" prst="rect">
            <a:avLst/>
          </a:prstGeom>
          <a:solidFill xmlns:a="http://schemas.openxmlformats.org/drawingml/2006/main">
            <a:srgbClr val="5AD6E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EE4B074-E247-4F9B-B4D4-BF4C4FE1C4D0}"/>
              </a:ext>
            </a:extLst>
          </p:cNvPr>
          <p:cNvSpPr>
            <a:spLocks xmlns:a="http://schemas.openxmlformats.org/drawingml/2006/main" noGrp="1"/>
          </p:cNvSpPr>
          <p:nvPr/>
        </p:nvSpPr>
        <p:spPr>
          <a:xfrm xmlns:a="http://schemas.openxmlformats.org/drawingml/2006/main">
            <a:off x="685800" y="13906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B4C1D1"/>
                </a:solidFill>
                <a:latin typeface="Avenir"/>
                <a:ea typeface="Avenir"/>
                <a:cs typeface="Avenir"/>
              </a:defRPr>
            </a:defPPr>
            <a:lvl1pPr algn="l">
              <a:defRPr sz="1725" b="0">
                <a:solidFill>
                  <a:srgbClr val="B4C1D1"/>
                </a:solidFill>
                <a:latin typeface="Avenir"/>
                <a:ea typeface="Avenir"/>
                <a:cs typeface="Avenir"/>
              </a:defRPr>
            </a:lvl1pPr>
            <a:lvl2pPr algn="l">
              <a:defRPr sz="1725" b="0">
                <a:solidFill>
                  <a:srgbClr val="B4C1D1"/>
                </a:solidFill>
                <a:latin typeface="Avenir"/>
                <a:ea typeface="Avenir"/>
                <a:cs typeface="Avenir"/>
              </a:defRPr>
            </a:lvl2pPr>
            <a:lvl3pPr algn="l">
              <a:defRPr sz="1725" b="0">
                <a:solidFill>
                  <a:srgbClr val="B4C1D1"/>
                </a:solidFill>
                <a:latin typeface="Avenir"/>
                <a:ea typeface="Avenir"/>
                <a:cs typeface="Avenir"/>
              </a:defRPr>
            </a:lvl3pPr>
            <a:lvl4pPr algn="l">
              <a:defRPr sz="1725" b="0">
                <a:solidFill>
                  <a:srgbClr val="B4C1D1"/>
                </a:solidFill>
                <a:latin typeface="Avenir"/>
                <a:ea typeface="Avenir"/>
                <a:cs typeface="Avenir"/>
              </a:defRPr>
            </a:lvl4pPr>
            <a:lvl5pPr algn="l">
              <a:defRPr sz="1725" b="0">
                <a:solidFill>
                  <a:srgbClr val="B4C1D1"/>
                </a:solidFill>
                <a:latin typeface="Avenir"/>
                <a:ea typeface="Avenir"/>
                <a:cs typeface="Avenir"/>
              </a:defRPr>
            </a:lvl5pPr>
            <a:lvl6pPr algn="l">
              <a:defRPr sz="1725" b="0">
                <a:solidFill>
                  <a:srgbClr val="B4C1D1"/>
                </a:solidFill>
                <a:latin typeface="Avenir"/>
                <a:ea typeface="Avenir"/>
                <a:cs typeface="Avenir"/>
              </a:defRPr>
            </a:lvl6pPr>
            <a:lvl7pPr algn="l">
              <a:defRPr sz="1725" b="0">
                <a:solidFill>
                  <a:srgbClr val="B4C1D1"/>
                </a:solidFill>
                <a:latin typeface="Avenir"/>
                <a:ea typeface="Avenir"/>
                <a:cs typeface="Avenir"/>
              </a:defRPr>
            </a:lvl7pPr>
            <a:lvl8pPr algn="l">
              <a:defRPr sz="1725" b="0">
                <a:solidFill>
                  <a:srgbClr val="B4C1D1"/>
                </a:solidFill>
                <a:latin typeface="Avenir"/>
                <a:ea typeface="Avenir"/>
                <a:cs typeface="Avenir"/>
              </a:defRPr>
            </a:lvl8pPr>
            <a:lvl9pPr algn="l">
              <a:defRPr sz="1725" b="0">
                <a:solidFill>
                  <a:srgbClr val="B4C1D1"/>
                </a:solidFill>
                <a:latin typeface="Avenir"/>
                <a:ea typeface="Avenir"/>
                <a:cs typeface="Avenir"/>
              </a:defRPr>
            </a:lvl9pPr>
          </a:lstStyle>
          <a:p xmlns:a="http://schemas.openxmlformats.org/drawingml/2006/main">
            <a:pPr algn="l">
              <a:lnSpc>
                <a:spcPct val="105000"/>
              </a:lnSpc>
              <a:buNone/>
              <a:defRPr sz="1725" b="0">
                <a:solidFill>
                  <a:srgbClr val="B4C1D1"/>
                </a:solidFill>
                <a:latin typeface="Avenir"/>
                <a:ea typeface="Avenir"/>
                <a:cs typeface="Avenir"/>
              </a:defRPr>
            </a:pPr>
            <a:r>
              <a:rPr sz="1725" b="0">
                <a:solidFill>
                  <a:srgbClr val="B4C1D1"/>
                </a:solidFill>
                <a:latin typeface="Avenir"/>
                <a:ea typeface="Avenir"/>
                <a:cs typeface="Avenir"/>
              </a:rPr>
              <a:t>The comparison runs both builds and checks that their output agrees.</a:t>
            </a:r>
          </a:p>
        </p:txBody>
      </p:sp>
      <p:sp>
        <p:nvSpPr>
          <p:cNvPr id="4" name="">
            <a:extLst xmlns:a="http://schemas.openxmlformats.org/drawingml/2006/main">
              <a:ext uri="{FF2B5EF4-FFF2-40B4-BE49-F238E27FC236}">
                <a16:creationId xmlns:a16="http://schemas.microsoft.com/office/drawing/2014/main" id="{9FBB5884-167C-49DC-AF59-0D66116D054B}"/>
              </a:ext>
            </a:extLst>
          </p:cNvPr>
          <p:cNvSpPr>
            <a:spLocks xmlns:a="http://schemas.openxmlformats.org/drawingml/2006/main" noGrp="1"/>
          </p:cNvSpPr>
          <p:nvPr/>
        </p:nvSpPr>
        <p:spPr>
          <a:xfrm xmlns:a="http://schemas.openxmlformats.org/drawingml/2006/main">
            <a:off x="762000" y="2143125"/>
            <a:ext cx="381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B4C1D1"/>
                </a:solidFill>
                <a:latin typeface="Avenir"/>
                <a:ea typeface="Avenir"/>
                <a:cs typeface="Avenir"/>
              </a:defRPr>
            </a:defPPr>
            <a:lvl1pPr algn="l">
              <a:defRPr sz="1725" b="0">
                <a:solidFill>
                  <a:srgbClr val="B4C1D1"/>
                </a:solidFill>
                <a:latin typeface="Avenir"/>
                <a:ea typeface="Avenir"/>
                <a:cs typeface="Avenir"/>
              </a:defRPr>
            </a:lvl1pPr>
            <a:lvl2pPr algn="l">
              <a:defRPr sz="1725" b="0">
                <a:solidFill>
                  <a:srgbClr val="B4C1D1"/>
                </a:solidFill>
                <a:latin typeface="Avenir"/>
                <a:ea typeface="Avenir"/>
                <a:cs typeface="Avenir"/>
              </a:defRPr>
            </a:lvl2pPr>
            <a:lvl3pPr algn="l">
              <a:defRPr sz="1725" b="0">
                <a:solidFill>
                  <a:srgbClr val="B4C1D1"/>
                </a:solidFill>
                <a:latin typeface="Avenir"/>
                <a:ea typeface="Avenir"/>
                <a:cs typeface="Avenir"/>
              </a:defRPr>
            </a:lvl3pPr>
            <a:lvl4pPr algn="l">
              <a:defRPr sz="1725" b="0">
                <a:solidFill>
                  <a:srgbClr val="B4C1D1"/>
                </a:solidFill>
                <a:latin typeface="Avenir"/>
                <a:ea typeface="Avenir"/>
                <a:cs typeface="Avenir"/>
              </a:defRPr>
            </a:lvl4pPr>
            <a:lvl5pPr algn="l">
              <a:defRPr sz="1725" b="0">
                <a:solidFill>
                  <a:srgbClr val="B4C1D1"/>
                </a:solidFill>
                <a:latin typeface="Avenir"/>
                <a:ea typeface="Avenir"/>
                <a:cs typeface="Avenir"/>
              </a:defRPr>
            </a:lvl5pPr>
            <a:lvl6pPr algn="l">
              <a:defRPr sz="1725" b="0">
                <a:solidFill>
                  <a:srgbClr val="B4C1D1"/>
                </a:solidFill>
                <a:latin typeface="Avenir"/>
                <a:ea typeface="Avenir"/>
                <a:cs typeface="Avenir"/>
              </a:defRPr>
            </a:lvl6pPr>
            <a:lvl7pPr algn="l">
              <a:defRPr sz="1725" b="0">
                <a:solidFill>
                  <a:srgbClr val="B4C1D1"/>
                </a:solidFill>
                <a:latin typeface="Avenir"/>
                <a:ea typeface="Avenir"/>
                <a:cs typeface="Avenir"/>
              </a:defRPr>
            </a:lvl7pPr>
            <a:lvl8pPr algn="l">
              <a:defRPr sz="1725" b="0">
                <a:solidFill>
                  <a:srgbClr val="B4C1D1"/>
                </a:solidFill>
                <a:latin typeface="Avenir"/>
                <a:ea typeface="Avenir"/>
                <a:cs typeface="Avenir"/>
              </a:defRPr>
            </a:lvl8pPr>
            <a:lvl9pPr algn="l">
              <a:defRPr sz="1725" b="0">
                <a:solidFill>
                  <a:srgbClr val="B4C1D1"/>
                </a:solidFill>
                <a:latin typeface="Avenir"/>
                <a:ea typeface="Avenir"/>
                <a:cs typeface="Avenir"/>
              </a:defRPr>
            </a:lvl9pPr>
          </a:lstStyle>
          <a:p xmlns:a="http://schemas.openxmlformats.org/drawingml/2006/main">
            <a:pPr algn="l">
              <a:lnSpc>
                <a:spcPct val="105000"/>
              </a:lnSpc>
              <a:buNone/>
              <a:defRPr sz="1725" b="0">
                <a:solidFill>
                  <a:srgbClr val="B4C1D1"/>
                </a:solidFill>
                <a:latin typeface="Avenir"/>
                <a:ea typeface="Avenir"/>
                <a:cs typeface="Avenir"/>
              </a:defRPr>
            </a:pPr>
            <a:r>
              <a:rPr sz="1725" b="0">
                <a:solidFill>
                  <a:srgbClr val="B4C1D1"/>
                </a:solidFill>
                <a:latin typeface="Avenir"/>
                <a:ea typeface="Avenir"/>
                <a:cs typeface="Avenir"/>
              </a:rPr>
              <a:t>Same Python source</a:t>
            </a:r>
          </a:p>
        </p:txBody>
      </p:sp>
      <p:sp>
        <p:nvSpPr>
          <p:cNvPr id="5" name="">
            <a:extLst xmlns:a="http://schemas.openxmlformats.org/drawingml/2006/main">
              <a:ext uri="{FF2B5EF4-FFF2-40B4-BE49-F238E27FC236}">
                <a16:creationId xmlns:a16="http://schemas.microsoft.com/office/drawing/2014/main" id="{B0003035-666B-47ED-BD9E-B13B3024114F}"/>
              </a:ext>
            </a:extLst>
          </p:cNvPr>
          <p:cNvSpPr>
            <a:spLocks xmlns:a="http://schemas.openxmlformats.org/drawingml/2006/main" noGrp="1"/>
          </p:cNvSpPr>
          <p:nvPr/>
        </p:nvSpPr>
        <p:spPr>
          <a:xfrm xmlns:a="http://schemas.openxmlformats.org/drawingml/2006/main">
            <a:off x="762000" y="2686050"/>
            <a:ext cx="428625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F4F7FB"/>
                </a:solidFill>
                <a:latin typeface="Menlo"/>
                <a:ea typeface="Menlo"/>
                <a:cs typeface="Menlo"/>
              </a:defRPr>
            </a:defPPr>
            <a:lvl1pPr algn="l">
              <a:defRPr sz="1725" b="0">
                <a:solidFill>
                  <a:srgbClr val="F4F7FB"/>
                </a:solidFill>
                <a:latin typeface="Menlo"/>
                <a:ea typeface="Menlo"/>
                <a:cs typeface="Menlo"/>
              </a:defRPr>
            </a:lvl1pPr>
            <a:lvl2pPr algn="l">
              <a:defRPr sz="1725" b="0">
                <a:solidFill>
                  <a:srgbClr val="F4F7FB"/>
                </a:solidFill>
                <a:latin typeface="Menlo"/>
                <a:ea typeface="Menlo"/>
                <a:cs typeface="Menlo"/>
              </a:defRPr>
            </a:lvl2pPr>
            <a:lvl3pPr algn="l">
              <a:defRPr sz="1725" b="0">
                <a:solidFill>
                  <a:srgbClr val="F4F7FB"/>
                </a:solidFill>
                <a:latin typeface="Menlo"/>
                <a:ea typeface="Menlo"/>
                <a:cs typeface="Menlo"/>
              </a:defRPr>
            </a:lvl3pPr>
            <a:lvl4pPr algn="l">
              <a:defRPr sz="1725" b="0">
                <a:solidFill>
                  <a:srgbClr val="F4F7FB"/>
                </a:solidFill>
                <a:latin typeface="Menlo"/>
                <a:ea typeface="Menlo"/>
                <a:cs typeface="Menlo"/>
              </a:defRPr>
            </a:lvl4pPr>
            <a:lvl5pPr algn="l">
              <a:defRPr sz="1725" b="0">
                <a:solidFill>
                  <a:srgbClr val="F4F7FB"/>
                </a:solidFill>
                <a:latin typeface="Menlo"/>
                <a:ea typeface="Menlo"/>
                <a:cs typeface="Menlo"/>
              </a:defRPr>
            </a:lvl5pPr>
            <a:lvl6pPr algn="l">
              <a:defRPr sz="1725" b="0">
                <a:solidFill>
                  <a:srgbClr val="F4F7FB"/>
                </a:solidFill>
                <a:latin typeface="Menlo"/>
                <a:ea typeface="Menlo"/>
                <a:cs typeface="Menlo"/>
              </a:defRPr>
            </a:lvl6pPr>
            <a:lvl7pPr algn="l">
              <a:defRPr sz="1725" b="0">
                <a:solidFill>
                  <a:srgbClr val="F4F7FB"/>
                </a:solidFill>
                <a:latin typeface="Menlo"/>
                <a:ea typeface="Menlo"/>
                <a:cs typeface="Menlo"/>
              </a:defRPr>
            </a:lvl7pPr>
            <a:lvl8pPr algn="l">
              <a:defRPr sz="1725" b="0">
                <a:solidFill>
                  <a:srgbClr val="F4F7FB"/>
                </a:solidFill>
                <a:latin typeface="Menlo"/>
                <a:ea typeface="Menlo"/>
                <a:cs typeface="Menlo"/>
              </a:defRPr>
            </a:lvl8pPr>
            <a:lvl9pPr algn="l">
              <a:defRPr sz="1725" b="0">
                <a:solidFill>
                  <a:srgbClr val="F4F7FB"/>
                </a:solidFill>
                <a:latin typeface="Menlo"/>
                <a:ea typeface="Menlo"/>
                <a:cs typeface="Menlo"/>
              </a:defRPr>
            </a:lvl9pPr>
          </a:lstStyle>
          <a:p xmlns:a="http://schemas.openxmlformats.org/drawingml/2006/main">
            <a:pPr algn="l">
              <a:lnSpc>
                <a:spcPct val="118000"/>
              </a:lnSpc>
              <a:buNone/>
              <a:defRPr sz="1725" b="0">
                <a:solidFill>
                  <a:srgbClr val="F4F7FB"/>
                </a:solidFill>
                <a:latin typeface="Menlo"/>
                <a:ea typeface="Menlo"/>
                <a:cs typeface="Menlo"/>
              </a:defRPr>
            </a:pPr>
            <a:r>
              <a:rPr sz="1725" b="0">
                <a:solidFill>
                  <a:srgbClr val="F4F7FB"/>
                </a:solidFill>
                <a:latin typeface="Menlo"/>
                <a:ea typeface="Menlo"/>
                <a:cs typeface="Menlo"/>
              </a:rPr>
              <a:t>answer = 6 * 7</a:t>
            </a:r>
          </a:p>
          <a:p xmlns:a="http://schemas.openxmlformats.org/drawingml/2006/main">
            <a:pPr algn="l">
              <a:lnSpc>
                <a:spcPct val="118000"/>
              </a:lnSpc>
              <a:buNone/>
              <a:defRPr sz="1725" b="0">
                <a:solidFill>
                  <a:srgbClr val="F4F7FB"/>
                </a:solidFill>
                <a:latin typeface="Menlo"/>
                <a:ea typeface="Menlo"/>
                <a:cs typeface="Menlo"/>
              </a:defRPr>
            </a:pPr>
            <a:r>
              <a:rPr sz="1725" b="0">
                <a:solidFill>
                  <a:srgbClr val="F4F7FB"/>
                </a:solidFill>
                <a:latin typeface="Menlo"/>
                <a:ea typeface="Menlo"/>
                <a:cs typeface="Menlo"/>
              </a:rPr>
              <a:t>copy = answer</a:t>
            </a:r>
          </a:p>
          <a:p xmlns:a="http://schemas.openxmlformats.org/drawingml/2006/main">
            <a:pPr algn="l">
              <a:lnSpc>
                <a:spcPct val="118000"/>
              </a:lnSpc>
              <a:buNone/>
              <a:defRPr sz="1725" b="0">
                <a:solidFill>
                  <a:srgbClr val="F4F7FB"/>
                </a:solidFill>
                <a:latin typeface="Menlo"/>
                <a:ea typeface="Menlo"/>
                <a:cs typeface="Menlo"/>
              </a:defRPr>
            </a:pPr>
            <a:r>
              <a:rPr sz="1725" b="0">
                <a:solidFill>
                  <a:srgbClr val="F4F7FB"/>
                </a:solidFill>
                <a:latin typeface="Menlo"/>
                <a:ea typeface="Menlo"/>
                <a:cs typeface="Menlo"/>
              </a:rPr>
              <a:t>result = copy + 0</a:t>
            </a:r>
          </a:p>
          <a:p xmlns:a="http://schemas.openxmlformats.org/drawingml/2006/main">
            <a:pPr algn="l">
              <a:lnSpc>
                <a:spcPct val="118000"/>
              </a:lnSpc>
              <a:buNone/>
              <a:defRPr sz="1725" b="0">
                <a:solidFill>
                  <a:srgbClr val="F4F7FB"/>
                </a:solidFill>
                <a:latin typeface="Menlo"/>
                <a:ea typeface="Menlo"/>
                <a:cs typeface="Menlo"/>
              </a:defRPr>
            </a:pPr>
            <a:r>
              <a:rPr sz="1725" b="0">
                <a:solidFill>
                  <a:srgbClr val="F4F7FB"/>
                </a:solidFill>
                <a:latin typeface="Menlo"/>
                <a:ea typeface="Menlo"/>
                <a:cs typeface="Menlo"/>
              </a:rPr>
              <a:t>print(result)</a:t>
            </a:r>
          </a:p>
        </p:txBody>
      </p:sp>
      <p:sp>
        <p:nvSpPr>
          <p:cNvPr id="6" name="">
            <a:extLst xmlns:a="http://schemas.openxmlformats.org/drawingml/2006/main">
              <a:ext uri="{FF2B5EF4-FFF2-40B4-BE49-F238E27FC236}">
                <a16:creationId xmlns:a16="http://schemas.microsoft.com/office/drawing/2014/main" id="{0B051942-CAB6-44DB-A890-BD000D8C6DCA}"/>
              </a:ext>
            </a:extLst>
          </p:cNvPr>
          <p:cNvSpPr>
            <a:spLocks xmlns:a="http://schemas.openxmlformats.org/drawingml/2006/main" noGrp="1"/>
          </p:cNvSpPr>
          <p:nvPr/>
        </p:nvSpPr>
        <p:spPr>
          <a:xfrm xmlns:a="http://schemas.openxmlformats.org/drawingml/2006/main">
            <a:off x="762000" y="4953000"/>
            <a:ext cx="3905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B4C1D1"/>
                </a:solidFill>
                <a:latin typeface="Avenir"/>
                <a:ea typeface="Avenir"/>
                <a:cs typeface="Avenir"/>
              </a:defRPr>
            </a:defPPr>
            <a:lvl1pPr algn="l">
              <a:defRPr sz="1425" b="0">
                <a:solidFill>
                  <a:srgbClr val="B4C1D1"/>
                </a:solidFill>
                <a:latin typeface="Avenir"/>
                <a:ea typeface="Avenir"/>
                <a:cs typeface="Avenir"/>
              </a:defRPr>
            </a:lvl1pPr>
            <a:lvl2pPr algn="l">
              <a:defRPr sz="1425" b="0">
                <a:solidFill>
                  <a:srgbClr val="B4C1D1"/>
                </a:solidFill>
                <a:latin typeface="Avenir"/>
                <a:ea typeface="Avenir"/>
                <a:cs typeface="Avenir"/>
              </a:defRPr>
            </a:lvl2pPr>
            <a:lvl3pPr algn="l">
              <a:defRPr sz="1425" b="0">
                <a:solidFill>
                  <a:srgbClr val="B4C1D1"/>
                </a:solidFill>
                <a:latin typeface="Avenir"/>
                <a:ea typeface="Avenir"/>
                <a:cs typeface="Avenir"/>
              </a:defRPr>
            </a:lvl3pPr>
            <a:lvl4pPr algn="l">
              <a:defRPr sz="1425" b="0">
                <a:solidFill>
                  <a:srgbClr val="B4C1D1"/>
                </a:solidFill>
                <a:latin typeface="Avenir"/>
                <a:ea typeface="Avenir"/>
                <a:cs typeface="Avenir"/>
              </a:defRPr>
            </a:lvl4pPr>
            <a:lvl5pPr algn="l">
              <a:defRPr sz="1425" b="0">
                <a:solidFill>
                  <a:srgbClr val="B4C1D1"/>
                </a:solidFill>
                <a:latin typeface="Avenir"/>
                <a:ea typeface="Avenir"/>
                <a:cs typeface="Avenir"/>
              </a:defRPr>
            </a:lvl5pPr>
            <a:lvl6pPr algn="l">
              <a:defRPr sz="1425" b="0">
                <a:solidFill>
                  <a:srgbClr val="B4C1D1"/>
                </a:solidFill>
                <a:latin typeface="Avenir"/>
                <a:ea typeface="Avenir"/>
                <a:cs typeface="Avenir"/>
              </a:defRPr>
            </a:lvl6pPr>
            <a:lvl7pPr algn="l">
              <a:defRPr sz="1425" b="0">
                <a:solidFill>
                  <a:srgbClr val="B4C1D1"/>
                </a:solidFill>
                <a:latin typeface="Avenir"/>
                <a:ea typeface="Avenir"/>
                <a:cs typeface="Avenir"/>
              </a:defRPr>
            </a:lvl7pPr>
            <a:lvl8pPr algn="l">
              <a:defRPr sz="1425" b="0">
                <a:solidFill>
                  <a:srgbClr val="B4C1D1"/>
                </a:solidFill>
                <a:latin typeface="Avenir"/>
                <a:ea typeface="Avenir"/>
                <a:cs typeface="Avenir"/>
              </a:defRPr>
            </a:lvl8pPr>
            <a:lvl9pPr algn="l">
              <a:defRPr sz="1425" b="0">
                <a:solidFill>
                  <a:srgbClr val="B4C1D1"/>
                </a:solidFill>
                <a:latin typeface="Avenir"/>
                <a:ea typeface="Avenir"/>
                <a:cs typeface="Avenir"/>
              </a:defRPr>
            </a:lvl9pPr>
          </a:lstStyle>
          <a:p xmlns:a="http://schemas.openxmlformats.org/drawingml/2006/main">
            <a:pPr algn="l">
              <a:lnSpc>
                <a:spcPct val="105000"/>
              </a:lnSpc>
              <a:buNone/>
              <a:defRPr sz="1425" b="0">
                <a:solidFill>
                  <a:srgbClr val="B4C1D1"/>
                </a:solidFill>
                <a:latin typeface="Avenir"/>
                <a:ea typeface="Avenir"/>
                <a:cs typeface="Avenir"/>
              </a:defRPr>
            </a:pPr>
            <a:r>
              <a:rPr sz="1425" b="0">
                <a:solidFill>
                  <a:srgbClr val="B4C1D1"/>
                </a:solidFill>
                <a:latin typeface="Avenir"/>
                <a:ea typeface="Avenir"/>
                <a:cs typeface="Avenir"/>
              </a:rPr>
              <a:t>Output from both builds</a:t>
            </a:r>
          </a:p>
        </p:txBody>
      </p:sp>
      <p:sp>
        <p:nvSpPr>
          <p:cNvPr id="7" name="">
            <a:extLst xmlns:a="http://schemas.openxmlformats.org/drawingml/2006/main">
              <a:ext uri="{FF2B5EF4-FFF2-40B4-BE49-F238E27FC236}">
                <a16:creationId xmlns:a16="http://schemas.microsoft.com/office/drawing/2014/main" id="{51F2BE7E-5258-4706-99AD-9C156F959092}"/>
              </a:ext>
            </a:extLst>
          </p:cNvPr>
          <p:cNvSpPr>
            <a:spLocks xmlns:a="http://schemas.openxmlformats.org/drawingml/2006/main" noGrp="1"/>
          </p:cNvSpPr>
          <p:nvPr/>
        </p:nvSpPr>
        <p:spPr>
          <a:xfrm xmlns:a="http://schemas.openxmlformats.org/drawingml/2006/main">
            <a:off x="762000" y="5314950"/>
            <a:ext cx="171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537"/>
          </a:bodyPr>
          <a:lstStyle xmlns:a="http://schemas.openxmlformats.org/drawingml/2006/main">
            <a:defPPr algn="l">
              <a:defRPr sz="4200" b="1">
                <a:solidFill>
                  <a:srgbClr val="9BE3BD"/>
                </a:solidFill>
                <a:latin typeface="Avenir"/>
                <a:ea typeface="Avenir"/>
                <a:cs typeface="Avenir"/>
              </a:defRPr>
            </a:defPPr>
            <a:lvl1pPr algn="l">
              <a:defRPr sz="4200" b="1">
                <a:solidFill>
                  <a:srgbClr val="9BE3BD"/>
                </a:solidFill>
                <a:latin typeface="Avenir"/>
                <a:ea typeface="Avenir"/>
                <a:cs typeface="Avenir"/>
              </a:defRPr>
            </a:lvl1pPr>
            <a:lvl2pPr algn="l">
              <a:defRPr sz="4200" b="1">
                <a:solidFill>
                  <a:srgbClr val="9BE3BD"/>
                </a:solidFill>
                <a:latin typeface="Avenir"/>
                <a:ea typeface="Avenir"/>
                <a:cs typeface="Avenir"/>
              </a:defRPr>
            </a:lvl2pPr>
            <a:lvl3pPr algn="l">
              <a:defRPr sz="4200" b="1">
                <a:solidFill>
                  <a:srgbClr val="9BE3BD"/>
                </a:solidFill>
                <a:latin typeface="Avenir"/>
                <a:ea typeface="Avenir"/>
                <a:cs typeface="Avenir"/>
              </a:defRPr>
            </a:lvl3pPr>
            <a:lvl4pPr algn="l">
              <a:defRPr sz="4200" b="1">
                <a:solidFill>
                  <a:srgbClr val="9BE3BD"/>
                </a:solidFill>
                <a:latin typeface="Avenir"/>
                <a:ea typeface="Avenir"/>
                <a:cs typeface="Avenir"/>
              </a:defRPr>
            </a:lvl4pPr>
            <a:lvl5pPr algn="l">
              <a:defRPr sz="4200" b="1">
                <a:solidFill>
                  <a:srgbClr val="9BE3BD"/>
                </a:solidFill>
                <a:latin typeface="Avenir"/>
                <a:ea typeface="Avenir"/>
                <a:cs typeface="Avenir"/>
              </a:defRPr>
            </a:lvl5pPr>
            <a:lvl6pPr algn="l">
              <a:defRPr sz="4200" b="1">
                <a:solidFill>
                  <a:srgbClr val="9BE3BD"/>
                </a:solidFill>
                <a:latin typeface="Avenir"/>
                <a:ea typeface="Avenir"/>
                <a:cs typeface="Avenir"/>
              </a:defRPr>
            </a:lvl6pPr>
            <a:lvl7pPr algn="l">
              <a:defRPr sz="4200" b="1">
                <a:solidFill>
                  <a:srgbClr val="9BE3BD"/>
                </a:solidFill>
                <a:latin typeface="Avenir"/>
                <a:ea typeface="Avenir"/>
                <a:cs typeface="Avenir"/>
              </a:defRPr>
            </a:lvl7pPr>
            <a:lvl8pPr algn="l">
              <a:defRPr sz="4200" b="1">
                <a:solidFill>
                  <a:srgbClr val="9BE3BD"/>
                </a:solidFill>
                <a:latin typeface="Avenir"/>
                <a:ea typeface="Avenir"/>
                <a:cs typeface="Avenir"/>
              </a:defRPr>
            </a:lvl8pPr>
            <a:lvl9pPr algn="l">
              <a:defRPr sz="4200" b="1">
                <a:solidFill>
                  <a:srgbClr val="9BE3BD"/>
                </a:solidFill>
                <a:latin typeface="Avenir"/>
                <a:ea typeface="Avenir"/>
                <a:cs typeface="Avenir"/>
              </a:defRPr>
            </a:lvl9pPr>
          </a:lstStyle>
          <a:p xmlns:a="http://schemas.openxmlformats.org/drawingml/2006/main">
            <a:pPr algn="l">
              <a:lnSpc>
                <a:spcPct val="105000"/>
              </a:lnSpc>
              <a:buNone/>
              <a:defRPr sz="4200" b="1">
                <a:solidFill>
                  <a:srgbClr val="9BE3BD"/>
                </a:solidFill>
                <a:latin typeface="Avenir"/>
                <a:ea typeface="Avenir"/>
                <a:cs typeface="Avenir"/>
              </a:defRPr>
            </a:pPr>
            <a:r>
              <a:rPr sz="4200" b="1">
                <a:solidFill>
                  <a:srgbClr val="9BE3BD"/>
                </a:solidFill>
                <a:latin typeface="Avenir"/>
                <a:ea typeface="Avenir"/>
                <a:cs typeface="Avenir"/>
              </a:rPr>
              <a:t>42</a:t>
            </a:r>
          </a:p>
        </p:txBody>
      </p:sp>
      <p:graphicFrame>
        <p:nvGraphicFramePr>
          <p:cNvPr id="8" name="Chart">
            <a:extLst xmlns:a="http://schemas.openxmlformats.org/drawingml/2006/main">
              <a:ext uri="{FF2B5EF4-FFF2-40B4-BE49-F238E27FC236}">
                <a16:creationId xmlns:a16="http://schemas.microsoft.com/office/drawing/2014/main" id="{339E4BB5-153E-4875-8394-480782BC2498}"/>
              </a:ext>
            </a:extLst>
          </p:cNvPr>
          <p:cNvGraphicFramePr/>
          <p:nvPr/>
        </p:nvGraphicFramePr>
        <p:xfrm>
          <a:off xmlns:a="http://schemas.openxmlformats.org/drawingml/2006/main" x="5486400" y="2076450"/>
          <a:ext xmlns:a="http://schemas.openxmlformats.org/drawingml/2006/main" cx="5715000" cy="3429000"/>
        </p:xfrm>
        <a:graphic xmlns:a="http://schemas.openxmlformats.org/drawingml/2006/main">
          <a:graphicData uri="http://schemas.openxmlformats.org/drawingml/2006/chart">
            <c:chart xmlns:r="http://schemas.openxmlformats.org/officeDocument/2006/relationships" xmlns:c="http://schemas.openxmlformats.org/drawingml/2006/chart" r:id="R008206cb272d4d90"/>
          </a:graphicData>
        </a:graphic>
      </p:graphicFrame>
      <p:sp>
        <p:nvSpPr>
          <p:cNvPr id="9" name="">
            <a:extLst xmlns:a="http://schemas.openxmlformats.org/drawingml/2006/main">
              <a:ext uri="{FF2B5EF4-FFF2-40B4-BE49-F238E27FC236}">
                <a16:creationId xmlns:a16="http://schemas.microsoft.com/office/drawing/2014/main" id="{4B5E8259-28B3-4B23-8EB1-FF59BC9455C7}"/>
              </a:ext>
            </a:extLst>
          </p:cNvPr>
          <p:cNvSpPr>
            <a:spLocks xmlns:a="http://schemas.openxmlformats.org/drawingml/2006/main" noGrp="1"/>
          </p:cNvSpPr>
          <p:nvPr/>
        </p:nvSpPr>
        <p:spPr>
          <a:xfrm xmlns:a="http://schemas.openxmlformats.org/drawingml/2006/main">
            <a:off x="5486400" y="5743575"/>
            <a:ext cx="600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B4C1D1"/>
                </a:solidFill>
                <a:latin typeface="Avenir"/>
                <a:ea typeface="Avenir"/>
                <a:cs typeface="Avenir"/>
              </a:defRPr>
            </a:defPPr>
            <a:lvl1pPr algn="l">
              <a:defRPr sz="1500" b="0">
                <a:solidFill>
                  <a:srgbClr val="B4C1D1"/>
                </a:solidFill>
                <a:latin typeface="Avenir"/>
                <a:ea typeface="Avenir"/>
                <a:cs typeface="Avenir"/>
              </a:defRPr>
            </a:lvl1pPr>
            <a:lvl2pPr algn="l">
              <a:defRPr sz="1500" b="0">
                <a:solidFill>
                  <a:srgbClr val="B4C1D1"/>
                </a:solidFill>
                <a:latin typeface="Avenir"/>
                <a:ea typeface="Avenir"/>
                <a:cs typeface="Avenir"/>
              </a:defRPr>
            </a:lvl2pPr>
            <a:lvl3pPr algn="l">
              <a:defRPr sz="1500" b="0">
                <a:solidFill>
                  <a:srgbClr val="B4C1D1"/>
                </a:solidFill>
                <a:latin typeface="Avenir"/>
                <a:ea typeface="Avenir"/>
                <a:cs typeface="Avenir"/>
              </a:defRPr>
            </a:lvl3pPr>
            <a:lvl4pPr algn="l">
              <a:defRPr sz="1500" b="0">
                <a:solidFill>
                  <a:srgbClr val="B4C1D1"/>
                </a:solidFill>
                <a:latin typeface="Avenir"/>
                <a:ea typeface="Avenir"/>
                <a:cs typeface="Avenir"/>
              </a:defRPr>
            </a:lvl4pPr>
            <a:lvl5pPr algn="l">
              <a:defRPr sz="1500" b="0">
                <a:solidFill>
                  <a:srgbClr val="B4C1D1"/>
                </a:solidFill>
                <a:latin typeface="Avenir"/>
                <a:ea typeface="Avenir"/>
                <a:cs typeface="Avenir"/>
              </a:defRPr>
            </a:lvl5pPr>
            <a:lvl6pPr algn="l">
              <a:defRPr sz="1500" b="0">
                <a:solidFill>
                  <a:srgbClr val="B4C1D1"/>
                </a:solidFill>
                <a:latin typeface="Avenir"/>
                <a:ea typeface="Avenir"/>
                <a:cs typeface="Avenir"/>
              </a:defRPr>
            </a:lvl6pPr>
            <a:lvl7pPr algn="l">
              <a:defRPr sz="1500" b="0">
                <a:solidFill>
                  <a:srgbClr val="B4C1D1"/>
                </a:solidFill>
                <a:latin typeface="Avenir"/>
                <a:ea typeface="Avenir"/>
                <a:cs typeface="Avenir"/>
              </a:defRPr>
            </a:lvl7pPr>
            <a:lvl8pPr algn="l">
              <a:defRPr sz="1500" b="0">
                <a:solidFill>
                  <a:srgbClr val="B4C1D1"/>
                </a:solidFill>
                <a:latin typeface="Avenir"/>
                <a:ea typeface="Avenir"/>
                <a:cs typeface="Avenir"/>
              </a:defRPr>
            </a:lvl8pPr>
            <a:lvl9pPr algn="l">
              <a:defRPr sz="1500" b="0">
                <a:solidFill>
                  <a:srgbClr val="B4C1D1"/>
                </a:solidFill>
                <a:latin typeface="Avenir"/>
                <a:ea typeface="Avenir"/>
                <a:cs typeface="Avenir"/>
              </a:defRPr>
            </a:lvl9pPr>
          </a:lstStyle>
          <a:p xmlns:a="http://schemas.openxmlformats.org/drawingml/2006/main">
            <a:pPr algn="l">
              <a:lnSpc>
                <a:spcPct val="105000"/>
              </a:lnSpc>
              <a:buNone/>
              <a:defRPr sz="1500" b="0">
                <a:solidFill>
                  <a:srgbClr val="B4C1D1"/>
                </a:solidFill>
                <a:latin typeface="Avenir"/>
                <a:ea typeface="Avenir"/>
                <a:cs typeface="Avenir"/>
              </a:defRPr>
            </a:pPr>
            <a:r>
              <a:rPr sz="1500" b="0">
                <a:solidFill>
                  <a:srgbClr val="B4C1D1"/>
                </a:solidFill>
                <a:latin typeface="Avenir"/>
                <a:ea typeface="Avenir"/>
                <a:cs typeface="Avenir"/>
              </a:rPr>
              <a:t>27 → 7 executed instructions  ·  74.1% fewer on this deliberately optimizable example</a:t>
            </a:r>
          </a:p>
        </p:txBody>
      </p:sp>
    </p:spTree>
    <p:extLst>
      <p:ext uri="{BB962C8B-B14F-4D97-AF65-F5344CB8AC3E}">
        <p14:creationId xmlns:p14="http://schemas.microsoft.com/office/powerpoint/2010/main" val="982676761"/>
      </p:ext>
    </p:extLst>
  </p:cSld>
</p:sld>
</file>

<file path=ppt/slides/slide7.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98532207-8A1C-425D-99F9-BB29F1879912}"/>
              </a:ext>
            </a:extLst>
          </p:cNvPr>
          <p:cNvCxnSpPr>
            <a:stCxn xmlns:a="http://schemas.openxmlformats.org/drawingml/2006/main" id="6" idx="3"/>
            <a:endCxn xmlns:a="http://schemas.openxmlformats.org/drawingml/2006/main" id="7" idx="1"/>
          </p:cNvCxnSpPr>
          <p:nvPr/>
        </p:nvCxnSpPr>
        <p:spPr>
          <a:xfrm xmlns:a="http://schemas.openxmlformats.org/drawingml/2006/main">
            <a:off x="9486900" y="3800475"/>
            <a:ext cx="419100" cy="0"/>
          </a:xfrm>
          <a:prstGeom xmlns:a="http://schemas.openxmlformats.org/drawingml/2006/main" prst="straightConnector1">
            <a:avLst/>
          </a:prstGeom>
          <a:ln xmlns:a="http://schemas.openxmlformats.org/drawingml/2006/main" w="19050">
            <a:solidFill>
              <a:srgbClr val="9BE3BD"/>
            </a:solidFill>
            <a:prstDash val="solid"/>
            <a:tailEnd type="arrow" w="sm" len="sm"/>
          </a:ln>
        </p:spPr>
      </p:cxnSp>
      <p:cxnSp>
        <p:nvCxnSpPr>
          <p:cNvPr id="9" name="">
            <a:extLst xmlns:a="http://schemas.openxmlformats.org/drawingml/2006/main">
              <a:ext uri="{FF2B5EF4-FFF2-40B4-BE49-F238E27FC236}">
                <a16:creationId xmlns:a16="http://schemas.microsoft.com/office/drawing/2014/main" id="{7077A5EE-DD8B-475A-B008-1402D96EEA2F}"/>
              </a:ext>
            </a:extLst>
          </p:cNvPr>
          <p:cNvCxnSpPr>
            <a:stCxn xmlns:a="http://schemas.openxmlformats.org/drawingml/2006/main" id="5" idx="3"/>
            <a:endCxn xmlns:a="http://schemas.openxmlformats.org/drawingml/2006/main" id="6" idx="1"/>
          </p:cNvCxnSpPr>
          <p:nvPr/>
        </p:nvCxnSpPr>
        <p:spPr>
          <a:xfrm xmlns:a="http://schemas.openxmlformats.org/drawingml/2006/main">
            <a:off x="7620000" y="3800475"/>
            <a:ext cx="438150" cy="0"/>
          </a:xfrm>
          <a:prstGeom xmlns:a="http://schemas.openxmlformats.org/drawingml/2006/main" prst="straightConnector1">
            <a:avLst/>
          </a:prstGeom>
          <a:ln xmlns:a="http://schemas.openxmlformats.org/drawingml/2006/main" w="19050">
            <a:solidFill>
              <a:srgbClr val="9BE3BD"/>
            </a:solidFill>
            <a:prstDash val="solid"/>
            <a:tailEnd type="arrow" w="sm" len="sm"/>
          </a:ln>
        </p:spPr>
      </p:cxnSp>
      <p:cxnSp>
        <p:nvCxnSpPr>
          <p:cNvPr id="8" name="">
            <a:extLst xmlns:a="http://schemas.openxmlformats.org/drawingml/2006/main">
              <a:ext uri="{FF2B5EF4-FFF2-40B4-BE49-F238E27FC236}">
                <a16:creationId xmlns:a16="http://schemas.microsoft.com/office/drawing/2014/main" id="{DBC3BB2B-C837-4C28-810F-F5948F5237ED}"/>
              </a:ext>
            </a:extLst>
          </p:cNvPr>
          <p:cNvCxnSpPr>
            <a:stCxn xmlns:a="http://schemas.openxmlformats.org/drawingml/2006/main" id="4" idx="3"/>
            <a:endCxn xmlns:a="http://schemas.openxmlformats.org/drawingml/2006/main" id="5" idx="1"/>
          </p:cNvCxnSpPr>
          <p:nvPr/>
        </p:nvCxnSpPr>
        <p:spPr>
          <a:xfrm xmlns:a="http://schemas.openxmlformats.org/drawingml/2006/main">
            <a:off x="2743200" y="3800475"/>
            <a:ext cx="895350" cy="0"/>
          </a:xfrm>
          <a:prstGeom xmlns:a="http://schemas.openxmlformats.org/drawingml/2006/main" prst="straightConnector1">
            <a:avLst/>
          </a:prstGeom>
          <a:ln xmlns:a="http://schemas.openxmlformats.org/drawingml/2006/main" w="19050">
            <a:solidFill>
              <a:srgbClr val="5AD6E6"/>
            </a:solidFill>
            <a:prstDash val="solid"/>
            <a:tailEnd type="arrow" w="sm" len="sm"/>
          </a:ln>
        </p:spPr>
      </p:cxnSp>
      <p:sp>
        <p:nvSpPr>
          <p:cNvPr id="13" name="">
            <a:extLst xmlns:a="http://schemas.openxmlformats.org/drawingml/2006/main">
              <a:ext uri="{FF2B5EF4-FFF2-40B4-BE49-F238E27FC236}">
                <a16:creationId xmlns:a16="http://schemas.microsoft.com/office/drawing/2014/main" id="{E42918FF-3536-42FA-959F-4AC38289C998}"/>
              </a:ext>
            </a:extLst>
          </p:cNvPr>
          <p:cNvSpPr>
            <a:spLocks xmlns:a="http://schemas.openxmlformats.org/drawingml/2006/main" noGrp="1"/>
          </p:cNvSpPr>
          <p:nvPr/>
        </p:nvSpPr>
        <p:spPr>
          <a:xfrm xmlns:a="http://schemas.openxmlformats.org/drawingml/2006/main">
            <a:off x="685800" y="4191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525" b="1">
                <a:solidFill>
                  <a:srgbClr val="F4F7FB"/>
                </a:solidFill>
                <a:latin typeface="Avenir"/>
                <a:ea typeface="Avenir"/>
                <a:cs typeface="Avenir"/>
              </a:defRPr>
            </a:defPPr>
            <a:lvl1pPr algn="l">
              <a:defRPr sz="3525" b="1">
                <a:solidFill>
                  <a:srgbClr val="F4F7FB"/>
                </a:solidFill>
                <a:latin typeface="Avenir"/>
                <a:ea typeface="Avenir"/>
                <a:cs typeface="Avenir"/>
              </a:defRPr>
            </a:lvl1pPr>
            <a:lvl2pPr algn="l">
              <a:defRPr sz="3525" b="1">
                <a:solidFill>
                  <a:srgbClr val="F4F7FB"/>
                </a:solidFill>
                <a:latin typeface="Avenir"/>
                <a:ea typeface="Avenir"/>
                <a:cs typeface="Avenir"/>
              </a:defRPr>
            </a:lvl2pPr>
            <a:lvl3pPr algn="l">
              <a:defRPr sz="3525" b="1">
                <a:solidFill>
                  <a:srgbClr val="F4F7FB"/>
                </a:solidFill>
                <a:latin typeface="Avenir"/>
                <a:ea typeface="Avenir"/>
                <a:cs typeface="Avenir"/>
              </a:defRPr>
            </a:lvl3pPr>
            <a:lvl4pPr algn="l">
              <a:defRPr sz="3525" b="1">
                <a:solidFill>
                  <a:srgbClr val="F4F7FB"/>
                </a:solidFill>
                <a:latin typeface="Avenir"/>
                <a:ea typeface="Avenir"/>
                <a:cs typeface="Avenir"/>
              </a:defRPr>
            </a:lvl4pPr>
            <a:lvl5pPr algn="l">
              <a:defRPr sz="3525" b="1">
                <a:solidFill>
                  <a:srgbClr val="F4F7FB"/>
                </a:solidFill>
                <a:latin typeface="Avenir"/>
                <a:ea typeface="Avenir"/>
                <a:cs typeface="Avenir"/>
              </a:defRPr>
            </a:lvl5pPr>
            <a:lvl6pPr algn="l">
              <a:defRPr sz="3525" b="1">
                <a:solidFill>
                  <a:srgbClr val="F4F7FB"/>
                </a:solidFill>
                <a:latin typeface="Avenir"/>
                <a:ea typeface="Avenir"/>
                <a:cs typeface="Avenir"/>
              </a:defRPr>
            </a:lvl6pPr>
            <a:lvl7pPr algn="l">
              <a:defRPr sz="3525" b="1">
                <a:solidFill>
                  <a:srgbClr val="F4F7FB"/>
                </a:solidFill>
                <a:latin typeface="Avenir"/>
                <a:ea typeface="Avenir"/>
                <a:cs typeface="Avenir"/>
              </a:defRPr>
            </a:lvl7pPr>
            <a:lvl8pPr algn="l">
              <a:defRPr sz="3525" b="1">
                <a:solidFill>
                  <a:srgbClr val="F4F7FB"/>
                </a:solidFill>
                <a:latin typeface="Avenir"/>
                <a:ea typeface="Avenir"/>
                <a:cs typeface="Avenir"/>
              </a:defRPr>
            </a:lvl8pPr>
            <a:lvl9pPr algn="l">
              <a:defRPr sz="3525" b="1">
                <a:solidFill>
                  <a:srgbClr val="F4F7FB"/>
                </a:solidFill>
                <a:latin typeface="Avenir"/>
                <a:ea typeface="Avenir"/>
                <a:cs typeface="Avenir"/>
              </a:defRPr>
            </a:lvl9pPr>
          </a:lstStyle>
          <a:p xmlns:a="http://schemas.openxmlformats.org/drawingml/2006/main">
            <a:pPr algn="l">
              <a:lnSpc>
                <a:spcPct val="105000"/>
              </a:lnSpc>
              <a:buNone/>
              <a:defRPr sz="3525" b="1">
                <a:solidFill>
                  <a:srgbClr val="F4F7FB"/>
                </a:solidFill>
                <a:latin typeface="Avenir"/>
                <a:ea typeface="Avenir"/>
                <a:cs typeface="Avenir"/>
              </a:defRPr>
            </a:pPr>
            <a:r>
              <a:rPr sz="3525" b="1">
                <a:solidFill>
                  <a:srgbClr val="F4F7FB"/>
                </a:solidFill>
                <a:latin typeface="Avenir"/>
                <a:ea typeface="Avenir"/>
                <a:cs typeface="Avenir"/>
              </a:rPr>
              <a:t>Process-level parallel work</a:t>
            </a:r>
          </a:p>
        </p:txBody>
      </p:sp>
      <p:sp>
        <p:nvSpPr>
          <p:cNvPr id="2" name="">
            <a:extLst xmlns:a="http://schemas.openxmlformats.org/drawingml/2006/main">
              <a:ext uri="{FF2B5EF4-FFF2-40B4-BE49-F238E27FC236}">
                <a16:creationId xmlns:a16="http://schemas.microsoft.com/office/drawing/2014/main" id="{31DCE66C-9440-430D-966B-7153169F768B}"/>
              </a:ext>
            </a:extLst>
          </p:cNvPr>
          <p:cNvSpPr>
            <a:spLocks xmlns:a="http://schemas.openxmlformats.org/drawingml/2006/main" noGrp="1"/>
          </p:cNvSpPr>
          <p:nvPr/>
        </p:nvSpPr>
        <p:spPr>
          <a:xfrm xmlns:a="http://schemas.openxmlformats.org/drawingml/2006/main">
            <a:off x="685800" y="1162050"/>
            <a:ext cx="819150" cy="38100"/>
          </a:xfrm>
          <a:prstGeom xmlns:a="http://schemas.openxmlformats.org/drawingml/2006/main" prst="rect">
            <a:avLst/>
          </a:prstGeom>
          <a:solidFill xmlns:a="http://schemas.openxmlformats.org/drawingml/2006/main">
            <a:srgbClr val="5AD6E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0412D4A-A23F-4301-87FD-7F0710C821A3}"/>
              </a:ext>
            </a:extLst>
          </p:cNvPr>
          <p:cNvSpPr>
            <a:spLocks xmlns:a="http://schemas.openxmlformats.org/drawingml/2006/main" noGrp="1"/>
          </p:cNvSpPr>
          <p:nvPr/>
        </p:nvSpPr>
        <p:spPr>
          <a:xfrm xmlns:a="http://schemas.openxmlformats.org/drawingml/2006/main">
            <a:off x="685800" y="13906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B4C1D1"/>
                </a:solidFill>
                <a:latin typeface="Avenir"/>
                <a:ea typeface="Avenir"/>
                <a:cs typeface="Avenir"/>
              </a:defRPr>
            </a:defPPr>
            <a:lvl1pPr algn="l">
              <a:defRPr sz="1725" b="0">
                <a:solidFill>
                  <a:srgbClr val="B4C1D1"/>
                </a:solidFill>
                <a:latin typeface="Avenir"/>
                <a:ea typeface="Avenir"/>
                <a:cs typeface="Avenir"/>
              </a:defRPr>
            </a:lvl1pPr>
            <a:lvl2pPr algn="l">
              <a:defRPr sz="1725" b="0">
                <a:solidFill>
                  <a:srgbClr val="B4C1D1"/>
                </a:solidFill>
                <a:latin typeface="Avenir"/>
                <a:ea typeface="Avenir"/>
                <a:cs typeface="Avenir"/>
              </a:defRPr>
            </a:lvl2pPr>
            <a:lvl3pPr algn="l">
              <a:defRPr sz="1725" b="0">
                <a:solidFill>
                  <a:srgbClr val="B4C1D1"/>
                </a:solidFill>
                <a:latin typeface="Avenir"/>
                <a:ea typeface="Avenir"/>
                <a:cs typeface="Avenir"/>
              </a:defRPr>
            </a:lvl3pPr>
            <a:lvl4pPr algn="l">
              <a:defRPr sz="1725" b="0">
                <a:solidFill>
                  <a:srgbClr val="B4C1D1"/>
                </a:solidFill>
                <a:latin typeface="Avenir"/>
                <a:ea typeface="Avenir"/>
                <a:cs typeface="Avenir"/>
              </a:defRPr>
            </a:lvl4pPr>
            <a:lvl5pPr algn="l">
              <a:defRPr sz="1725" b="0">
                <a:solidFill>
                  <a:srgbClr val="B4C1D1"/>
                </a:solidFill>
                <a:latin typeface="Avenir"/>
                <a:ea typeface="Avenir"/>
                <a:cs typeface="Avenir"/>
              </a:defRPr>
            </a:lvl5pPr>
            <a:lvl6pPr algn="l">
              <a:defRPr sz="1725" b="0">
                <a:solidFill>
                  <a:srgbClr val="B4C1D1"/>
                </a:solidFill>
                <a:latin typeface="Avenir"/>
                <a:ea typeface="Avenir"/>
                <a:cs typeface="Avenir"/>
              </a:defRPr>
            </a:lvl6pPr>
            <a:lvl7pPr algn="l">
              <a:defRPr sz="1725" b="0">
                <a:solidFill>
                  <a:srgbClr val="B4C1D1"/>
                </a:solidFill>
                <a:latin typeface="Avenir"/>
                <a:ea typeface="Avenir"/>
                <a:cs typeface="Avenir"/>
              </a:defRPr>
            </a:lvl7pPr>
            <a:lvl8pPr algn="l">
              <a:defRPr sz="1725" b="0">
                <a:solidFill>
                  <a:srgbClr val="B4C1D1"/>
                </a:solidFill>
                <a:latin typeface="Avenir"/>
                <a:ea typeface="Avenir"/>
                <a:cs typeface="Avenir"/>
              </a:defRPr>
            </a:lvl8pPr>
            <a:lvl9pPr algn="l">
              <a:defRPr sz="1725" b="0">
                <a:solidFill>
                  <a:srgbClr val="B4C1D1"/>
                </a:solidFill>
                <a:latin typeface="Avenir"/>
                <a:ea typeface="Avenir"/>
                <a:cs typeface="Avenir"/>
              </a:defRPr>
            </a:lvl9pPr>
          </a:lstStyle>
          <a:p xmlns:a="http://schemas.openxmlformats.org/drawingml/2006/main">
            <a:pPr algn="l">
              <a:lnSpc>
                <a:spcPct val="105000"/>
              </a:lnSpc>
              <a:buNone/>
              <a:defRPr sz="1725" b="0">
                <a:solidFill>
                  <a:srgbClr val="B4C1D1"/>
                </a:solidFill>
                <a:latin typeface="Avenir"/>
                <a:ea typeface="Avenir"/>
                <a:cs typeface="Avenir"/>
              </a:defRPr>
            </a:pPr>
            <a:r>
              <a:rPr sz="1725" b="0">
                <a:solidFill>
                  <a:srgbClr val="B4C1D1"/>
                </a:solidFill>
                <a:latin typeface="Avenir"/>
                <a:ea typeface="Avenir"/>
                <a:cs typeface="Avenir"/>
              </a:rPr>
              <a:t>parallel_sum applies a pure integer worker to independent inputs.</a:t>
            </a:r>
          </a:p>
        </p:txBody>
      </p:sp>
      <p:sp>
        <p:nvSpPr>
          <p:cNvPr id="4" name="">
            <a:extLst xmlns:a="http://schemas.openxmlformats.org/drawingml/2006/main">
              <a:ext uri="{FF2B5EF4-FFF2-40B4-BE49-F238E27FC236}">
                <a16:creationId xmlns:a16="http://schemas.microsoft.com/office/drawing/2014/main" id="{2F5C145D-2252-48EA-A2B9-CDB5290DF4C6}"/>
              </a:ext>
            </a:extLst>
          </p:cNvPr>
          <p:cNvSpPr>
            <a:spLocks xmlns:a="http://schemas.openxmlformats.org/drawingml/2006/main" noGrp="1"/>
          </p:cNvSpPr>
          <p:nvPr/>
        </p:nvSpPr>
        <p:spPr>
          <a:xfrm xmlns:a="http://schemas.openxmlformats.org/drawingml/2006/main">
            <a:off x="685800" y="3257550"/>
            <a:ext cx="2057400" cy="1085850"/>
          </a:xfrm>
          <a:prstGeom xmlns:a="http://schemas.openxmlformats.org/drawingml/2006/main" prst="roundRect">
            <a:avLst>
              <a:gd name="adj" fmla="val 12281"/>
            </a:avLst>
          </a:prstGeom>
          <a:solidFill xmlns:a="http://schemas.openxmlformats.org/drawingml/2006/main">
            <a:srgbClr val="17263A"/>
          </a:solidFill>
          <a:ln xmlns:a="http://schemas.openxmlformats.org/drawingml/2006/main" w="14288">
            <a:solidFill>
              <a:srgbClr val="5AD6E6"/>
            </a:solidFill>
            <a:prstDash val="solid"/>
          </a:ln>
        </p:spPr>
        <p:txBody>
          <a:bodyPr xmlns:a="http://schemas.openxmlformats.org/drawingml/2006/main" wrap="square" lIns="133350" tIns="114300" rIns="133350" bIns="114300" anchor="ctr">
            <a:normAutofit fontScale="100000"/>
          </a:bodyPr>
          <a:lstStyle xmlns:a="http://schemas.openxmlformats.org/drawingml/2006/main">
            <a:defPPr algn="ctr">
              <a:defRPr sz="1800" b="0">
                <a:solidFill>
                  <a:srgbClr val="F4F7FB"/>
                </a:solidFill>
                <a:latin typeface="Avenir"/>
                <a:ea typeface="Avenir"/>
                <a:cs typeface="Avenir"/>
              </a:defRPr>
            </a:defPPr>
            <a:lvl1pPr algn="ctr">
              <a:defRPr sz="1800" b="0">
                <a:solidFill>
                  <a:srgbClr val="F4F7FB"/>
                </a:solidFill>
                <a:latin typeface="Avenir"/>
                <a:ea typeface="Avenir"/>
                <a:cs typeface="Avenir"/>
              </a:defRPr>
            </a:lvl1pPr>
            <a:lvl2pPr algn="ctr">
              <a:defRPr sz="1800" b="0">
                <a:solidFill>
                  <a:srgbClr val="F4F7FB"/>
                </a:solidFill>
                <a:latin typeface="Avenir"/>
                <a:ea typeface="Avenir"/>
                <a:cs typeface="Avenir"/>
              </a:defRPr>
            </a:lvl2pPr>
            <a:lvl3pPr algn="ctr">
              <a:defRPr sz="1800" b="0">
                <a:solidFill>
                  <a:srgbClr val="F4F7FB"/>
                </a:solidFill>
                <a:latin typeface="Avenir"/>
                <a:ea typeface="Avenir"/>
                <a:cs typeface="Avenir"/>
              </a:defRPr>
            </a:lvl3pPr>
            <a:lvl4pPr algn="ctr">
              <a:defRPr sz="1800" b="0">
                <a:solidFill>
                  <a:srgbClr val="F4F7FB"/>
                </a:solidFill>
                <a:latin typeface="Avenir"/>
                <a:ea typeface="Avenir"/>
                <a:cs typeface="Avenir"/>
              </a:defRPr>
            </a:lvl4pPr>
            <a:lvl5pPr algn="ctr">
              <a:defRPr sz="1800" b="0">
                <a:solidFill>
                  <a:srgbClr val="F4F7FB"/>
                </a:solidFill>
                <a:latin typeface="Avenir"/>
                <a:ea typeface="Avenir"/>
                <a:cs typeface="Avenir"/>
              </a:defRPr>
            </a:lvl5pPr>
            <a:lvl6pPr algn="ctr">
              <a:defRPr sz="1800" b="0">
                <a:solidFill>
                  <a:srgbClr val="F4F7FB"/>
                </a:solidFill>
                <a:latin typeface="Avenir"/>
                <a:ea typeface="Avenir"/>
                <a:cs typeface="Avenir"/>
              </a:defRPr>
            </a:lvl6pPr>
            <a:lvl7pPr algn="ctr">
              <a:defRPr sz="1800" b="0">
                <a:solidFill>
                  <a:srgbClr val="F4F7FB"/>
                </a:solidFill>
                <a:latin typeface="Avenir"/>
                <a:ea typeface="Avenir"/>
                <a:cs typeface="Avenir"/>
              </a:defRPr>
            </a:lvl7pPr>
            <a:lvl8pPr algn="ctr">
              <a:defRPr sz="1800" b="0">
                <a:solidFill>
                  <a:srgbClr val="F4F7FB"/>
                </a:solidFill>
                <a:latin typeface="Avenir"/>
                <a:ea typeface="Avenir"/>
                <a:cs typeface="Avenir"/>
              </a:defRPr>
            </a:lvl8pPr>
            <a:lvl9pPr algn="ctr">
              <a:defRPr sz="1800" b="0">
                <a:solidFill>
                  <a:srgbClr val="F4F7FB"/>
                </a:solidFill>
                <a:latin typeface="Avenir"/>
                <a:ea typeface="Avenir"/>
                <a:cs typeface="Avenir"/>
              </a:defRPr>
            </a:lvl9pPr>
          </a:lstStyle>
          <a:p xmlns:a="http://schemas.openxmlformats.org/drawingml/2006/main">
            <a:pPr algn="ctr">
              <a:lnSpc>
                <a:spcPct val="105000"/>
              </a:lnSpc>
              <a:buNone/>
              <a:defRPr sz="1800" b="0">
                <a:solidFill>
                  <a:srgbClr val="F4F7FB"/>
                </a:solidFill>
                <a:latin typeface="Avenir"/>
                <a:ea typeface="Avenir"/>
                <a:cs typeface="Avenir"/>
              </a:defRPr>
            </a:pPr>
            <a:r>
              <a:rPr sz="1800" b="0">
                <a:solidFill>
                  <a:srgbClr val="F4F7FB"/>
                </a:solidFill>
                <a:latin typeface="Avenir"/>
                <a:ea typeface="Avenir"/>
                <a:cs typeface="Avenir"/>
              </a:rPr>
              <a:t>Input range</a:t>
            </a:r>
          </a:p>
          <a:p xmlns:a="http://schemas.openxmlformats.org/drawingml/2006/main">
            <a:pPr algn="ctr">
              <a:lnSpc>
                <a:spcPct val="105000"/>
              </a:lnSpc>
              <a:buNone/>
              <a:defRPr sz="1800" b="0">
                <a:solidFill>
                  <a:srgbClr val="F4F7FB"/>
                </a:solidFill>
                <a:latin typeface="Avenir"/>
                <a:ea typeface="Avenir"/>
                <a:cs typeface="Avenir"/>
              </a:defRPr>
            </a:pPr>
            <a:r>
              <a:rPr sz="1800" b="0">
                <a:solidFill>
                  <a:srgbClr val="F4F7FB"/>
                </a:solidFill>
                <a:latin typeface="Avenir"/>
                <a:ea typeface="Avenir"/>
                <a:cs typeface="Avenir"/>
              </a:rPr>
              <a:t>0 … 999</a:t>
            </a:r>
          </a:p>
        </p:txBody>
      </p:sp>
      <p:sp>
        <p:nvSpPr>
          <p:cNvPr id="5" name="">
            <a:extLst xmlns:a="http://schemas.openxmlformats.org/drawingml/2006/main">
              <a:ext uri="{FF2B5EF4-FFF2-40B4-BE49-F238E27FC236}">
                <a16:creationId xmlns:a16="http://schemas.microsoft.com/office/drawing/2014/main" id="{05D5B68B-7503-4E41-927B-BEE92E284538}"/>
              </a:ext>
            </a:extLst>
          </p:cNvPr>
          <p:cNvSpPr>
            <a:spLocks xmlns:a="http://schemas.openxmlformats.org/drawingml/2006/main" noGrp="1"/>
          </p:cNvSpPr>
          <p:nvPr/>
        </p:nvSpPr>
        <p:spPr>
          <a:xfrm xmlns:a="http://schemas.openxmlformats.org/drawingml/2006/main">
            <a:off x="3638550" y="2628900"/>
            <a:ext cx="3981450" cy="2343150"/>
          </a:xfrm>
          <a:prstGeom xmlns:a="http://schemas.openxmlformats.org/drawingml/2006/main" prst="roundRect">
            <a:avLst>
              <a:gd name="adj" fmla="val 5691"/>
            </a:avLst>
          </a:prstGeom>
          <a:solidFill xmlns:a="http://schemas.openxmlformats.org/drawingml/2006/main">
            <a:srgbClr val="17263A"/>
          </a:solidFill>
          <a:ln xmlns:a="http://schemas.openxmlformats.org/drawingml/2006/main" w="14288">
            <a:solidFill>
              <a:srgbClr val="5AD6E6"/>
            </a:solidFill>
            <a:prstDash val="solid"/>
          </a:ln>
        </p:spPr>
        <p:txBody>
          <a:bodyPr xmlns:a="http://schemas.openxmlformats.org/drawingml/2006/main" wrap="square" lIns="133350" tIns="114300" rIns="133350" bIns="114300" anchor="ctr">
            <a:normAutofit fontScale="100000"/>
          </a:bodyPr>
          <a:lstStyle xmlns:a="http://schemas.openxmlformats.org/drawingml/2006/main">
            <a:defPPr algn="ctr">
              <a:defRPr sz="1800" b="0">
                <a:solidFill>
                  <a:srgbClr val="F4F7FB"/>
                </a:solidFill>
                <a:latin typeface="Menlo"/>
                <a:ea typeface="Menlo"/>
                <a:cs typeface="Menlo"/>
              </a:defRPr>
            </a:defPPr>
            <a:lvl1pPr algn="ctr">
              <a:defRPr sz="1800" b="0">
                <a:solidFill>
                  <a:srgbClr val="F4F7FB"/>
                </a:solidFill>
                <a:latin typeface="Menlo"/>
                <a:ea typeface="Menlo"/>
                <a:cs typeface="Menlo"/>
              </a:defRPr>
            </a:lvl1pPr>
            <a:lvl2pPr algn="ctr">
              <a:defRPr sz="1800" b="0">
                <a:solidFill>
                  <a:srgbClr val="F4F7FB"/>
                </a:solidFill>
                <a:latin typeface="Menlo"/>
                <a:ea typeface="Menlo"/>
                <a:cs typeface="Menlo"/>
              </a:defRPr>
            </a:lvl2pPr>
            <a:lvl3pPr algn="ctr">
              <a:defRPr sz="1800" b="0">
                <a:solidFill>
                  <a:srgbClr val="F4F7FB"/>
                </a:solidFill>
                <a:latin typeface="Menlo"/>
                <a:ea typeface="Menlo"/>
                <a:cs typeface="Menlo"/>
              </a:defRPr>
            </a:lvl3pPr>
            <a:lvl4pPr algn="ctr">
              <a:defRPr sz="1800" b="0">
                <a:solidFill>
                  <a:srgbClr val="F4F7FB"/>
                </a:solidFill>
                <a:latin typeface="Menlo"/>
                <a:ea typeface="Menlo"/>
                <a:cs typeface="Menlo"/>
              </a:defRPr>
            </a:lvl4pPr>
            <a:lvl5pPr algn="ctr">
              <a:defRPr sz="1800" b="0">
                <a:solidFill>
                  <a:srgbClr val="F4F7FB"/>
                </a:solidFill>
                <a:latin typeface="Menlo"/>
                <a:ea typeface="Menlo"/>
                <a:cs typeface="Menlo"/>
              </a:defRPr>
            </a:lvl5pPr>
            <a:lvl6pPr algn="ctr">
              <a:defRPr sz="1800" b="0">
                <a:solidFill>
                  <a:srgbClr val="F4F7FB"/>
                </a:solidFill>
                <a:latin typeface="Menlo"/>
                <a:ea typeface="Menlo"/>
                <a:cs typeface="Menlo"/>
              </a:defRPr>
            </a:lvl6pPr>
            <a:lvl7pPr algn="ctr">
              <a:defRPr sz="1800" b="0">
                <a:solidFill>
                  <a:srgbClr val="F4F7FB"/>
                </a:solidFill>
                <a:latin typeface="Menlo"/>
                <a:ea typeface="Menlo"/>
                <a:cs typeface="Menlo"/>
              </a:defRPr>
            </a:lvl7pPr>
            <a:lvl8pPr algn="ctr">
              <a:defRPr sz="1800" b="0">
                <a:solidFill>
                  <a:srgbClr val="F4F7FB"/>
                </a:solidFill>
                <a:latin typeface="Menlo"/>
                <a:ea typeface="Menlo"/>
                <a:cs typeface="Menlo"/>
              </a:defRPr>
            </a:lvl8pPr>
            <a:lvl9pPr algn="ctr">
              <a:defRPr sz="1800" b="0">
                <a:solidFill>
                  <a:srgbClr val="F4F7FB"/>
                </a:solidFill>
                <a:latin typeface="Menlo"/>
                <a:ea typeface="Menlo"/>
                <a:cs typeface="Menlo"/>
              </a:defRPr>
            </a:lvl9pPr>
          </a:lstStyle>
          <a:p xmlns:a="http://schemas.openxmlformats.org/drawingml/2006/main">
            <a:pPr algn="ctr">
              <a:lnSpc>
                <a:spcPct val="105000"/>
              </a:lnSpc>
              <a:buNone/>
              <a:defRPr sz="1800" b="0">
                <a:solidFill>
                  <a:srgbClr val="F4F7FB"/>
                </a:solidFill>
                <a:latin typeface="Menlo"/>
                <a:ea typeface="Menlo"/>
                <a:cs typeface="Menlo"/>
              </a:defRPr>
            </a:pPr>
            <a:r>
              <a:rPr sz="1800" b="0">
                <a:solidFill>
                  <a:srgbClr val="F4F7FB"/>
                </a:solidFill>
                <a:latin typeface="Menlo"/>
                <a:ea typeface="Menlo"/>
                <a:cs typeface="Menlo"/>
              </a:rPr>
              <a:t>Process pool</a:t>
            </a:r>
          </a:p>
          <a:p xmlns:a="http://schemas.openxmlformats.org/drawingml/2006/main">
            <a:pPr algn="ctr">
              <a:lnSpc>
                <a:spcPct val="105000"/>
              </a:lnSpc>
              <a:buNone/>
              <a:defRPr sz="1800" b="0">
                <a:solidFill>
                  <a:srgbClr val="F4F7FB"/>
                </a:solidFill>
                <a:latin typeface="Menlo"/>
                <a:ea typeface="Menlo"/>
                <a:cs typeface="Menlo"/>
              </a:defRPr>
            </a:pPr>
            <a:r>
              <a:rPr sz="1800" b="0">
                <a:solidFill>
                  <a:srgbClr val="F4F7FB"/>
                </a:solidFill>
                <a:latin typeface="Menlo"/>
                <a:ea typeface="Menlo"/>
                <a:cs typeface="Menlo"/>
              </a:rPr>
              <a:t>multiple worker processes</a:t>
            </a:r>
          </a:p>
          <a:p xmlns:a="http://schemas.openxmlformats.org/drawingml/2006/main">
            <a:r>
              <a:t/>
            </a:r>
          </a:p>
          <a:p xmlns:a="http://schemas.openxmlformats.org/drawingml/2006/main">
            <a:pPr algn="ctr">
              <a:lnSpc>
                <a:spcPct val="105000"/>
              </a:lnSpc>
              <a:buNone/>
              <a:defRPr sz="1800" b="0">
                <a:solidFill>
                  <a:srgbClr val="F4F7FB"/>
                </a:solidFill>
                <a:latin typeface="Menlo"/>
                <a:ea typeface="Menlo"/>
                <a:cs typeface="Menlo"/>
              </a:defRPr>
            </a:pPr>
            <a:r>
              <a:rPr sz="1800" b="0">
                <a:solidFill>
                  <a:srgbClr val="F4F7FB"/>
                </a:solidFill>
                <a:latin typeface="Menlo"/>
                <a:ea typeface="Menlo"/>
                <a:cs typeface="Menlo"/>
              </a:rPr>
              <a:t>square(0) … square(999)</a:t>
            </a:r>
          </a:p>
        </p:txBody>
      </p:sp>
      <p:sp>
        <p:nvSpPr>
          <p:cNvPr id="6" name="">
            <a:extLst xmlns:a="http://schemas.openxmlformats.org/drawingml/2006/main">
              <a:ext uri="{FF2B5EF4-FFF2-40B4-BE49-F238E27FC236}">
                <a16:creationId xmlns:a16="http://schemas.microsoft.com/office/drawing/2014/main" id="{AC2C2EFE-BAB8-4144-801C-84A4BC15F976}"/>
              </a:ext>
            </a:extLst>
          </p:cNvPr>
          <p:cNvSpPr>
            <a:spLocks xmlns:a="http://schemas.openxmlformats.org/drawingml/2006/main" noGrp="1"/>
          </p:cNvSpPr>
          <p:nvPr/>
        </p:nvSpPr>
        <p:spPr>
          <a:xfrm xmlns:a="http://schemas.openxmlformats.org/drawingml/2006/main">
            <a:off x="8058150" y="3257550"/>
            <a:ext cx="1428750" cy="1085850"/>
          </a:xfrm>
          <a:prstGeom xmlns:a="http://schemas.openxmlformats.org/drawingml/2006/main" prst="roundRect">
            <a:avLst>
              <a:gd name="adj" fmla="val 12281"/>
            </a:avLst>
          </a:prstGeom>
          <a:solidFill xmlns:a="http://schemas.openxmlformats.org/drawingml/2006/main">
            <a:srgbClr val="17263A"/>
          </a:solidFill>
          <a:ln xmlns:a="http://schemas.openxmlformats.org/drawingml/2006/main" w="14288">
            <a:solidFill>
              <a:srgbClr val="9BE3BD"/>
            </a:solidFill>
            <a:prstDash val="solid"/>
          </a:ln>
        </p:spPr>
        <p:txBody>
          <a:bodyPr xmlns:a="http://schemas.openxmlformats.org/drawingml/2006/main" wrap="square" lIns="133350" tIns="114300" rIns="133350" bIns="114300" anchor="ctr">
            <a:normAutofit fontScale="100000"/>
          </a:bodyPr>
          <a:lstStyle xmlns:a="http://schemas.openxmlformats.org/drawingml/2006/main">
            <a:defPPr algn="ctr">
              <a:defRPr sz="1575" b="0">
                <a:solidFill>
                  <a:srgbClr val="F4F7FB"/>
                </a:solidFill>
                <a:latin typeface="Avenir"/>
                <a:ea typeface="Avenir"/>
                <a:cs typeface="Avenir"/>
              </a:defRPr>
            </a:defPPr>
            <a:lvl1pPr algn="ctr">
              <a:defRPr sz="1575" b="0">
                <a:solidFill>
                  <a:srgbClr val="F4F7FB"/>
                </a:solidFill>
                <a:latin typeface="Avenir"/>
                <a:ea typeface="Avenir"/>
                <a:cs typeface="Avenir"/>
              </a:defRPr>
            </a:lvl1pPr>
            <a:lvl2pPr algn="ctr">
              <a:defRPr sz="1575" b="0">
                <a:solidFill>
                  <a:srgbClr val="F4F7FB"/>
                </a:solidFill>
                <a:latin typeface="Avenir"/>
                <a:ea typeface="Avenir"/>
                <a:cs typeface="Avenir"/>
              </a:defRPr>
            </a:lvl2pPr>
            <a:lvl3pPr algn="ctr">
              <a:defRPr sz="1575" b="0">
                <a:solidFill>
                  <a:srgbClr val="F4F7FB"/>
                </a:solidFill>
                <a:latin typeface="Avenir"/>
                <a:ea typeface="Avenir"/>
                <a:cs typeface="Avenir"/>
              </a:defRPr>
            </a:lvl3pPr>
            <a:lvl4pPr algn="ctr">
              <a:defRPr sz="1575" b="0">
                <a:solidFill>
                  <a:srgbClr val="F4F7FB"/>
                </a:solidFill>
                <a:latin typeface="Avenir"/>
                <a:ea typeface="Avenir"/>
                <a:cs typeface="Avenir"/>
              </a:defRPr>
            </a:lvl4pPr>
            <a:lvl5pPr algn="ctr">
              <a:defRPr sz="1575" b="0">
                <a:solidFill>
                  <a:srgbClr val="F4F7FB"/>
                </a:solidFill>
                <a:latin typeface="Avenir"/>
                <a:ea typeface="Avenir"/>
                <a:cs typeface="Avenir"/>
              </a:defRPr>
            </a:lvl5pPr>
            <a:lvl6pPr algn="ctr">
              <a:defRPr sz="1575" b="0">
                <a:solidFill>
                  <a:srgbClr val="F4F7FB"/>
                </a:solidFill>
                <a:latin typeface="Avenir"/>
                <a:ea typeface="Avenir"/>
                <a:cs typeface="Avenir"/>
              </a:defRPr>
            </a:lvl6pPr>
            <a:lvl7pPr algn="ctr">
              <a:defRPr sz="1575" b="0">
                <a:solidFill>
                  <a:srgbClr val="F4F7FB"/>
                </a:solidFill>
                <a:latin typeface="Avenir"/>
                <a:ea typeface="Avenir"/>
                <a:cs typeface="Avenir"/>
              </a:defRPr>
            </a:lvl7pPr>
            <a:lvl8pPr algn="ctr">
              <a:defRPr sz="1575" b="0">
                <a:solidFill>
                  <a:srgbClr val="F4F7FB"/>
                </a:solidFill>
                <a:latin typeface="Avenir"/>
                <a:ea typeface="Avenir"/>
                <a:cs typeface="Avenir"/>
              </a:defRPr>
            </a:lvl8pPr>
            <a:lvl9pPr algn="ctr">
              <a:defRPr sz="1575" b="0">
                <a:solidFill>
                  <a:srgbClr val="F4F7FB"/>
                </a:solidFill>
                <a:latin typeface="Avenir"/>
                <a:ea typeface="Avenir"/>
                <a:cs typeface="Avenir"/>
              </a:defRPr>
            </a:lvl9pPr>
          </a:lstStyle>
          <a:p xmlns:a="http://schemas.openxmlformats.org/drawingml/2006/main">
            <a:pPr algn="ctr">
              <a:lnSpc>
                <a:spcPct val="105000"/>
              </a:lnSpc>
              <a:buNone/>
              <a:defRPr sz="1575" b="0">
                <a:solidFill>
                  <a:srgbClr val="F4F7FB"/>
                </a:solidFill>
                <a:latin typeface="Avenir"/>
                <a:ea typeface="Avenir"/>
                <a:cs typeface="Avenir"/>
              </a:defRPr>
            </a:pPr>
            <a:r>
              <a:rPr sz="1575" b="0">
                <a:solidFill>
                  <a:srgbClr val="F4F7FB"/>
                </a:solidFill>
                <a:latin typeface="Avenir"/>
                <a:ea typeface="Avenir"/>
                <a:cs typeface="Avenir"/>
              </a:rPr>
              <a:t>Sum worker</a:t>
            </a:r>
          </a:p>
          <a:p xmlns:a="http://schemas.openxmlformats.org/drawingml/2006/main">
            <a:pPr algn="ctr">
              <a:lnSpc>
                <a:spcPct val="105000"/>
              </a:lnSpc>
              <a:buNone/>
              <a:defRPr sz="1575" b="0">
                <a:solidFill>
                  <a:srgbClr val="F4F7FB"/>
                </a:solidFill>
                <a:latin typeface="Avenir"/>
                <a:ea typeface="Avenir"/>
                <a:cs typeface="Avenir"/>
              </a:defRPr>
            </a:pPr>
            <a:r>
              <a:rPr sz="1575" b="0">
                <a:solidFill>
                  <a:srgbClr val="F4F7FB"/>
                </a:solidFill>
                <a:latin typeface="Avenir"/>
                <a:ea typeface="Avenir"/>
                <a:cs typeface="Avenir"/>
              </a:rPr>
              <a:t>returns</a:t>
            </a:r>
          </a:p>
        </p:txBody>
      </p:sp>
      <p:sp>
        <p:nvSpPr>
          <p:cNvPr id="7" name="">
            <a:extLst xmlns:a="http://schemas.openxmlformats.org/drawingml/2006/main">
              <a:ext uri="{FF2B5EF4-FFF2-40B4-BE49-F238E27FC236}">
                <a16:creationId xmlns:a16="http://schemas.microsoft.com/office/drawing/2014/main" id="{20FC484E-F811-4027-B1A6-2DAB3CB68EE3}"/>
              </a:ext>
            </a:extLst>
          </p:cNvPr>
          <p:cNvSpPr>
            <a:spLocks xmlns:a="http://schemas.openxmlformats.org/drawingml/2006/main" noGrp="1"/>
          </p:cNvSpPr>
          <p:nvPr/>
        </p:nvSpPr>
        <p:spPr>
          <a:xfrm xmlns:a="http://schemas.openxmlformats.org/drawingml/2006/main">
            <a:off x="9906000" y="3257550"/>
            <a:ext cx="1657350" cy="1085850"/>
          </a:xfrm>
          <a:prstGeom xmlns:a="http://schemas.openxmlformats.org/drawingml/2006/main" prst="roundRect">
            <a:avLst>
              <a:gd name="adj" fmla="val 12281"/>
            </a:avLst>
          </a:prstGeom>
          <a:solidFill xmlns:a="http://schemas.openxmlformats.org/drawingml/2006/main">
            <a:srgbClr val="17263A"/>
          </a:solidFill>
          <a:ln xmlns:a="http://schemas.openxmlformats.org/drawingml/2006/main" w="14288">
            <a:solidFill>
              <a:srgbClr val="9BE3BD"/>
            </a:solidFill>
            <a:prstDash val="solid"/>
          </a:ln>
        </p:spPr>
        <p:txBody>
          <a:bodyPr xmlns:a="http://schemas.openxmlformats.org/drawingml/2006/main" wrap="square" lIns="133350" tIns="114300" rIns="133350" bIns="114300" anchor="ctr">
            <a:normAutofit fontScale="100000"/>
          </a:bodyPr>
          <a:lstStyle xmlns:a="http://schemas.openxmlformats.org/drawingml/2006/main">
            <a:defPPr algn="ctr">
              <a:defRPr sz="1650" b="0">
                <a:solidFill>
                  <a:srgbClr val="9BE3BD"/>
                </a:solidFill>
                <a:latin typeface="Avenir"/>
                <a:ea typeface="Avenir"/>
                <a:cs typeface="Avenir"/>
              </a:defRPr>
            </a:defPPr>
            <a:lvl1pPr algn="ctr">
              <a:defRPr sz="1650" b="0">
                <a:solidFill>
                  <a:srgbClr val="9BE3BD"/>
                </a:solidFill>
                <a:latin typeface="Avenir"/>
                <a:ea typeface="Avenir"/>
                <a:cs typeface="Avenir"/>
              </a:defRPr>
            </a:lvl1pPr>
            <a:lvl2pPr algn="ctr">
              <a:defRPr sz="1650" b="0">
                <a:solidFill>
                  <a:srgbClr val="9BE3BD"/>
                </a:solidFill>
                <a:latin typeface="Avenir"/>
                <a:ea typeface="Avenir"/>
                <a:cs typeface="Avenir"/>
              </a:defRPr>
            </a:lvl2pPr>
            <a:lvl3pPr algn="ctr">
              <a:defRPr sz="1650" b="0">
                <a:solidFill>
                  <a:srgbClr val="9BE3BD"/>
                </a:solidFill>
                <a:latin typeface="Avenir"/>
                <a:ea typeface="Avenir"/>
                <a:cs typeface="Avenir"/>
              </a:defRPr>
            </a:lvl3pPr>
            <a:lvl4pPr algn="ctr">
              <a:defRPr sz="1650" b="0">
                <a:solidFill>
                  <a:srgbClr val="9BE3BD"/>
                </a:solidFill>
                <a:latin typeface="Avenir"/>
                <a:ea typeface="Avenir"/>
                <a:cs typeface="Avenir"/>
              </a:defRPr>
            </a:lvl4pPr>
            <a:lvl5pPr algn="ctr">
              <a:defRPr sz="1650" b="0">
                <a:solidFill>
                  <a:srgbClr val="9BE3BD"/>
                </a:solidFill>
                <a:latin typeface="Avenir"/>
                <a:ea typeface="Avenir"/>
                <a:cs typeface="Avenir"/>
              </a:defRPr>
            </a:lvl5pPr>
            <a:lvl6pPr algn="ctr">
              <a:defRPr sz="1650" b="0">
                <a:solidFill>
                  <a:srgbClr val="9BE3BD"/>
                </a:solidFill>
                <a:latin typeface="Avenir"/>
                <a:ea typeface="Avenir"/>
                <a:cs typeface="Avenir"/>
              </a:defRPr>
            </a:lvl6pPr>
            <a:lvl7pPr algn="ctr">
              <a:defRPr sz="1650" b="0">
                <a:solidFill>
                  <a:srgbClr val="9BE3BD"/>
                </a:solidFill>
                <a:latin typeface="Avenir"/>
                <a:ea typeface="Avenir"/>
                <a:cs typeface="Avenir"/>
              </a:defRPr>
            </a:lvl7pPr>
            <a:lvl8pPr algn="ctr">
              <a:defRPr sz="1650" b="0">
                <a:solidFill>
                  <a:srgbClr val="9BE3BD"/>
                </a:solidFill>
                <a:latin typeface="Avenir"/>
                <a:ea typeface="Avenir"/>
                <a:cs typeface="Avenir"/>
              </a:defRPr>
            </a:lvl8pPr>
            <a:lvl9pPr algn="ctr">
              <a:defRPr sz="1650" b="0">
                <a:solidFill>
                  <a:srgbClr val="9BE3BD"/>
                </a:solidFill>
                <a:latin typeface="Avenir"/>
                <a:ea typeface="Avenir"/>
                <a:cs typeface="Avenir"/>
              </a:defRPr>
            </a:lvl9pPr>
          </a:lstStyle>
          <a:p xmlns:a="http://schemas.openxmlformats.org/drawingml/2006/main">
            <a:pPr algn="ctr">
              <a:lnSpc>
                <a:spcPct val="105000"/>
              </a:lnSpc>
              <a:buNone/>
              <a:defRPr sz="1650" b="0">
                <a:solidFill>
                  <a:srgbClr val="9BE3BD"/>
                </a:solidFill>
                <a:latin typeface="Avenir"/>
                <a:ea typeface="Avenir"/>
                <a:cs typeface="Avenir"/>
              </a:defRPr>
            </a:pPr>
            <a:r>
              <a:rPr sz="1650" b="0">
                <a:solidFill>
                  <a:srgbClr val="9BE3BD"/>
                </a:solidFill>
                <a:latin typeface="Avenir"/>
                <a:ea typeface="Avenir"/>
                <a:cs typeface="Avenir"/>
              </a:rPr>
              <a:t>332,833,500</a:t>
            </a:r>
          </a:p>
        </p:txBody>
      </p:sp>
      <p:sp>
        <p:nvSpPr>
          <p:cNvPr id="11" name="">
            <a:extLst xmlns:a="http://schemas.openxmlformats.org/drawingml/2006/main">
              <a:ext uri="{FF2B5EF4-FFF2-40B4-BE49-F238E27FC236}">
                <a16:creationId xmlns:a16="http://schemas.microsoft.com/office/drawing/2014/main" id="{8D10A91C-1DBB-4DD4-860C-51088D153E9C}"/>
              </a:ext>
            </a:extLst>
          </p:cNvPr>
          <p:cNvSpPr>
            <a:spLocks xmlns:a="http://schemas.openxmlformats.org/drawingml/2006/main" noGrp="1"/>
          </p:cNvSpPr>
          <p:nvPr/>
        </p:nvSpPr>
        <p:spPr>
          <a:xfrm xmlns:a="http://schemas.openxmlformats.org/drawingml/2006/main">
            <a:off x="704850" y="542925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B4C1D1"/>
                </a:solidFill>
                <a:latin typeface="Avenir"/>
                <a:ea typeface="Avenir"/>
                <a:cs typeface="Avenir"/>
              </a:defRPr>
            </a:defPPr>
            <a:lvl1pPr algn="l">
              <a:defRPr sz="1425" b="0">
                <a:solidFill>
                  <a:srgbClr val="B4C1D1"/>
                </a:solidFill>
                <a:latin typeface="Avenir"/>
                <a:ea typeface="Avenir"/>
                <a:cs typeface="Avenir"/>
              </a:defRPr>
            </a:lvl1pPr>
            <a:lvl2pPr algn="l">
              <a:defRPr sz="1425" b="0">
                <a:solidFill>
                  <a:srgbClr val="B4C1D1"/>
                </a:solidFill>
                <a:latin typeface="Avenir"/>
                <a:ea typeface="Avenir"/>
                <a:cs typeface="Avenir"/>
              </a:defRPr>
            </a:lvl2pPr>
            <a:lvl3pPr algn="l">
              <a:defRPr sz="1425" b="0">
                <a:solidFill>
                  <a:srgbClr val="B4C1D1"/>
                </a:solidFill>
                <a:latin typeface="Avenir"/>
                <a:ea typeface="Avenir"/>
                <a:cs typeface="Avenir"/>
              </a:defRPr>
            </a:lvl3pPr>
            <a:lvl4pPr algn="l">
              <a:defRPr sz="1425" b="0">
                <a:solidFill>
                  <a:srgbClr val="B4C1D1"/>
                </a:solidFill>
                <a:latin typeface="Avenir"/>
                <a:ea typeface="Avenir"/>
                <a:cs typeface="Avenir"/>
              </a:defRPr>
            </a:lvl4pPr>
            <a:lvl5pPr algn="l">
              <a:defRPr sz="1425" b="0">
                <a:solidFill>
                  <a:srgbClr val="B4C1D1"/>
                </a:solidFill>
                <a:latin typeface="Avenir"/>
                <a:ea typeface="Avenir"/>
                <a:cs typeface="Avenir"/>
              </a:defRPr>
            </a:lvl5pPr>
            <a:lvl6pPr algn="l">
              <a:defRPr sz="1425" b="0">
                <a:solidFill>
                  <a:srgbClr val="B4C1D1"/>
                </a:solidFill>
                <a:latin typeface="Avenir"/>
                <a:ea typeface="Avenir"/>
                <a:cs typeface="Avenir"/>
              </a:defRPr>
            </a:lvl6pPr>
            <a:lvl7pPr algn="l">
              <a:defRPr sz="1425" b="0">
                <a:solidFill>
                  <a:srgbClr val="B4C1D1"/>
                </a:solidFill>
                <a:latin typeface="Avenir"/>
                <a:ea typeface="Avenir"/>
                <a:cs typeface="Avenir"/>
              </a:defRPr>
            </a:lvl7pPr>
            <a:lvl8pPr algn="l">
              <a:defRPr sz="1425" b="0">
                <a:solidFill>
                  <a:srgbClr val="B4C1D1"/>
                </a:solidFill>
                <a:latin typeface="Avenir"/>
                <a:ea typeface="Avenir"/>
                <a:cs typeface="Avenir"/>
              </a:defRPr>
            </a:lvl8pPr>
            <a:lvl9pPr algn="l">
              <a:defRPr sz="1425" b="0">
                <a:solidFill>
                  <a:srgbClr val="B4C1D1"/>
                </a:solidFill>
                <a:latin typeface="Avenir"/>
                <a:ea typeface="Avenir"/>
                <a:cs typeface="Avenir"/>
              </a:defRPr>
            </a:lvl9pPr>
          </a:lstStyle>
          <a:p xmlns:a="http://schemas.openxmlformats.org/drawingml/2006/main">
            <a:pPr algn="l">
              <a:lnSpc>
                <a:spcPct val="105000"/>
              </a:lnSpc>
              <a:buNone/>
              <a:defRPr sz="1425" b="0">
                <a:solidFill>
                  <a:srgbClr val="B4C1D1"/>
                </a:solidFill>
                <a:latin typeface="Avenir"/>
                <a:ea typeface="Avenir"/>
                <a:cs typeface="Avenir"/>
              </a:defRPr>
            </a:pPr>
            <a:r>
              <a:rPr sz="1425" b="0">
                <a:solidFill>
                  <a:srgbClr val="B4C1D1"/>
                </a:solidFill>
                <a:latin typeface="Avenir"/>
                <a:ea typeface="Avenir"/>
                <a:cs typeface="Avenir"/>
              </a:rPr>
              <a:t>Each task gets an isolated VM frame. The pool size depends on the machine.</a:t>
            </a:r>
          </a:p>
        </p:txBody>
      </p:sp>
      <p:sp>
        <p:nvSpPr>
          <p:cNvPr id="12" name="">
            <a:extLst xmlns:a="http://schemas.openxmlformats.org/drawingml/2006/main">
              <a:ext uri="{FF2B5EF4-FFF2-40B4-BE49-F238E27FC236}">
                <a16:creationId xmlns:a16="http://schemas.microsoft.com/office/drawing/2014/main" id="{C7E4C58F-A8F8-48FE-8765-C15FB3EBCD24}"/>
              </a:ext>
            </a:extLst>
          </p:cNvPr>
          <p:cNvSpPr>
            <a:spLocks xmlns:a="http://schemas.openxmlformats.org/drawingml/2006/main" noGrp="1"/>
          </p:cNvSpPr>
          <p:nvPr/>
        </p:nvSpPr>
        <p:spPr>
          <a:xfrm xmlns:a="http://schemas.openxmlformats.org/drawingml/2006/main">
            <a:off x="704850" y="588645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B4C1D1"/>
                </a:solidFill>
                <a:latin typeface="Avenir"/>
                <a:ea typeface="Avenir"/>
                <a:cs typeface="Avenir"/>
              </a:defRPr>
            </a:defPPr>
            <a:lvl1pPr algn="l">
              <a:defRPr sz="1350" b="0">
                <a:solidFill>
                  <a:srgbClr val="B4C1D1"/>
                </a:solidFill>
                <a:latin typeface="Avenir"/>
                <a:ea typeface="Avenir"/>
                <a:cs typeface="Avenir"/>
              </a:defRPr>
            </a:lvl1pPr>
            <a:lvl2pPr algn="l">
              <a:defRPr sz="1350" b="0">
                <a:solidFill>
                  <a:srgbClr val="B4C1D1"/>
                </a:solidFill>
                <a:latin typeface="Avenir"/>
                <a:ea typeface="Avenir"/>
                <a:cs typeface="Avenir"/>
              </a:defRPr>
            </a:lvl2pPr>
            <a:lvl3pPr algn="l">
              <a:defRPr sz="1350" b="0">
                <a:solidFill>
                  <a:srgbClr val="B4C1D1"/>
                </a:solidFill>
                <a:latin typeface="Avenir"/>
                <a:ea typeface="Avenir"/>
                <a:cs typeface="Avenir"/>
              </a:defRPr>
            </a:lvl3pPr>
            <a:lvl4pPr algn="l">
              <a:defRPr sz="1350" b="0">
                <a:solidFill>
                  <a:srgbClr val="B4C1D1"/>
                </a:solidFill>
                <a:latin typeface="Avenir"/>
                <a:ea typeface="Avenir"/>
                <a:cs typeface="Avenir"/>
              </a:defRPr>
            </a:lvl4pPr>
            <a:lvl5pPr algn="l">
              <a:defRPr sz="1350" b="0">
                <a:solidFill>
                  <a:srgbClr val="B4C1D1"/>
                </a:solidFill>
                <a:latin typeface="Avenir"/>
                <a:ea typeface="Avenir"/>
                <a:cs typeface="Avenir"/>
              </a:defRPr>
            </a:lvl5pPr>
            <a:lvl6pPr algn="l">
              <a:defRPr sz="1350" b="0">
                <a:solidFill>
                  <a:srgbClr val="B4C1D1"/>
                </a:solidFill>
                <a:latin typeface="Avenir"/>
                <a:ea typeface="Avenir"/>
                <a:cs typeface="Avenir"/>
              </a:defRPr>
            </a:lvl6pPr>
            <a:lvl7pPr algn="l">
              <a:defRPr sz="1350" b="0">
                <a:solidFill>
                  <a:srgbClr val="B4C1D1"/>
                </a:solidFill>
                <a:latin typeface="Avenir"/>
                <a:ea typeface="Avenir"/>
                <a:cs typeface="Avenir"/>
              </a:defRPr>
            </a:lvl7pPr>
            <a:lvl8pPr algn="l">
              <a:defRPr sz="1350" b="0">
                <a:solidFill>
                  <a:srgbClr val="B4C1D1"/>
                </a:solidFill>
                <a:latin typeface="Avenir"/>
                <a:ea typeface="Avenir"/>
                <a:cs typeface="Avenir"/>
              </a:defRPr>
            </a:lvl8pPr>
            <a:lvl9pPr algn="l">
              <a:defRPr sz="1350" b="0">
                <a:solidFill>
                  <a:srgbClr val="B4C1D1"/>
                </a:solidFill>
                <a:latin typeface="Avenir"/>
                <a:ea typeface="Avenir"/>
                <a:cs typeface="Avenir"/>
              </a:defRPr>
            </a:lvl9pPr>
          </a:lstStyle>
          <a:p xmlns:a="http://schemas.openxmlformats.org/drawingml/2006/main">
            <a:pPr algn="l">
              <a:lnSpc>
                <a:spcPct val="105000"/>
              </a:lnSpc>
              <a:buNone/>
              <a:defRPr sz="1350" b="0">
                <a:solidFill>
                  <a:srgbClr val="B4C1D1"/>
                </a:solidFill>
                <a:latin typeface="Avenir"/>
                <a:ea typeface="Avenir"/>
                <a:cs typeface="Avenir"/>
              </a:defRPr>
            </a:pPr>
            <a:r>
              <a:rPr sz="1350" b="0">
                <a:solidFill>
                  <a:srgbClr val="B4C1D1"/>
                </a:solidFill>
                <a:latin typeface="Avenir"/>
                <a:ea typeface="Avenir"/>
                <a:cs typeface="Avenir"/>
              </a:rPr>
              <a:t>Side effects, worker calls, and nested parallel sums are rejected.</a:t>
            </a:r>
          </a:p>
        </p:txBody>
      </p:sp>
    </p:spTree>
    <p:extLst>
      <p:ext uri="{BB962C8B-B14F-4D97-AF65-F5344CB8AC3E}">
        <p14:creationId xmlns:p14="http://schemas.microsoft.com/office/powerpoint/2010/main" val="1278853883"/>
      </p:ext>
    </p:extLst>
  </p:cSld>
</p:sld>
</file>

<file path=ppt/slides/slide8.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889FAEE-3A96-4B2C-B77B-E187B4F7DF60}"/>
              </a:ext>
            </a:extLst>
          </p:cNvPr>
          <p:cNvSpPr>
            <a:spLocks xmlns:a="http://schemas.openxmlformats.org/drawingml/2006/main" noGrp="1"/>
          </p:cNvSpPr>
          <p:nvPr/>
        </p:nvSpPr>
        <p:spPr>
          <a:xfrm xmlns:a="http://schemas.openxmlformats.org/drawingml/2006/main">
            <a:off x="685800" y="4191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525" b="1">
                <a:solidFill>
                  <a:srgbClr val="F4F7FB"/>
                </a:solidFill>
                <a:latin typeface="Avenir"/>
                <a:ea typeface="Avenir"/>
                <a:cs typeface="Avenir"/>
              </a:defRPr>
            </a:defPPr>
            <a:lvl1pPr algn="l">
              <a:defRPr sz="3525" b="1">
                <a:solidFill>
                  <a:srgbClr val="F4F7FB"/>
                </a:solidFill>
                <a:latin typeface="Avenir"/>
                <a:ea typeface="Avenir"/>
                <a:cs typeface="Avenir"/>
              </a:defRPr>
            </a:lvl1pPr>
            <a:lvl2pPr algn="l">
              <a:defRPr sz="3525" b="1">
                <a:solidFill>
                  <a:srgbClr val="F4F7FB"/>
                </a:solidFill>
                <a:latin typeface="Avenir"/>
                <a:ea typeface="Avenir"/>
                <a:cs typeface="Avenir"/>
              </a:defRPr>
            </a:lvl2pPr>
            <a:lvl3pPr algn="l">
              <a:defRPr sz="3525" b="1">
                <a:solidFill>
                  <a:srgbClr val="F4F7FB"/>
                </a:solidFill>
                <a:latin typeface="Avenir"/>
                <a:ea typeface="Avenir"/>
                <a:cs typeface="Avenir"/>
              </a:defRPr>
            </a:lvl3pPr>
            <a:lvl4pPr algn="l">
              <a:defRPr sz="3525" b="1">
                <a:solidFill>
                  <a:srgbClr val="F4F7FB"/>
                </a:solidFill>
                <a:latin typeface="Avenir"/>
                <a:ea typeface="Avenir"/>
                <a:cs typeface="Avenir"/>
              </a:defRPr>
            </a:lvl4pPr>
            <a:lvl5pPr algn="l">
              <a:defRPr sz="3525" b="1">
                <a:solidFill>
                  <a:srgbClr val="F4F7FB"/>
                </a:solidFill>
                <a:latin typeface="Avenir"/>
                <a:ea typeface="Avenir"/>
                <a:cs typeface="Avenir"/>
              </a:defRPr>
            </a:lvl5pPr>
            <a:lvl6pPr algn="l">
              <a:defRPr sz="3525" b="1">
                <a:solidFill>
                  <a:srgbClr val="F4F7FB"/>
                </a:solidFill>
                <a:latin typeface="Avenir"/>
                <a:ea typeface="Avenir"/>
                <a:cs typeface="Avenir"/>
              </a:defRPr>
            </a:lvl6pPr>
            <a:lvl7pPr algn="l">
              <a:defRPr sz="3525" b="1">
                <a:solidFill>
                  <a:srgbClr val="F4F7FB"/>
                </a:solidFill>
                <a:latin typeface="Avenir"/>
                <a:ea typeface="Avenir"/>
                <a:cs typeface="Avenir"/>
              </a:defRPr>
            </a:lvl7pPr>
            <a:lvl8pPr algn="l">
              <a:defRPr sz="3525" b="1">
                <a:solidFill>
                  <a:srgbClr val="F4F7FB"/>
                </a:solidFill>
                <a:latin typeface="Avenir"/>
                <a:ea typeface="Avenir"/>
                <a:cs typeface="Avenir"/>
              </a:defRPr>
            </a:lvl8pPr>
            <a:lvl9pPr algn="l">
              <a:defRPr sz="3525" b="1">
                <a:solidFill>
                  <a:srgbClr val="F4F7FB"/>
                </a:solidFill>
                <a:latin typeface="Avenir"/>
                <a:ea typeface="Avenir"/>
                <a:cs typeface="Avenir"/>
              </a:defRPr>
            </a:lvl9pPr>
          </a:lstStyle>
          <a:p xmlns:a="http://schemas.openxmlformats.org/drawingml/2006/main">
            <a:pPr algn="l">
              <a:lnSpc>
                <a:spcPct val="105000"/>
              </a:lnSpc>
              <a:buNone/>
              <a:defRPr sz="3525" b="1">
                <a:solidFill>
                  <a:srgbClr val="F4F7FB"/>
                </a:solidFill>
                <a:latin typeface="Avenir"/>
                <a:ea typeface="Avenir"/>
                <a:cs typeface="Avenir"/>
              </a:defRPr>
            </a:pPr>
            <a:r>
              <a:rPr sz="3525" b="1">
                <a:solidFill>
                  <a:srgbClr val="F4F7FB"/>
                </a:solidFill>
                <a:latin typeface="Avenir"/>
                <a:ea typeface="Avenir"/>
                <a:cs typeface="Avenir"/>
              </a:rPr>
              <a:t>Evidence from the included examples</a:t>
            </a:r>
          </a:p>
        </p:txBody>
      </p:sp>
      <p:sp>
        <p:nvSpPr>
          <p:cNvPr id="2" name="">
            <a:extLst xmlns:a="http://schemas.openxmlformats.org/drawingml/2006/main">
              <a:ext uri="{FF2B5EF4-FFF2-40B4-BE49-F238E27FC236}">
                <a16:creationId xmlns:a16="http://schemas.microsoft.com/office/drawing/2014/main" id="{12AF6A3D-4C3F-4E8A-A411-9EF378A51BFC}"/>
              </a:ext>
            </a:extLst>
          </p:cNvPr>
          <p:cNvSpPr>
            <a:spLocks xmlns:a="http://schemas.openxmlformats.org/drawingml/2006/main" noGrp="1"/>
          </p:cNvSpPr>
          <p:nvPr/>
        </p:nvSpPr>
        <p:spPr>
          <a:xfrm xmlns:a="http://schemas.openxmlformats.org/drawingml/2006/main">
            <a:off x="685800" y="1162050"/>
            <a:ext cx="819150" cy="38100"/>
          </a:xfrm>
          <a:prstGeom xmlns:a="http://schemas.openxmlformats.org/drawingml/2006/main" prst="rect">
            <a:avLst/>
          </a:prstGeom>
          <a:solidFill xmlns:a="http://schemas.openxmlformats.org/drawingml/2006/main">
            <a:srgbClr val="5AD6E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0C6D4A1-82C5-4216-8EA9-0584E2A45407}"/>
              </a:ext>
            </a:extLst>
          </p:cNvPr>
          <p:cNvSpPr>
            <a:spLocks xmlns:a="http://schemas.openxmlformats.org/drawingml/2006/main" noGrp="1"/>
          </p:cNvSpPr>
          <p:nvPr/>
        </p:nvSpPr>
        <p:spPr>
          <a:xfrm xmlns:a="http://schemas.openxmlformats.org/drawingml/2006/main">
            <a:off x="685800" y="13906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B4C1D1"/>
                </a:solidFill>
                <a:latin typeface="Avenir"/>
                <a:ea typeface="Avenir"/>
                <a:cs typeface="Avenir"/>
              </a:defRPr>
            </a:defPPr>
            <a:lvl1pPr algn="l">
              <a:defRPr sz="1725" b="0">
                <a:solidFill>
                  <a:srgbClr val="B4C1D1"/>
                </a:solidFill>
                <a:latin typeface="Avenir"/>
                <a:ea typeface="Avenir"/>
                <a:cs typeface="Avenir"/>
              </a:defRPr>
            </a:lvl1pPr>
            <a:lvl2pPr algn="l">
              <a:defRPr sz="1725" b="0">
                <a:solidFill>
                  <a:srgbClr val="B4C1D1"/>
                </a:solidFill>
                <a:latin typeface="Avenir"/>
                <a:ea typeface="Avenir"/>
                <a:cs typeface="Avenir"/>
              </a:defRPr>
            </a:lvl2pPr>
            <a:lvl3pPr algn="l">
              <a:defRPr sz="1725" b="0">
                <a:solidFill>
                  <a:srgbClr val="B4C1D1"/>
                </a:solidFill>
                <a:latin typeface="Avenir"/>
                <a:ea typeface="Avenir"/>
                <a:cs typeface="Avenir"/>
              </a:defRPr>
            </a:lvl3pPr>
            <a:lvl4pPr algn="l">
              <a:defRPr sz="1725" b="0">
                <a:solidFill>
                  <a:srgbClr val="B4C1D1"/>
                </a:solidFill>
                <a:latin typeface="Avenir"/>
                <a:ea typeface="Avenir"/>
                <a:cs typeface="Avenir"/>
              </a:defRPr>
            </a:lvl4pPr>
            <a:lvl5pPr algn="l">
              <a:defRPr sz="1725" b="0">
                <a:solidFill>
                  <a:srgbClr val="B4C1D1"/>
                </a:solidFill>
                <a:latin typeface="Avenir"/>
                <a:ea typeface="Avenir"/>
                <a:cs typeface="Avenir"/>
              </a:defRPr>
            </a:lvl5pPr>
            <a:lvl6pPr algn="l">
              <a:defRPr sz="1725" b="0">
                <a:solidFill>
                  <a:srgbClr val="B4C1D1"/>
                </a:solidFill>
                <a:latin typeface="Avenir"/>
                <a:ea typeface="Avenir"/>
                <a:cs typeface="Avenir"/>
              </a:defRPr>
            </a:lvl6pPr>
            <a:lvl7pPr algn="l">
              <a:defRPr sz="1725" b="0">
                <a:solidFill>
                  <a:srgbClr val="B4C1D1"/>
                </a:solidFill>
                <a:latin typeface="Avenir"/>
                <a:ea typeface="Avenir"/>
                <a:cs typeface="Avenir"/>
              </a:defRPr>
            </a:lvl7pPr>
            <a:lvl8pPr algn="l">
              <a:defRPr sz="1725" b="0">
                <a:solidFill>
                  <a:srgbClr val="B4C1D1"/>
                </a:solidFill>
                <a:latin typeface="Avenir"/>
                <a:ea typeface="Avenir"/>
                <a:cs typeface="Avenir"/>
              </a:defRPr>
            </a:lvl8pPr>
            <a:lvl9pPr algn="l">
              <a:defRPr sz="1725" b="0">
                <a:solidFill>
                  <a:srgbClr val="B4C1D1"/>
                </a:solidFill>
                <a:latin typeface="Avenir"/>
                <a:ea typeface="Avenir"/>
                <a:cs typeface="Avenir"/>
              </a:defRPr>
            </a:lvl9pPr>
          </a:lstStyle>
          <a:p xmlns:a="http://schemas.openxmlformats.org/drawingml/2006/main">
            <a:pPr algn="l">
              <a:lnSpc>
                <a:spcPct val="105000"/>
              </a:lnSpc>
              <a:buNone/>
              <a:defRPr sz="1725" b="0">
                <a:solidFill>
                  <a:srgbClr val="B4C1D1"/>
                </a:solidFill>
                <a:latin typeface="Avenir"/>
                <a:ea typeface="Avenir"/>
                <a:cs typeface="Avenir"/>
              </a:defRPr>
            </a:pPr>
            <a:r>
              <a:rPr sz="1725" b="0">
                <a:solidFill>
                  <a:srgbClr val="B4C1D1"/>
                </a:solidFill>
                <a:latin typeface="Avenir"/>
                <a:ea typeface="Avenir"/>
                <a:cs typeface="Avenir"/>
              </a:rPr>
              <a:t>Instruction counts show work performed; wall time measures the whole run.</a:t>
            </a:r>
          </a:p>
        </p:txBody>
      </p:sp>
      <p:sp>
        <p:nvSpPr>
          <p:cNvPr id="4" name="">
            <a:extLst xmlns:a="http://schemas.openxmlformats.org/drawingml/2006/main">
              <a:ext uri="{FF2B5EF4-FFF2-40B4-BE49-F238E27FC236}">
                <a16:creationId xmlns:a16="http://schemas.microsoft.com/office/drawing/2014/main" id="{45275538-5DCF-470B-8817-7413572F12DC}"/>
              </a:ext>
            </a:extLst>
          </p:cNvPr>
          <p:cNvSpPr>
            <a:spLocks xmlns:a="http://schemas.openxmlformats.org/drawingml/2006/main" noGrp="1"/>
          </p:cNvSpPr>
          <p:nvPr/>
        </p:nvSpPr>
        <p:spPr>
          <a:xfrm xmlns:a="http://schemas.openxmlformats.org/drawingml/2006/main">
            <a:off x="762000" y="23622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5AD6E6"/>
                </a:solidFill>
                <a:latin typeface="Avenir"/>
                <a:ea typeface="Avenir"/>
                <a:cs typeface="Avenir"/>
              </a:defRPr>
            </a:defPPr>
            <a:lvl1pPr algn="l">
              <a:defRPr sz="1575" b="1">
                <a:solidFill>
                  <a:srgbClr val="5AD6E6"/>
                </a:solidFill>
                <a:latin typeface="Avenir"/>
                <a:ea typeface="Avenir"/>
                <a:cs typeface="Avenir"/>
              </a:defRPr>
            </a:lvl1pPr>
            <a:lvl2pPr algn="l">
              <a:defRPr sz="1575" b="1">
                <a:solidFill>
                  <a:srgbClr val="5AD6E6"/>
                </a:solidFill>
                <a:latin typeface="Avenir"/>
                <a:ea typeface="Avenir"/>
                <a:cs typeface="Avenir"/>
              </a:defRPr>
            </a:lvl2pPr>
            <a:lvl3pPr algn="l">
              <a:defRPr sz="1575" b="1">
                <a:solidFill>
                  <a:srgbClr val="5AD6E6"/>
                </a:solidFill>
                <a:latin typeface="Avenir"/>
                <a:ea typeface="Avenir"/>
                <a:cs typeface="Avenir"/>
              </a:defRPr>
            </a:lvl3pPr>
            <a:lvl4pPr algn="l">
              <a:defRPr sz="1575" b="1">
                <a:solidFill>
                  <a:srgbClr val="5AD6E6"/>
                </a:solidFill>
                <a:latin typeface="Avenir"/>
                <a:ea typeface="Avenir"/>
                <a:cs typeface="Avenir"/>
              </a:defRPr>
            </a:lvl4pPr>
            <a:lvl5pPr algn="l">
              <a:defRPr sz="1575" b="1">
                <a:solidFill>
                  <a:srgbClr val="5AD6E6"/>
                </a:solidFill>
                <a:latin typeface="Avenir"/>
                <a:ea typeface="Avenir"/>
                <a:cs typeface="Avenir"/>
              </a:defRPr>
            </a:lvl5pPr>
            <a:lvl6pPr algn="l">
              <a:defRPr sz="1575" b="1">
                <a:solidFill>
                  <a:srgbClr val="5AD6E6"/>
                </a:solidFill>
                <a:latin typeface="Avenir"/>
                <a:ea typeface="Avenir"/>
                <a:cs typeface="Avenir"/>
              </a:defRPr>
            </a:lvl6pPr>
            <a:lvl7pPr algn="l">
              <a:defRPr sz="1575" b="1">
                <a:solidFill>
                  <a:srgbClr val="5AD6E6"/>
                </a:solidFill>
                <a:latin typeface="Avenir"/>
                <a:ea typeface="Avenir"/>
                <a:cs typeface="Avenir"/>
              </a:defRPr>
            </a:lvl7pPr>
            <a:lvl8pPr algn="l">
              <a:defRPr sz="1575" b="1">
                <a:solidFill>
                  <a:srgbClr val="5AD6E6"/>
                </a:solidFill>
                <a:latin typeface="Avenir"/>
                <a:ea typeface="Avenir"/>
                <a:cs typeface="Avenir"/>
              </a:defRPr>
            </a:lvl8pPr>
            <a:lvl9pPr algn="l">
              <a:defRPr sz="1575" b="1">
                <a:solidFill>
                  <a:srgbClr val="5AD6E6"/>
                </a:solidFill>
                <a:latin typeface="Avenir"/>
                <a:ea typeface="Avenir"/>
                <a:cs typeface="Avenir"/>
              </a:defRPr>
            </a:lvl9pPr>
          </a:lstStyle>
          <a:p xmlns:a="http://schemas.openxmlformats.org/drawingml/2006/main">
            <a:pPr algn="l">
              <a:lnSpc>
                <a:spcPct val="105000"/>
              </a:lnSpc>
              <a:buNone/>
              <a:defRPr sz="1575" b="1">
                <a:solidFill>
                  <a:srgbClr val="5AD6E6"/>
                </a:solidFill>
                <a:latin typeface="Avenir"/>
                <a:ea typeface="Avenir"/>
                <a:cs typeface="Avenir"/>
              </a:defRPr>
            </a:pPr>
            <a:r>
              <a:rPr sz="1575" b="1">
                <a:solidFill>
                  <a:srgbClr val="5AD6E6"/>
                </a:solidFill>
                <a:latin typeface="Avenir"/>
                <a:ea typeface="Avenir"/>
                <a:cs typeface="Avenir"/>
              </a:rPr>
              <a:t>Optimization demo</a:t>
            </a:r>
          </a:p>
        </p:txBody>
      </p:sp>
      <p:sp>
        <p:nvSpPr>
          <p:cNvPr id="5" name="">
            <a:extLst xmlns:a="http://schemas.openxmlformats.org/drawingml/2006/main">
              <a:ext uri="{FF2B5EF4-FFF2-40B4-BE49-F238E27FC236}">
                <a16:creationId xmlns:a16="http://schemas.microsoft.com/office/drawing/2014/main" id="{BC974427-2002-4345-A7CF-005890103E44}"/>
              </a:ext>
            </a:extLst>
          </p:cNvPr>
          <p:cNvSpPr>
            <a:spLocks xmlns:a="http://schemas.openxmlformats.org/drawingml/2006/main" noGrp="1"/>
          </p:cNvSpPr>
          <p:nvPr/>
        </p:nvSpPr>
        <p:spPr>
          <a:xfrm xmlns:a="http://schemas.openxmlformats.org/drawingml/2006/main">
            <a:off x="762000" y="3028950"/>
            <a:ext cx="342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75" b="1">
                <a:solidFill>
                  <a:srgbClr val="F4F7FB"/>
                </a:solidFill>
                <a:latin typeface="Avenir"/>
                <a:ea typeface="Avenir"/>
                <a:cs typeface="Avenir"/>
              </a:defRPr>
            </a:defPPr>
            <a:lvl1pPr algn="l">
              <a:defRPr sz="3375" b="1">
                <a:solidFill>
                  <a:srgbClr val="F4F7FB"/>
                </a:solidFill>
                <a:latin typeface="Avenir"/>
                <a:ea typeface="Avenir"/>
                <a:cs typeface="Avenir"/>
              </a:defRPr>
            </a:lvl1pPr>
            <a:lvl2pPr algn="l">
              <a:defRPr sz="3375" b="1">
                <a:solidFill>
                  <a:srgbClr val="F4F7FB"/>
                </a:solidFill>
                <a:latin typeface="Avenir"/>
                <a:ea typeface="Avenir"/>
                <a:cs typeface="Avenir"/>
              </a:defRPr>
            </a:lvl2pPr>
            <a:lvl3pPr algn="l">
              <a:defRPr sz="3375" b="1">
                <a:solidFill>
                  <a:srgbClr val="F4F7FB"/>
                </a:solidFill>
                <a:latin typeface="Avenir"/>
                <a:ea typeface="Avenir"/>
                <a:cs typeface="Avenir"/>
              </a:defRPr>
            </a:lvl3pPr>
            <a:lvl4pPr algn="l">
              <a:defRPr sz="3375" b="1">
                <a:solidFill>
                  <a:srgbClr val="F4F7FB"/>
                </a:solidFill>
                <a:latin typeface="Avenir"/>
                <a:ea typeface="Avenir"/>
                <a:cs typeface="Avenir"/>
              </a:defRPr>
            </a:lvl4pPr>
            <a:lvl5pPr algn="l">
              <a:defRPr sz="3375" b="1">
                <a:solidFill>
                  <a:srgbClr val="F4F7FB"/>
                </a:solidFill>
                <a:latin typeface="Avenir"/>
                <a:ea typeface="Avenir"/>
                <a:cs typeface="Avenir"/>
              </a:defRPr>
            </a:lvl5pPr>
            <a:lvl6pPr algn="l">
              <a:defRPr sz="3375" b="1">
                <a:solidFill>
                  <a:srgbClr val="F4F7FB"/>
                </a:solidFill>
                <a:latin typeface="Avenir"/>
                <a:ea typeface="Avenir"/>
                <a:cs typeface="Avenir"/>
              </a:defRPr>
            </a:lvl6pPr>
            <a:lvl7pPr algn="l">
              <a:defRPr sz="3375" b="1">
                <a:solidFill>
                  <a:srgbClr val="F4F7FB"/>
                </a:solidFill>
                <a:latin typeface="Avenir"/>
                <a:ea typeface="Avenir"/>
                <a:cs typeface="Avenir"/>
              </a:defRPr>
            </a:lvl7pPr>
            <a:lvl8pPr algn="l">
              <a:defRPr sz="3375" b="1">
                <a:solidFill>
                  <a:srgbClr val="F4F7FB"/>
                </a:solidFill>
                <a:latin typeface="Avenir"/>
                <a:ea typeface="Avenir"/>
                <a:cs typeface="Avenir"/>
              </a:defRPr>
            </a:lvl8pPr>
            <a:lvl9pPr algn="l">
              <a:defRPr sz="3375" b="1">
                <a:solidFill>
                  <a:srgbClr val="F4F7FB"/>
                </a:solidFill>
                <a:latin typeface="Avenir"/>
                <a:ea typeface="Avenir"/>
                <a:cs typeface="Avenir"/>
              </a:defRPr>
            </a:lvl9pPr>
          </a:lstStyle>
          <a:p xmlns:a="http://schemas.openxmlformats.org/drawingml/2006/main">
            <a:pPr algn="l">
              <a:lnSpc>
                <a:spcPct val="105000"/>
              </a:lnSpc>
              <a:buNone/>
              <a:defRPr sz="3375" b="1">
                <a:solidFill>
                  <a:srgbClr val="F4F7FB"/>
                </a:solidFill>
                <a:latin typeface="Avenir"/>
                <a:ea typeface="Avenir"/>
                <a:cs typeface="Avenir"/>
              </a:defRPr>
            </a:pPr>
            <a:r>
              <a:rPr sz="3375" b="1">
                <a:solidFill>
                  <a:srgbClr val="F4F7FB"/>
                </a:solidFill>
                <a:latin typeface="Avenir"/>
                <a:ea typeface="Avenir"/>
                <a:cs typeface="Avenir"/>
              </a:rPr>
              <a:t>27 → 7</a:t>
            </a:r>
          </a:p>
        </p:txBody>
      </p:sp>
      <p:sp>
        <p:nvSpPr>
          <p:cNvPr id="6" name="">
            <a:extLst xmlns:a="http://schemas.openxmlformats.org/drawingml/2006/main">
              <a:ext uri="{FF2B5EF4-FFF2-40B4-BE49-F238E27FC236}">
                <a16:creationId xmlns:a16="http://schemas.microsoft.com/office/drawing/2014/main" id="{DDEBEEA1-E36B-4489-8F18-234DC8C7F9AE}"/>
              </a:ext>
            </a:extLst>
          </p:cNvPr>
          <p:cNvSpPr>
            <a:spLocks xmlns:a="http://schemas.openxmlformats.org/drawingml/2006/main" noGrp="1"/>
          </p:cNvSpPr>
          <p:nvPr/>
        </p:nvSpPr>
        <p:spPr>
          <a:xfrm xmlns:a="http://schemas.openxmlformats.org/drawingml/2006/main">
            <a:off x="762000" y="3943350"/>
            <a:ext cx="3143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B4C1D1"/>
                </a:solidFill>
                <a:latin typeface="Avenir"/>
                <a:ea typeface="Avenir"/>
                <a:cs typeface="Avenir"/>
              </a:defRPr>
            </a:defPPr>
            <a:lvl1pPr algn="l">
              <a:defRPr sz="1500" b="0">
                <a:solidFill>
                  <a:srgbClr val="B4C1D1"/>
                </a:solidFill>
                <a:latin typeface="Avenir"/>
                <a:ea typeface="Avenir"/>
                <a:cs typeface="Avenir"/>
              </a:defRPr>
            </a:lvl1pPr>
            <a:lvl2pPr algn="l">
              <a:defRPr sz="1500" b="0">
                <a:solidFill>
                  <a:srgbClr val="B4C1D1"/>
                </a:solidFill>
                <a:latin typeface="Avenir"/>
                <a:ea typeface="Avenir"/>
                <a:cs typeface="Avenir"/>
              </a:defRPr>
            </a:lvl2pPr>
            <a:lvl3pPr algn="l">
              <a:defRPr sz="1500" b="0">
                <a:solidFill>
                  <a:srgbClr val="B4C1D1"/>
                </a:solidFill>
                <a:latin typeface="Avenir"/>
                <a:ea typeface="Avenir"/>
                <a:cs typeface="Avenir"/>
              </a:defRPr>
            </a:lvl3pPr>
            <a:lvl4pPr algn="l">
              <a:defRPr sz="1500" b="0">
                <a:solidFill>
                  <a:srgbClr val="B4C1D1"/>
                </a:solidFill>
                <a:latin typeface="Avenir"/>
                <a:ea typeface="Avenir"/>
                <a:cs typeface="Avenir"/>
              </a:defRPr>
            </a:lvl4pPr>
            <a:lvl5pPr algn="l">
              <a:defRPr sz="1500" b="0">
                <a:solidFill>
                  <a:srgbClr val="B4C1D1"/>
                </a:solidFill>
                <a:latin typeface="Avenir"/>
                <a:ea typeface="Avenir"/>
                <a:cs typeface="Avenir"/>
              </a:defRPr>
            </a:lvl5pPr>
            <a:lvl6pPr algn="l">
              <a:defRPr sz="1500" b="0">
                <a:solidFill>
                  <a:srgbClr val="B4C1D1"/>
                </a:solidFill>
                <a:latin typeface="Avenir"/>
                <a:ea typeface="Avenir"/>
                <a:cs typeface="Avenir"/>
              </a:defRPr>
            </a:lvl6pPr>
            <a:lvl7pPr algn="l">
              <a:defRPr sz="1500" b="0">
                <a:solidFill>
                  <a:srgbClr val="B4C1D1"/>
                </a:solidFill>
                <a:latin typeface="Avenir"/>
                <a:ea typeface="Avenir"/>
                <a:cs typeface="Avenir"/>
              </a:defRPr>
            </a:lvl7pPr>
            <a:lvl8pPr algn="l">
              <a:defRPr sz="1500" b="0">
                <a:solidFill>
                  <a:srgbClr val="B4C1D1"/>
                </a:solidFill>
                <a:latin typeface="Avenir"/>
                <a:ea typeface="Avenir"/>
                <a:cs typeface="Avenir"/>
              </a:defRPr>
            </a:lvl8pPr>
            <a:lvl9pPr algn="l">
              <a:defRPr sz="1500" b="0">
                <a:solidFill>
                  <a:srgbClr val="B4C1D1"/>
                </a:solidFill>
                <a:latin typeface="Avenir"/>
                <a:ea typeface="Avenir"/>
                <a:cs typeface="Avenir"/>
              </a:defRPr>
            </a:lvl9pPr>
          </a:lstStyle>
          <a:p xmlns:a="http://schemas.openxmlformats.org/drawingml/2006/main">
            <a:pPr algn="l">
              <a:lnSpc>
                <a:spcPct val="114000"/>
              </a:lnSpc>
              <a:buNone/>
              <a:defRPr sz="1500" b="0">
                <a:solidFill>
                  <a:srgbClr val="B4C1D1"/>
                </a:solidFill>
                <a:latin typeface="Avenir"/>
                <a:ea typeface="Avenir"/>
                <a:cs typeface="Avenir"/>
              </a:defRPr>
            </a:pPr>
            <a:r>
              <a:rPr sz="1500" b="0">
                <a:solidFill>
                  <a:srgbClr val="B4C1D1"/>
                </a:solidFill>
                <a:latin typeface="Avenir"/>
                <a:ea typeface="Avenir"/>
                <a:cs typeface="Avenir"/>
              </a:rPr>
              <a:t>Executed VM instructions</a:t>
            </a:r>
          </a:p>
          <a:p xmlns:a="http://schemas.openxmlformats.org/drawingml/2006/main">
            <a:pPr algn="l">
              <a:lnSpc>
                <a:spcPct val="114000"/>
              </a:lnSpc>
              <a:buNone/>
              <a:defRPr sz="1500" b="0">
                <a:solidFill>
                  <a:srgbClr val="B4C1D1"/>
                </a:solidFill>
                <a:latin typeface="Avenir"/>
                <a:ea typeface="Avenir"/>
                <a:cs typeface="Avenir"/>
              </a:defRPr>
            </a:pPr>
            <a:r>
              <a:rPr sz="1500" b="0">
                <a:solidFill>
                  <a:srgbClr val="B4C1D1"/>
                </a:solidFill>
                <a:latin typeface="Avenir"/>
                <a:ea typeface="Avenir"/>
                <a:cs typeface="Avenir"/>
              </a:rPr>
              <a:t>Output remains 42</a:t>
            </a:r>
          </a:p>
        </p:txBody>
      </p:sp>
      <p:sp>
        <p:nvSpPr>
          <p:cNvPr id="7" name="">
            <a:extLst xmlns:a="http://schemas.openxmlformats.org/drawingml/2006/main">
              <a:ext uri="{FF2B5EF4-FFF2-40B4-BE49-F238E27FC236}">
                <a16:creationId xmlns:a16="http://schemas.microsoft.com/office/drawing/2014/main" id="{D14DEAAE-DD75-4B7C-AAE9-C219697C56CD}"/>
              </a:ext>
            </a:extLst>
          </p:cNvPr>
          <p:cNvSpPr>
            <a:spLocks xmlns:a="http://schemas.openxmlformats.org/drawingml/2006/main" noGrp="1"/>
          </p:cNvSpPr>
          <p:nvPr/>
        </p:nvSpPr>
        <p:spPr>
          <a:xfrm xmlns:a="http://schemas.openxmlformats.org/drawingml/2006/main">
            <a:off x="4210050" y="2324100"/>
            <a:ext cx="14288" cy="2343150"/>
          </a:xfrm>
          <a:prstGeom xmlns:a="http://schemas.openxmlformats.org/drawingml/2006/main" prst="rect">
            <a:avLst/>
          </a:prstGeom>
          <a:solidFill xmlns:a="http://schemas.openxmlformats.org/drawingml/2006/main">
            <a:srgbClr val="47607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E3FCD7D-94B7-4840-9283-08F75C833E02}"/>
              </a:ext>
            </a:extLst>
          </p:cNvPr>
          <p:cNvSpPr>
            <a:spLocks xmlns:a="http://schemas.openxmlformats.org/drawingml/2006/main" noGrp="1"/>
          </p:cNvSpPr>
          <p:nvPr/>
        </p:nvSpPr>
        <p:spPr>
          <a:xfrm xmlns:a="http://schemas.openxmlformats.org/drawingml/2006/main">
            <a:off x="4552950" y="23622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9BE3BD"/>
                </a:solidFill>
                <a:latin typeface="Avenir"/>
                <a:ea typeface="Avenir"/>
                <a:cs typeface="Avenir"/>
              </a:defRPr>
            </a:defPPr>
            <a:lvl1pPr algn="l">
              <a:defRPr sz="1575" b="1">
                <a:solidFill>
                  <a:srgbClr val="9BE3BD"/>
                </a:solidFill>
                <a:latin typeface="Avenir"/>
                <a:ea typeface="Avenir"/>
                <a:cs typeface="Avenir"/>
              </a:defRPr>
            </a:lvl1pPr>
            <a:lvl2pPr algn="l">
              <a:defRPr sz="1575" b="1">
                <a:solidFill>
                  <a:srgbClr val="9BE3BD"/>
                </a:solidFill>
                <a:latin typeface="Avenir"/>
                <a:ea typeface="Avenir"/>
                <a:cs typeface="Avenir"/>
              </a:defRPr>
            </a:lvl2pPr>
            <a:lvl3pPr algn="l">
              <a:defRPr sz="1575" b="1">
                <a:solidFill>
                  <a:srgbClr val="9BE3BD"/>
                </a:solidFill>
                <a:latin typeface="Avenir"/>
                <a:ea typeface="Avenir"/>
                <a:cs typeface="Avenir"/>
              </a:defRPr>
            </a:lvl3pPr>
            <a:lvl4pPr algn="l">
              <a:defRPr sz="1575" b="1">
                <a:solidFill>
                  <a:srgbClr val="9BE3BD"/>
                </a:solidFill>
                <a:latin typeface="Avenir"/>
                <a:ea typeface="Avenir"/>
                <a:cs typeface="Avenir"/>
              </a:defRPr>
            </a:lvl4pPr>
            <a:lvl5pPr algn="l">
              <a:defRPr sz="1575" b="1">
                <a:solidFill>
                  <a:srgbClr val="9BE3BD"/>
                </a:solidFill>
                <a:latin typeface="Avenir"/>
                <a:ea typeface="Avenir"/>
                <a:cs typeface="Avenir"/>
              </a:defRPr>
            </a:lvl5pPr>
            <a:lvl6pPr algn="l">
              <a:defRPr sz="1575" b="1">
                <a:solidFill>
                  <a:srgbClr val="9BE3BD"/>
                </a:solidFill>
                <a:latin typeface="Avenir"/>
                <a:ea typeface="Avenir"/>
                <a:cs typeface="Avenir"/>
              </a:defRPr>
            </a:lvl6pPr>
            <a:lvl7pPr algn="l">
              <a:defRPr sz="1575" b="1">
                <a:solidFill>
                  <a:srgbClr val="9BE3BD"/>
                </a:solidFill>
                <a:latin typeface="Avenir"/>
                <a:ea typeface="Avenir"/>
                <a:cs typeface="Avenir"/>
              </a:defRPr>
            </a:lvl7pPr>
            <a:lvl8pPr algn="l">
              <a:defRPr sz="1575" b="1">
                <a:solidFill>
                  <a:srgbClr val="9BE3BD"/>
                </a:solidFill>
                <a:latin typeface="Avenir"/>
                <a:ea typeface="Avenir"/>
                <a:cs typeface="Avenir"/>
              </a:defRPr>
            </a:lvl8pPr>
            <a:lvl9pPr algn="l">
              <a:defRPr sz="1575" b="1">
                <a:solidFill>
                  <a:srgbClr val="9BE3BD"/>
                </a:solidFill>
                <a:latin typeface="Avenir"/>
                <a:ea typeface="Avenir"/>
                <a:cs typeface="Avenir"/>
              </a:defRPr>
            </a:lvl9pPr>
          </a:lstStyle>
          <a:p xmlns:a="http://schemas.openxmlformats.org/drawingml/2006/main">
            <a:pPr algn="l">
              <a:lnSpc>
                <a:spcPct val="105000"/>
              </a:lnSpc>
              <a:buNone/>
              <a:defRPr sz="1575" b="1">
                <a:solidFill>
                  <a:srgbClr val="9BE3BD"/>
                </a:solidFill>
                <a:latin typeface="Avenir"/>
                <a:ea typeface="Avenir"/>
                <a:cs typeface="Avenir"/>
              </a:defRPr>
            </a:pPr>
            <a:r>
              <a:rPr sz="1575" b="1">
                <a:solidFill>
                  <a:srgbClr val="9BE3BD"/>
                </a:solidFill>
                <a:latin typeface="Avenir"/>
                <a:ea typeface="Avenir"/>
                <a:cs typeface="Avenir"/>
              </a:rPr>
              <a:t>Loop demo</a:t>
            </a:r>
          </a:p>
        </p:txBody>
      </p:sp>
      <p:sp>
        <p:nvSpPr>
          <p:cNvPr id="9" name="">
            <a:extLst xmlns:a="http://schemas.openxmlformats.org/drawingml/2006/main">
              <a:ext uri="{FF2B5EF4-FFF2-40B4-BE49-F238E27FC236}">
                <a16:creationId xmlns:a16="http://schemas.microsoft.com/office/drawing/2014/main" id="{07B67F02-F6E8-4927-B0E1-D0A63D3BA96B}"/>
              </a:ext>
            </a:extLst>
          </p:cNvPr>
          <p:cNvSpPr>
            <a:spLocks xmlns:a="http://schemas.openxmlformats.org/drawingml/2006/main" noGrp="1"/>
          </p:cNvSpPr>
          <p:nvPr/>
        </p:nvSpPr>
        <p:spPr>
          <a:xfrm xmlns:a="http://schemas.openxmlformats.org/drawingml/2006/main">
            <a:off x="4552950" y="3028950"/>
            <a:ext cx="342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75" b="1">
                <a:solidFill>
                  <a:srgbClr val="F4F7FB"/>
                </a:solidFill>
                <a:latin typeface="Avenir"/>
                <a:ea typeface="Avenir"/>
                <a:cs typeface="Avenir"/>
              </a:defRPr>
            </a:defPPr>
            <a:lvl1pPr algn="l">
              <a:defRPr sz="3375" b="1">
                <a:solidFill>
                  <a:srgbClr val="F4F7FB"/>
                </a:solidFill>
                <a:latin typeface="Avenir"/>
                <a:ea typeface="Avenir"/>
                <a:cs typeface="Avenir"/>
              </a:defRPr>
            </a:lvl1pPr>
            <a:lvl2pPr algn="l">
              <a:defRPr sz="3375" b="1">
                <a:solidFill>
                  <a:srgbClr val="F4F7FB"/>
                </a:solidFill>
                <a:latin typeface="Avenir"/>
                <a:ea typeface="Avenir"/>
                <a:cs typeface="Avenir"/>
              </a:defRPr>
            </a:lvl2pPr>
            <a:lvl3pPr algn="l">
              <a:defRPr sz="3375" b="1">
                <a:solidFill>
                  <a:srgbClr val="F4F7FB"/>
                </a:solidFill>
                <a:latin typeface="Avenir"/>
                <a:ea typeface="Avenir"/>
                <a:cs typeface="Avenir"/>
              </a:defRPr>
            </a:lvl3pPr>
            <a:lvl4pPr algn="l">
              <a:defRPr sz="3375" b="1">
                <a:solidFill>
                  <a:srgbClr val="F4F7FB"/>
                </a:solidFill>
                <a:latin typeface="Avenir"/>
                <a:ea typeface="Avenir"/>
                <a:cs typeface="Avenir"/>
              </a:defRPr>
            </a:lvl4pPr>
            <a:lvl5pPr algn="l">
              <a:defRPr sz="3375" b="1">
                <a:solidFill>
                  <a:srgbClr val="F4F7FB"/>
                </a:solidFill>
                <a:latin typeface="Avenir"/>
                <a:ea typeface="Avenir"/>
                <a:cs typeface="Avenir"/>
              </a:defRPr>
            </a:lvl5pPr>
            <a:lvl6pPr algn="l">
              <a:defRPr sz="3375" b="1">
                <a:solidFill>
                  <a:srgbClr val="F4F7FB"/>
                </a:solidFill>
                <a:latin typeface="Avenir"/>
                <a:ea typeface="Avenir"/>
                <a:cs typeface="Avenir"/>
              </a:defRPr>
            </a:lvl6pPr>
            <a:lvl7pPr algn="l">
              <a:defRPr sz="3375" b="1">
                <a:solidFill>
                  <a:srgbClr val="F4F7FB"/>
                </a:solidFill>
                <a:latin typeface="Avenir"/>
                <a:ea typeface="Avenir"/>
                <a:cs typeface="Avenir"/>
              </a:defRPr>
            </a:lvl7pPr>
            <a:lvl8pPr algn="l">
              <a:defRPr sz="3375" b="1">
                <a:solidFill>
                  <a:srgbClr val="F4F7FB"/>
                </a:solidFill>
                <a:latin typeface="Avenir"/>
                <a:ea typeface="Avenir"/>
                <a:cs typeface="Avenir"/>
              </a:defRPr>
            </a:lvl8pPr>
            <a:lvl9pPr algn="l">
              <a:defRPr sz="3375" b="1">
                <a:solidFill>
                  <a:srgbClr val="F4F7FB"/>
                </a:solidFill>
                <a:latin typeface="Avenir"/>
                <a:ea typeface="Avenir"/>
                <a:cs typeface="Avenir"/>
              </a:defRPr>
            </a:lvl9pPr>
          </a:lstStyle>
          <a:p xmlns:a="http://schemas.openxmlformats.org/drawingml/2006/main">
            <a:pPr algn="l">
              <a:lnSpc>
                <a:spcPct val="105000"/>
              </a:lnSpc>
              <a:buNone/>
              <a:defRPr sz="3375" b="1">
                <a:solidFill>
                  <a:srgbClr val="F4F7FB"/>
                </a:solidFill>
                <a:latin typeface="Avenir"/>
                <a:ea typeface="Avenir"/>
                <a:cs typeface="Avenir"/>
              </a:defRPr>
            </a:pPr>
            <a:r>
              <a:rPr sz="3375" b="1">
                <a:solidFill>
                  <a:srgbClr val="F4F7FB"/>
                </a:solidFill>
                <a:latin typeface="Avenir"/>
                <a:ea typeface="Avenir"/>
                <a:cs typeface="Avenir"/>
              </a:rPr>
              <a:t>169 → 167</a:t>
            </a:r>
          </a:p>
        </p:txBody>
      </p:sp>
      <p:sp>
        <p:nvSpPr>
          <p:cNvPr id="10" name="">
            <a:extLst xmlns:a="http://schemas.openxmlformats.org/drawingml/2006/main">
              <a:ext uri="{FF2B5EF4-FFF2-40B4-BE49-F238E27FC236}">
                <a16:creationId xmlns:a16="http://schemas.microsoft.com/office/drawing/2014/main" id="{3409738D-C343-49B8-B6BF-51313C0C2F22}"/>
              </a:ext>
            </a:extLst>
          </p:cNvPr>
          <p:cNvSpPr>
            <a:spLocks xmlns:a="http://schemas.openxmlformats.org/drawingml/2006/main" noGrp="1"/>
          </p:cNvSpPr>
          <p:nvPr/>
        </p:nvSpPr>
        <p:spPr>
          <a:xfrm xmlns:a="http://schemas.openxmlformats.org/drawingml/2006/main">
            <a:off x="4552950" y="3943350"/>
            <a:ext cx="3143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B4C1D1"/>
                </a:solidFill>
                <a:latin typeface="Avenir"/>
                <a:ea typeface="Avenir"/>
                <a:cs typeface="Avenir"/>
              </a:defRPr>
            </a:defPPr>
            <a:lvl1pPr algn="l">
              <a:defRPr sz="1500" b="0">
                <a:solidFill>
                  <a:srgbClr val="B4C1D1"/>
                </a:solidFill>
                <a:latin typeface="Avenir"/>
                <a:ea typeface="Avenir"/>
                <a:cs typeface="Avenir"/>
              </a:defRPr>
            </a:lvl1pPr>
            <a:lvl2pPr algn="l">
              <a:defRPr sz="1500" b="0">
                <a:solidFill>
                  <a:srgbClr val="B4C1D1"/>
                </a:solidFill>
                <a:latin typeface="Avenir"/>
                <a:ea typeface="Avenir"/>
                <a:cs typeface="Avenir"/>
              </a:defRPr>
            </a:lvl2pPr>
            <a:lvl3pPr algn="l">
              <a:defRPr sz="1500" b="0">
                <a:solidFill>
                  <a:srgbClr val="B4C1D1"/>
                </a:solidFill>
                <a:latin typeface="Avenir"/>
                <a:ea typeface="Avenir"/>
                <a:cs typeface="Avenir"/>
              </a:defRPr>
            </a:lvl3pPr>
            <a:lvl4pPr algn="l">
              <a:defRPr sz="1500" b="0">
                <a:solidFill>
                  <a:srgbClr val="B4C1D1"/>
                </a:solidFill>
                <a:latin typeface="Avenir"/>
                <a:ea typeface="Avenir"/>
                <a:cs typeface="Avenir"/>
              </a:defRPr>
            </a:lvl4pPr>
            <a:lvl5pPr algn="l">
              <a:defRPr sz="1500" b="0">
                <a:solidFill>
                  <a:srgbClr val="B4C1D1"/>
                </a:solidFill>
                <a:latin typeface="Avenir"/>
                <a:ea typeface="Avenir"/>
                <a:cs typeface="Avenir"/>
              </a:defRPr>
            </a:lvl5pPr>
            <a:lvl6pPr algn="l">
              <a:defRPr sz="1500" b="0">
                <a:solidFill>
                  <a:srgbClr val="B4C1D1"/>
                </a:solidFill>
                <a:latin typeface="Avenir"/>
                <a:ea typeface="Avenir"/>
                <a:cs typeface="Avenir"/>
              </a:defRPr>
            </a:lvl6pPr>
            <a:lvl7pPr algn="l">
              <a:defRPr sz="1500" b="0">
                <a:solidFill>
                  <a:srgbClr val="B4C1D1"/>
                </a:solidFill>
                <a:latin typeface="Avenir"/>
                <a:ea typeface="Avenir"/>
                <a:cs typeface="Avenir"/>
              </a:defRPr>
            </a:lvl7pPr>
            <a:lvl8pPr algn="l">
              <a:defRPr sz="1500" b="0">
                <a:solidFill>
                  <a:srgbClr val="B4C1D1"/>
                </a:solidFill>
                <a:latin typeface="Avenir"/>
                <a:ea typeface="Avenir"/>
                <a:cs typeface="Avenir"/>
              </a:defRPr>
            </a:lvl8pPr>
            <a:lvl9pPr algn="l">
              <a:defRPr sz="1500" b="0">
                <a:solidFill>
                  <a:srgbClr val="B4C1D1"/>
                </a:solidFill>
                <a:latin typeface="Avenir"/>
                <a:ea typeface="Avenir"/>
                <a:cs typeface="Avenir"/>
              </a:defRPr>
            </a:lvl9pPr>
          </a:lstStyle>
          <a:p xmlns:a="http://schemas.openxmlformats.org/drawingml/2006/main">
            <a:pPr algn="l">
              <a:lnSpc>
                <a:spcPct val="114000"/>
              </a:lnSpc>
              <a:buNone/>
              <a:defRPr sz="1500" b="0">
                <a:solidFill>
                  <a:srgbClr val="B4C1D1"/>
                </a:solidFill>
                <a:latin typeface="Avenir"/>
                <a:ea typeface="Avenir"/>
                <a:cs typeface="Avenir"/>
              </a:defRPr>
            </a:pPr>
            <a:r>
              <a:rPr sz="1500" b="0">
                <a:solidFill>
                  <a:srgbClr val="B4C1D1"/>
                </a:solidFill>
                <a:latin typeface="Avenir"/>
                <a:ea typeface="Avenir"/>
                <a:cs typeface="Avenir"/>
              </a:rPr>
              <a:t>Executed instructions</a:t>
            </a:r>
          </a:p>
          <a:p xmlns:a="http://schemas.openxmlformats.org/drawingml/2006/main">
            <a:pPr algn="l">
              <a:lnSpc>
                <a:spcPct val="114000"/>
              </a:lnSpc>
              <a:buNone/>
              <a:defRPr sz="1500" b="0">
                <a:solidFill>
                  <a:srgbClr val="B4C1D1"/>
                </a:solidFill>
                <a:latin typeface="Avenir"/>
                <a:ea typeface="Avenir"/>
                <a:cs typeface="Avenir"/>
              </a:defRPr>
            </a:pPr>
            <a:r>
              <a:rPr sz="1500" b="0">
                <a:solidFill>
                  <a:srgbClr val="B4C1D1"/>
                </a:solidFill>
                <a:latin typeface="Avenir"/>
                <a:ea typeface="Avenir"/>
                <a:cs typeface="Avenir"/>
              </a:rPr>
              <a:t>Output remains 55</a:t>
            </a:r>
          </a:p>
        </p:txBody>
      </p:sp>
      <p:sp>
        <p:nvSpPr>
          <p:cNvPr id="11" name="">
            <a:extLst xmlns:a="http://schemas.openxmlformats.org/drawingml/2006/main">
              <a:ext uri="{FF2B5EF4-FFF2-40B4-BE49-F238E27FC236}">
                <a16:creationId xmlns:a16="http://schemas.microsoft.com/office/drawing/2014/main" id="{F777E8B7-67CF-4CB8-A28E-AFFC9DEF8343}"/>
              </a:ext>
            </a:extLst>
          </p:cNvPr>
          <p:cNvSpPr>
            <a:spLocks xmlns:a="http://schemas.openxmlformats.org/drawingml/2006/main" noGrp="1"/>
          </p:cNvSpPr>
          <p:nvPr/>
        </p:nvSpPr>
        <p:spPr>
          <a:xfrm xmlns:a="http://schemas.openxmlformats.org/drawingml/2006/main">
            <a:off x="8001000" y="2324100"/>
            <a:ext cx="14288" cy="2343150"/>
          </a:xfrm>
          <a:prstGeom xmlns:a="http://schemas.openxmlformats.org/drawingml/2006/main" prst="rect">
            <a:avLst/>
          </a:prstGeom>
          <a:solidFill xmlns:a="http://schemas.openxmlformats.org/drawingml/2006/main">
            <a:srgbClr val="47607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E24BFDA-F2CA-46F0-8AE3-50DA94D85F7E}"/>
              </a:ext>
            </a:extLst>
          </p:cNvPr>
          <p:cNvSpPr>
            <a:spLocks xmlns:a="http://schemas.openxmlformats.org/drawingml/2006/main" noGrp="1"/>
          </p:cNvSpPr>
          <p:nvPr/>
        </p:nvSpPr>
        <p:spPr>
          <a:xfrm xmlns:a="http://schemas.openxmlformats.org/drawingml/2006/main">
            <a:off x="8362950" y="23622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FFC86A"/>
                </a:solidFill>
                <a:latin typeface="Avenir"/>
                <a:ea typeface="Avenir"/>
                <a:cs typeface="Avenir"/>
              </a:defRPr>
            </a:defPPr>
            <a:lvl1pPr algn="l">
              <a:defRPr sz="1575" b="1">
                <a:solidFill>
                  <a:srgbClr val="FFC86A"/>
                </a:solidFill>
                <a:latin typeface="Avenir"/>
                <a:ea typeface="Avenir"/>
                <a:cs typeface="Avenir"/>
              </a:defRPr>
            </a:lvl1pPr>
            <a:lvl2pPr algn="l">
              <a:defRPr sz="1575" b="1">
                <a:solidFill>
                  <a:srgbClr val="FFC86A"/>
                </a:solidFill>
                <a:latin typeface="Avenir"/>
                <a:ea typeface="Avenir"/>
                <a:cs typeface="Avenir"/>
              </a:defRPr>
            </a:lvl2pPr>
            <a:lvl3pPr algn="l">
              <a:defRPr sz="1575" b="1">
                <a:solidFill>
                  <a:srgbClr val="FFC86A"/>
                </a:solidFill>
                <a:latin typeface="Avenir"/>
                <a:ea typeface="Avenir"/>
                <a:cs typeface="Avenir"/>
              </a:defRPr>
            </a:lvl3pPr>
            <a:lvl4pPr algn="l">
              <a:defRPr sz="1575" b="1">
                <a:solidFill>
                  <a:srgbClr val="FFC86A"/>
                </a:solidFill>
                <a:latin typeface="Avenir"/>
                <a:ea typeface="Avenir"/>
                <a:cs typeface="Avenir"/>
              </a:defRPr>
            </a:lvl4pPr>
            <a:lvl5pPr algn="l">
              <a:defRPr sz="1575" b="1">
                <a:solidFill>
                  <a:srgbClr val="FFC86A"/>
                </a:solidFill>
                <a:latin typeface="Avenir"/>
                <a:ea typeface="Avenir"/>
                <a:cs typeface="Avenir"/>
              </a:defRPr>
            </a:lvl5pPr>
            <a:lvl6pPr algn="l">
              <a:defRPr sz="1575" b="1">
                <a:solidFill>
                  <a:srgbClr val="FFC86A"/>
                </a:solidFill>
                <a:latin typeface="Avenir"/>
                <a:ea typeface="Avenir"/>
                <a:cs typeface="Avenir"/>
              </a:defRPr>
            </a:lvl6pPr>
            <a:lvl7pPr algn="l">
              <a:defRPr sz="1575" b="1">
                <a:solidFill>
                  <a:srgbClr val="FFC86A"/>
                </a:solidFill>
                <a:latin typeface="Avenir"/>
                <a:ea typeface="Avenir"/>
                <a:cs typeface="Avenir"/>
              </a:defRPr>
            </a:lvl7pPr>
            <a:lvl8pPr algn="l">
              <a:defRPr sz="1575" b="1">
                <a:solidFill>
                  <a:srgbClr val="FFC86A"/>
                </a:solidFill>
                <a:latin typeface="Avenir"/>
                <a:ea typeface="Avenir"/>
                <a:cs typeface="Avenir"/>
              </a:defRPr>
            </a:lvl8pPr>
            <a:lvl9pPr algn="l">
              <a:defRPr sz="1575" b="1">
                <a:solidFill>
                  <a:srgbClr val="FFC86A"/>
                </a:solidFill>
                <a:latin typeface="Avenir"/>
                <a:ea typeface="Avenir"/>
                <a:cs typeface="Avenir"/>
              </a:defRPr>
            </a:lvl9pPr>
          </a:lstStyle>
          <a:p xmlns:a="http://schemas.openxmlformats.org/drawingml/2006/main">
            <a:pPr algn="l">
              <a:lnSpc>
                <a:spcPct val="105000"/>
              </a:lnSpc>
              <a:buNone/>
              <a:defRPr sz="1575" b="1">
                <a:solidFill>
                  <a:srgbClr val="FFC86A"/>
                </a:solidFill>
                <a:latin typeface="Avenir"/>
                <a:ea typeface="Avenir"/>
                <a:cs typeface="Avenir"/>
              </a:defRPr>
            </a:pPr>
            <a:r>
              <a:rPr sz="1575" b="1">
                <a:solidFill>
                  <a:srgbClr val="FFC86A"/>
                </a:solidFill>
                <a:latin typeface="Avenir"/>
                <a:ea typeface="Avenir"/>
                <a:cs typeface="Avenir"/>
              </a:rPr>
              <a:t>Sum of squares</a:t>
            </a:r>
          </a:p>
        </p:txBody>
      </p:sp>
      <p:sp>
        <p:nvSpPr>
          <p:cNvPr id="13" name="">
            <a:extLst xmlns:a="http://schemas.openxmlformats.org/drawingml/2006/main">
              <a:ext uri="{FF2B5EF4-FFF2-40B4-BE49-F238E27FC236}">
                <a16:creationId xmlns:a16="http://schemas.microsoft.com/office/drawing/2014/main" id="{BA862433-0159-4B75-A85D-B8CC109A5AEF}"/>
              </a:ext>
            </a:extLst>
          </p:cNvPr>
          <p:cNvSpPr>
            <a:spLocks xmlns:a="http://schemas.openxmlformats.org/drawingml/2006/main" noGrp="1"/>
          </p:cNvSpPr>
          <p:nvPr/>
        </p:nvSpPr>
        <p:spPr>
          <a:xfrm xmlns:a="http://schemas.openxmlformats.org/drawingml/2006/main">
            <a:off x="8362950" y="3028950"/>
            <a:ext cx="342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625" b="1">
                <a:solidFill>
                  <a:srgbClr val="F4F7FB"/>
                </a:solidFill>
                <a:latin typeface="Avenir"/>
                <a:ea typeface="Avenir"/>
                <a:cs typeface="Avenir"/>
              </a:defRPr>
            </a:defPPr>
            <a:lvl1pPr algn="l">
              <a:defRPr sz="2625" b="1">
                <a:solidFill>
                  <a:srgbClr val="F4F7FB"/>
                </a:solidFill>
                <a:latin typeface="Avenir"/>
                <a:ea typeface="Avenir"/>
                <a:cs typeface="Avenir"/>
              </a:defRPr>
            </a:lvl1pPr>
            <a:lvl2pPr algn="l">
              <a:defRPr sz="2625" b="1">
                <a:solidFill>
                  <a:srgbClr val="F4F7FB"/>
                </a:solidFill>
                <a:latin typeface="Avenir"/>
                <a:ea typeface="Avenir"/>
                <a:cs typeface="Avenir"/>
              </a:defRPr>
            </a:lvl2pPr>
            <a:lvl3pPr algn="l">
              <a:defRPr sz="2625" b="1">
                <a:solidFill>
                  <a:srgbClr val="F4F7FB"/>
                </a:solidFill>
                <a:latin typeface="Avenir"/>
                <a:ea typeface="Avenir"/>
                <a:cs typeface="Avenir"/>
              </a:defRPr>
            </a:lvl3pPr>
            <a:lvl4pPr algn="l">
              <a:defRPr sz="2625" b="1">
                <a:solidFill>
                  <a:srgbClr val="F4F7FB"/>
                </a:solidFill>
                <a:latin typeface="Avenir"/>
                <a:ea typeface="Avenir"/>
                <a:cs typeface="Avenir"/>
              </a:defRPr>
            </a:lvl4pPr>
            <a:lvl5pPr algn="l">
              <a:defRPr sz="2625" b="1">
                <a:solidFill>
                  <a:srgbClr val="F4F7FB"/>
                </a:solidFill>
                <a:latin typeface="Avenir"/>
                <a:ea typeface="Avenir"/>
                <a:cs typeface="Avenir"/>
              </a:defRPr>
            </a:lvl5pPr>
            <a:lvl6pPr algn="l">
              <a:defRPr sz="2625" b="1">
                <a:solidFill>
                  <a:srgbClr val="F4F7FB"/>
                </a:solidFill>
                <a:latin typeface="Avenir"/>
                <a:ea typeface="Avenir"/>
                <a:cs typeface="Avenir"/>
              </a:defRPr>
            </a:lvl6pPr>
            <a:lvl7pPr algn="l">
              <a:defRPr sz="2625" b="1">
                <a:solidFill>
                  <a:srgbClr val="F4F7FB"/>
                </a:solidFill>
                <a:latin typeface="Avenir"/>
                <a:ea typeface="Avenir"/>
                <a:cs typeface="Avenir"/>
              </a:defRPr>
            </a:lvl7pPr>
            <a:lvl8pPr algn="l">
              <a:defRPr sz="2625" b="1">
                <a:solidFill>
                  <a:srgbClr val="F4F7FB"/>
                </a:solidFill>
                <a:latin typeface="Avenir"/>
                <a:ea typeface="Avenir"/>
                <a:cs typeface="Avenir"/>
              </a:defRPr>
            </a:lvl8pPr>
            <a:lvl9pPr algn="l">
              <a:defRPr sz="2625" b="1">
                <a:solidFill>
                  <a:srgbClr val="F4F7FB"/>
                </a:solidFill>
                <a:latin typeface="Avenir"/>
                <a:ea typeface="Avenir"/>
                <a:cs typeface="Avenir"/>
              </a:defRPr>
            </a:lvl9pPr>
          </a:lstStyle>
          <a:p xmlns:a="http://schemas.openxmlformats.org/drawingml/2006/main">
            <a:pPr algn="l">
              <a:lnSpc>
                <a:spcPct val="105000"/>
              </a:lnSpc>
              <a:buNone/>
              <a:defRPr sz="2625" b="1">
                <a:solidFill>
                  <a:srgbClr val="F4F7FB"/>
                </a:solidFill>
                <a:latin typeface="Avenir"/>
                <a:ea typeface="Avenir"/>
                <a:cs typeface="Avenir"/>
              </a:defRPr>
            </a:pPr>
            <a:r>
              <a:rPr sz="2625" b="1">
                <a:solidFill>
                  <a:srgbClr val="F4F7FB"/>
                </a:solidFill>
                <a:latin typeface="Avenir"/>
                <a:ea typeface="Avenir"/>
                <a:cs typeface="Avenir"/>
              </a:rPr>
              <a:t>19,019 vs 10,013</a:t>
            </a:r>
          </a:p>
        </p:txBody>
      </p:sp>
      <p:sp>
        <p:nvSpPr>
          <p:cNvPr id="14" name="">
            <a:extLst xmlns:a="http://schemas.openxmlformats.org/drawingml/2006/main">
              <a:ext uri="{FF2B5EF4-FFF2-40B4-BE49-F238E27FC236}">
                <a16:creationId xmlns:a16="http://schemas.microsoft.com/office/drawing/2014/main" id="{D9E3E906-CABC-4308-9FA3-F701AD79BD8A}"/>
              </a:ext>
            </a:extLst>
          </p:cNvPr>
          <p:cNvSpPr>
            <a:spLocks xmlns:a="http://schemas.openxmlformats.org/drawingml/2006/main" noGrp="1"/>
          </p:cNvSpPr>
          <p:nvPr/>
        </p:nvSpPr>
        <p:spPr>
          <a:xfrm xmlns:a="http://schemas.openxmlformats.org/drawingml/2006/main">
            <a:off x="8362950" y="3943350"/>
            <a:ext cx="3143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B4C1D1"/>
                </a:solidFill>
                <a:latin typeface="Avenir"/>
                <a:ea typeface="Avenir"/>
                <a:cs typeface="Avenir"/>
              </a:defRPr>
            </a:defPPr>
            <a:lvl1pPr algn="l">
              <a:defRPr sz="1500" b="0">
                <a:solidFill>
                  <a:srgbClr val="B4C1D1"/>
                </a:solidFill>
                <a:latin typeface="Avenir"/>
                <a:ea typeface="Avenir"/>
                <a:cs typeface="Avenir"/>
              </a:defRPr>
            </a:lvl1pPr>
            <a:lvl2pPr algn="l">
              <a:defRPr sz="1500" b="0">
                <a:solidFill>
                  <a:srgbClr val="B4C1D1"/>
                </a:solidFill>
                <a:latin typeface="Avenir"/>
                <a:ea typeface="Avenir"/>
                <a:cs typeface="Avenir"/>
              </a:defRPr>
            </a:lvl2pPr>
            <a:lvl3pPr algn="l">
              <a:defRPr sz="1500" b="0">
                <a:solidFill>
                  <a:srgbClr val="B4C1D1"/>
                </a:solidFill>
                <a:latin typeface="Avenir"/>
                <a:ea typeface="Avenir"/>
                <a:cs typeface="Avenir"/>
              </a:defRPr>
            </a:lvl3pPr>
            <a:lvl4pPr algn="l">
              <a:defRPr sz="1500" b="0">
                <a:solidFill>
                  <a:srgbClr val="B4C1D1"/>
                </a:solidFill>
                <a:latin typeface="Avenir"/>
                <a:ea typeface="Avenir"/>
                <a:cs typeface="Avenir"/>
              </a:defRPr>
            </a:lvl4pPr>
            <a:lvl5pPr algn="l">
              <a:defRPr sz="1500" b="0">
                <a:solidFill>
                  <a:srgbClr val="B4C1D1"/>
                </a:solidFill>
                <a:latin typeface="Avenir"/>
                <a:ea typeface="Avenir"/>
                <a:cs typeface="Avenir"/>
              </a:defRPr>
            </a:lvl5pPr>
            <a:lvl6pPr algn="l">
              <a:defRPr sz="1500" b="0">
                <a:solidFill>
                  <a:srgbClr val="B4C1D1"/>
                </a:solidFill>
                <a:latin typeface="Avenir"/>
                <a:ea typeface="Avenir"/>
                <a:cs typeface="Avenir"/>
              </a:defRPr>
            </a:lvl6pPr>
            <a:lvl7pPr algn="l">
              <a:defRPr sz="1500" b="0">
                <a:solidFill>
                  <a:srgbClr val="B4C1D1"/>
                </a:solidFill>
                <a:latin typeface="Avenir"/>
                <a:ea typeface="Avenir"/>
                <a:cs typeface="Avenir"/>
              </a:defRPr>
            </a:lvl7pPr>
            <a:lvl8pPr algn="l">
              <a:defRPr sz="1500" b="0">
                <a:solidFill>
                  <a:srgbClr val="B4C1D1"/>
                </a:solidFill>
                <a:latin typeface="Avenir"/>
                <a:ea typeface="Avenir"/>
                <a:cs typeface="Avenir"/>
              </a:defRPr>
            </a:lvl8pPr>
            <a:lvl9pPr algn="l">
              <a:defRPr sz="1500" b="0">
                <a:solidFill>
                  <a:srgbClr val="B4C1D1"/>
                </a:solidFill>
                <a:latin typeface="Avenir"/>
                <a:ea typeface="Avenir"/>
                <a:cs typeface="Avenir"/>
              </a:defRPr>
            </a:lvl9pPr>
          </a:lstStyle>
          <a:p xmlns:a="http://schemas.openxmlformats.org/drawingml/2006/main">
            <a:pPr algn="l">
              <a:lnSpc>
                <a:spcPct val="114000"/>
              </a:lnSpc>
              <a:buNone/>
              <a:defRPr sz="1500" b="0">
                <a:solidFill>
                  <a:srgbClr val="B4C1D1"/>
                </a:solidFill>
                <a:latin typeface="Avenir"/>
                <a:ea typeface="Avenir"/>
                <a:cs typeface="Avenir"/>
              </a:defRPr>
            </a:pPr>
            <a:r>
              <a:rPr sz="1500" b="0">
                <a:solidFill>
                  <a:srgbClr val="B4C1D1"/>
                </a:solidFill>
                <a:latin typeface="Avenir"/>
                <a:ea typeface="Avenir"/>
                <a:cs typeface="Avenir"/>
              </a:rPr>
              <a:t>Sequential vs parent +</a:t>
            </a:r>
          </a:p>
          <a:p xmlns:a="http://schemas.openxmlformats.org/drawingml/2006/main">
            <a:pPr algn="l">
              <a:lnSpc>
                <a:spcPct val="114000"/>
              </a:lnSpc>
              <a:buNone/>
              <a:defRPr sz="1500" b="0">
                <a:solidFill>
                  <a:srgbClr val="B4C1D1"/>
                </a:solidFill>
                <a:latin typeface="Avenir"/>
                <a:ea typeface="Avenir"/>
                <a:cs typeface="Avenir"/>
              </a:defRPr>
            </a:pPr>
            <a:r>
              <a:rPr sz="1500" b="0">
                <a:solidFill>
                  <a:srgbClr val="B4C1D1"/>
                </a:solidFill>
                <a:latin typeface="Avenir"/>
                <a:ea typeface="Avenir"/>
                <a:cs typeface="Avenir"/>
              </a:rPr>
              <a:t>worker VM instructions</a:t>
            </a:r>
          </a:p>
        </p:txBody>
      </p:sp>
      <p:sp>
        <p:nvSpPr>
          <p:cNvPr id="15" name="">
            <a:extLst xmlns:a="http://schemas.openxmlformats.org/drawingml/2006/main">
              <a:ext uri="{FF2B5EF4-FFF2-40B4-BE49-F238E27FC236}">
                <a16:creationId xmlns:a16="http://schemas.microsoft.com/office/drawing/2014/main" id="{13CA2F1C-C180-4EA0-B250-26ACCBE5F8A0}"/>
              </a:ext>
            </a:extLst>
          </p:cNvPr>
          <p:cNvSpPr>
            <a:spLocks xmlns:a="http://schemas.openxmlformats.org/drawingml/2006/main" noGrp="1"/>
          </p:cNvSpPr>
          <p:nvPr/>
        </p:nvSpPr>
        <p:spPr>
          <a:xfrm xmlns:a="http://schemas.openxmlformats.org/drawingml/2006/main">
            <a:off x="762000" y="5219700"/>
            <a:ext cx="10591800" cy="14288"/>
          </a:xfrm>
          <a:prstGeom xmlns:a="http://schemas.openxmlformats.org/drawingml/2006/main" prst="rect">
            <a:avLst/>
          </a:prstGeom>
          <a:solidFill xmlns:a="http://schemas.openxmlformats.org/drawingml/2006/main">
            <a:srgbClr val="47607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9EE5A47-38AE-4250-A8B0-8EC61863077A}"/>
              </a:ext>
            </a:extLst>
          </p:cNvPr>
          <p:cNvSpPr>
            <a:spLocks xmlns:a="http://schemas.openxmlformats.org/drawingml/2006/main" noGrp="1"/>
          </p:cNvSpPr>
          <p:nvPr/>
        </p:nvSpPr>
        <p:spPr>
          <a:xfrm xmlns:a="http://schemas.openxmlformats.org/drawingml/2006/main">
            <a:off x="762000" y="5505450"/>
            <a:ext cx="1038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F4F7FB"/>
                </a:solidFill>
                <a:latin typeface="Avenir"/>
                <a:ea typeface="Avenir"/>
                <a:cs typeface="Avenir"/>
              </a:defRPr>
            </a:defPPr>
            <a:lvl1pPr algn="l">
              <a:defRPr sz="1575" b="0">
                <a:solidFill>
                  <a:srgbClr val="F4F7FB"/>
                </a:solidFill>
                <a:latin typeface="Avenir"/>
                <a:ea typeface="Avenir"/>
                <a:cs typeface="Avenir"/>
              </a:defRPr>
            </a:lvl1pPr>
            <a:lvl2pPr algn="l">
              <a:defRPr sz="1575" b="0">
                <a:solidFill>
                  <a:srgbClr val="F4F7FB"/>
                </a:solidFill>
                <a:latin typeface="Avenir"/>
                <a:ea typeface="Avenir"/>
                <a:cs typeface="Avenir"/>
              </a:defRPr>
            </a:lvl2pPr>
            <a:lvl3pPr algn="l">
              <a:defRPr sz="1575" b="0">
                <a:solidFill>
                  <a:srgbClr val="F4F7FB"/>
                </a:solidFill>
                <a:latin typeface="Avenir"/>
                <a:ea typeface="Avenir"/>
                <a:cs typeface="Avenir"/>
              </a:defRPr>
            </a:lvl3pPr>
            <a:lvl4pPr algn="l">
              <a:defRPr sz="1575" b="0">
                <a:solidFill>
                  <a:srgbClr val="F4F7FB"/>
                </a:solidFill>
                <a:latin typeface="Avenir"/>
                <a:ea typeface="Avenir"/>
                <a:cs typeface="Avenir"/>
              </a:defRPr>
            </a:lvl4pPr>
            <a:lvl5pPr algn="l">
              <a:defRPr sz="1575" b="0">
                <a:solidFill>
                  <a:srgbClr val="F4F7FB"/>
                </a:solidFill>
                <a:latin typeface="Avenir"/>
                <a:ea typeface="Avenir"/>
                <a:cs typeface="Avenir"/>
              </a:defRPr>
            </a:lvl5pPr>
            <a:lvl6pPr algn="l">
              <a:defRPr sz="1575" b="0">
                <a:solidFill>
                  <a:srgbClr val="F4F7FB"/>
                </a:solidFill>
                <a:latin typeface="Avenir"/>
                <a:ea typeface="Avenir"/>
                <a:cs typeface="Avenir"/>
              </a:defRPr>
            </a:lvl6pPr>
            <a:lvl7pPr algn="l">
              <a:defRPr sz="1575" b="0">
                <a:solidFill>
                  <a:srgbClr val="F4F7FB"/>
                </a:solidFill>
                <a:latin typeface="Avenir"/>
                <a:ea typeface="Avenir"/>
                <a:cs typeface="Avenir"/>
              </a:defRPr>
            </a:lvl7pPr>
            <a:lvl8pPr algn="l">
              <a:defRPr sz="1575" b="0">
                <a:solidFill>
                  <a:srgbClr val="F4F7FB"/>
                </a:solidFill>
                <a:latin typeface="Avenir"/>
                <a:ea typeface="Avenir"/>
                <a:cs typeface="Avenir"/>
              </a:defRPr>
            </a:lvl8pPr>
            <a:lvl9pPr algn="l">
              <a:defRPr sz="1575" b="0">
                <a:solidFill>
                  <a:srgbClr val="F4F7FB"/>
                </a:solidFill>
                <a:latin typeface="Avenir"/>
                <a:ea typeface="Avenir"/>
                <a:cs typeface="Avenir"/>
              </a:defRPr>
            </a:lvl9pPr>
          </a:lstStyle>
          <a:p xmlns:a="http://schemas.openxmlformats.org/drawingml/2006/main">
            <a:pPr algn="l">
              <a:lnSpc>
                <a:spcPct val="105000"/>
              </a:lnSpc>
              <a:buNone/>
              <a:defRPr sz="1575" b="0">
                <a:solidFill>
                  <a:srgbClr val="F4F7FB"/>
                </a:solidFill>
                <a:latin typeface="Avenir"/>
                <a:ea typeface="Avenir"/>
                <a:cs typeface="Avenir"/>
              </a:defRPr>
            </a:pPr>
            <a:r>
              <a:rPr sz="1575" b="0">
                <a:solidFill>
                  <a:srgbClr val="F4F7FB"/>
                </a:solidFill>
                <a:latin typeface="Avenir"/>
                <a:ea typeface="Avenir"/>
                <a:cs typeface="Avenir"/>
              </a:rPr>
              <a:t>Use --benchmark 5 for repeated min / median / mean wall time. Process startup and scheduling are included.</a:t>
            </a:r>
          </a:p>
        </p:txBody>
      </p:sp>
      <p:sp>
        <p:nvSpPr>
          <p:cNvPr id="17" name="">
            <a:extLst xmlns:a="http://schemas.openxmlformats.org/drawingml/2006/main">
              <a:ext uri="{FF2B5EF4-FFF2-40B4-BE49-F238E27FC236}">
                <a16:creationId xmlns:a16="http://schemas.microsoft.com/office/drawing/2014/main" id="{06FDB120-BA6D-4451-A797-CE27C0C7F348}"/>
              </a:ext>
            </a:extLst>
          </p:cNvPr>
          <p:cNvSpPr>
            <a:spLocks xmlns:a="http://schemas.openxmlformats.org/drawingml/2006/main" noGrp="1"/>
          </p:cNvSpPr>
          <p:nvPr/>
        </p:nvSpPr>
        <p:spPr>
          <a:xfrm xmlns:a="http://schemas.openxmlformats.org/drawingml/2006/main">
            <a:off x="762000" y="6000750"/>
            <a:ext cx="1038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FFC86A"/>
                </a:solidFill>
                <a:latin typeface="Avenir"/>
                <a:ea typeface="Avenir"/>
                <a:cs typeface="Avenir"/>
              </a:defRPr>
            </a:defPPr>
            <a:lvl1pPr algn="l">
              <a:defRPr sz="1425" b="0">
                <a:solidFill>
                  <a:srgbClr val="FFC86A"/>
                </a:solidFill>
                <a:latin typeface="Avenir"/>
                <a:ea typeface="Avenir"/>
                <a:cs typeface="Avenir"/>
              </a:defRPr>
            </a:lvl1pPr>
            <a:lvl2pPr algn="l">
              <a:defRPr sz="1425" b="0">
                <a:solidFill>
                  <a:srgbClr val="FFC86A"/>
                </a:solidFill>
                <a:latin typeface="Avenir"/>
                <a:ea typeface="Avenir"/>
                <a:cs typeface="Avenir"/>
              </a:defRPr>
            </a:lvl2pPr>
            <a:lvl3pPr algn="l">
              <a:defRPr sz="1425" b="0">
                <a:solidFill>
                  <a:srgbClr val="FFC86A"/>
                </a:solidFill>
                <a:latin typeface="Avenir"/>
                <a:ea typeface="Avenir"/>
                <a:cs typeface="Avenir"/>
              </a:defRPr>
            </a:lvl3pPr>
            <a:lvl4pPr algn="l">
              <a:defRPr sz="1425" b="0">
                <a:solidFill>
                  <a:srgbClr val="FFC86A"/>
                </a:solidFill>
                <a:latin typeface="Avenir"/>
                <a:ea typeface="Avenir"/>
                <a:cs typeface="Avenir"/>
              </a:defRPr>
            </a:lvl4pPr>
            <a:lvl5pPr algn="l">
              <a:defRPr sz="1425" b="0">
                <a:solidFill>
                  <a:srgbClr val="FFC86A"/>
                </a:solidFill>
                <a:latin typeface="Avenir"/>
                <a:ea typeface="Avenir"/>
                <a:cs typeface="Avenir"/>
              </a:defRPr>
            </a:lvl5pPr>
            <a:lvl6pPr algn="l">
              <a:defRPr sz="1425" b="0">
                <a:solidFill>
                  <a:srgbClr val="FFC86A"/>
                </a:solidFill>
                <a:latin typeface="Avenir"/>
                <a:ea typeface="Avenir"/>
                <a:cs typeface="Avenir"/>
              </a:defRPr>
            </a:lvl6pPr>
            <a:lvl7pPr algn="l">
              <a:defRPr sz="1425" b="0">
                <a:solidFill>
                  <a:srgbClr val="FFC86A"/>
                </a:solidFill>
                <a:latin typeface="Avenir"/>
                <a:ea typeface="Avenir"/>
                <a:cs typeface="Avenir"/>
              </a:defRPr>
            </a:lvl7pPr>
            <a:lvl8pPr algn="l">
              <a:defRPr sz="1425" b="0">
                <a:solidFill>
                  <a:srgbClr val="FFC86A"/>
                </a:solidFill>
                <a:latin typeface="Avenir"/>
                <a:ea typeface="Avenir"/>
                <a:cs typeface="Avenir"/>
              </a:defRPr>
            </a:lvl8pPr>
            <a:lvl9pPr algn="l">
              <a:defRPr sz="1425" b="0">
                <a:solidFill>
                  <a:srgbClr val="FFC86A"/>
                </a:solidFill>
                <a:latin typeface="Avenir"/>
                <a:ea typeface="Avenir"/>
                <a:cs typeface="Avenir"/>
              </a:defRPr>
            </a:lvl9pPr>
          </a:lstStyle>
          <a:p xmlns:a="http://schemas.openxmlformats.org/drawingml/2006/main">
            <a:pPr algn="l">
              <a:lnSpc>
                <a:spcPct val="105000"/>
              </a:lnSpc>
              <a:buNone/>
              <a:defRPr sz="1425" b="0">
                <a:solidFill>
                  <a:srgbClr val="FFC86A"/>
                </a:solidFill>
                <a:latin typeface="Avenir"/>
                <a:ea typeface="Avenir"/>
                <a:cs typeface="Avenir"/>
              </a:defRPr>
            </a:pPr>
            <a:r>
              <a:rPr sz="1425" b="0">
                <a:solidFill>
                  <a:srgbClr val="FFC86A"/>
                </a:solidFill>
                <a:latin typeface="Avenir"/>
                <a:ea typeface="Avenir"/>
                <a:cs typeface="Avenir"/>
              </a:rPr>
              <a:t>A lower instruction count does not guarantee a faster parallel run.</a:t>
            </a:r>
          </a:p>
        </p:txBody>
      </p:sp>
    </p:spTree>
    <p:extLst>
      <p:ext uri="{BB962C8B-B14F-4D97-AF65-F5344CB8AC3E}">
        <p14:creationId xmlns:p14="http://schemas.microsoft.com/office/powerpoint/2010/main" val="1391754312"/>
      </p:ext>
    </p:extLst>
  </p:cSld>
</p:sld>
</file>

<file path=ppt/slides/slide9.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3625CE5-4BAF-4311-9055-C1B7435A92D6}"/>
              </a:ext>
            </a:extLst>
          </p:cNvPr>
          <p:cNvSpPr>
            <a:spLocks xmlns:a="http://schemas.openxmlformats.org/drawingml/2006/main" noGrp="1"/>
          </p:cNvSpPr>
          <p:nvPr/>
        </p:nvSpPr>
        <p:spPr>
          <a:xfrm xmlns:a="http://schemas.openxmlformats.org/drawingml/2006/main">
            <a:off x="685800" y="4191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525" b="1">
                <a:solidFill>
                  <a:srgbClr val="F4F7FB"/>
                </a:solidFill>
                <a:latin typeface="Avenir"/>
                <a:ea typeface="Avenir"/>
                <a:cs typeface="Avenir"/>
              </a:defRPr>
            </a:defPPr>
            <a:lvl1pPr algn="l">
              <a:defRPr sz="3525" b="1">
                <a:solidFill>
                  <a:srgbClr val="F4F7FB"/>
                </a:solidFill>
                <a:latin typeface="Avenir"/>
                <a:ea typeface="Avenir"/>
                <a:cs typeface="Avenir"/>
              </a:defRPr>
            </a:lvl1pPr>
            <a:lvl2pPr algn="l">
              <a:defRPr sz="3525" b="1">
                <a:solidFill>
                  <a:srgbClr val="F4F7FB"/>
                </a:solidFill>
                <a:latin typeface="Avenir"/>
                <a:ea typeface="Avenir"/>
                <a:cs typeface="Avenir"/>
              </a:defRPr>
            </a:lvl2pPr>
            <a:lvl3pPr algn="l">
              <a:defRPr sz="3525" b="1">
                <a:solidFill>
                  <a:srgbClr val="F4F7FB"/>
                </a:solidFill>
                <a:latin typeface="Avenir"/>
                <a:ea typeface="Avenir"/>
                <a:cs typeface="Avenir"/>
              </a:defRPr>
            </a:lvl3pPr>
            <a:lvl4pPr algn="l">
              <a:defRPr sz="3525" b="1">
                <a:solidFill>
                  <a:srgbClr val="F4F7FB"/>
                </a:solidFill>
                <a:latin typeface="Avenir"/>
                <a:ea typeface="Avenir"/>
                <a:cs typeface="Avenir"/>
              </a:defRPr>
            </a:lvl4pPr>
            <a:lvl5pPr algn="l">
              <a:defRPr sz="3525" b="1">
                <a:solidFill>
                  <a:srgbClr val="F4F7FB"/>
                </a:solidFill>
                <a:latin typeface="Avenir"/>
                <a:ea typeface="Avenir"/>
                <a:cs typeface="Avenir"/>
              </a:defRPr>
            </a:lvl5pPr>
            <a:lvl6pPr algn="l">
              <a:defRPr sz="3525" b="1">
                <a:solidFill>
                  <a:srgbClr val="F4F7FB"/>
                </a:solidFill>
                <a:latin typeface="Avenir"/>
                <a:ea typeface="Avenir"/>
                <a:cs typeface="Avenir"/>
              </a:defRPr>
            </a:lvl6pPr>
            <a:lvl7pPr algn="l">
              <a:defRPr sz="3525" b="1">
                <a:solidFill>
                  <a:srgbClr val="F4F7FB"/>
                </a:solidFill>
                <a:latin typeface="Avenir"/>
                <a:ea typeface="Avenir"/>
                <a:cs typeface="Avenir"/>
              </a:defRPr>
            </a:lvl7pPr>
            <a:lvl8pPr algn="l">
              <a:defRPr sz="3525" b="1">
                <a:solidFill>
                  <a:srgbClr val="F4F7FB"/>
                </a:solidFill>
                <a:latin typeface="Avenir"/>
                <a:ea typeface="Avenir"/>
                <a:cs typeface="Avenir"/>
              </a:defRPr>
            </a:lvl8pPr>
            <a:lvl9pPr algn="l">
              <a:defRPr sz="3525" b="1">
                <a:solidFill>
                  <a:srgbClr val="F4F7FB"/>
                </a:solidFill>
                <a:latin typeface="Avenir"/>
                <a:ea typeface="Avenir"/>
                <a:cs typeface="Avenir"/>
              </a:defRPr>
            </a:lvl9pPr>
          </a:lstStyle>
          <a:p xmlns:a="http://schemas.openxmlformats.org/drawingml/2006/main">
            <a:pPr algn="l">
              <a:lnSpc>
                <a:spcPct val="105000"/>
              </a:lnSpc>
              <a:buNone/>
              <a:defRPr sz="3525" b="1">
                <a:solidFill>
                  <a:srgbClr val="F4F7FB"/>
                </a:solidFill>
                <a:latin typeface="Avenir"/>
                <a:ea typeface="Avenir"/>
                <a:cs typeface="Avenir"/>
              </a:defRPr>
            </a:pPr>
            <a:r>
              <a:rPr sz="3525" b="1">
                <a:solidFill>
                  <a:srgbClr val="F4F7FB"/>
                </a:solidFill>
                <a:latin typeface="Avenir"/>
                <a:ea typeface="Avenir"/>
                <a:cs typeface="Avenir"/>
              </a:rPr>
              <a:t>Current boundary and next steps</a:t>
            </a:r>
          </a:p>
        </p:txBody>
      </p:sp>
      <p:sp>
        <p:nvSpPr>
          <p:cNvPr id="2" name="">
            <a:extLst xmlns:a="http://schemas.openxmlformats.org/drawingml/2006/main">
              <a:ext uri="{FF2B5EF4-FFF2-40B4-BE49-F238E27FC236}">
                <a16:creationId xmlns:a16="http://schemas.microsoft.com/office/drawing/2014/main" id="{BA4C12C9-F65E-4BBB-8B4A-957818753836}"/>
              </a:ext>
            </a:extLst>
          </p:cNvPr>
          <p:cNvSpPr>
            <a:spLocks xmlns:a="http://schemas.openxmlformats.org/drawingml/2006/main" noGrp="1"/>
          </p:cNvSpPr>
          <p:nvPr/>
        </p:nvSpPr>
        <p:spPr>
          <a:xfrm xmlns:a="http://schemas.openxmlformats.org/drawingml/2006/main">
            <a:off x="685800" y="1162050"/>
            <a:ext cx="819150" cy="38100"/>
          </a:xfrm>
          <a:prstGeom xmlns:a="http://schemas.openxmlformats.org/drawingml/2006/main" prst="rect">
            <a:avLst/>
          </a:prstGeom>
          <a:solidFill xmlns:a="http://schemas.openxmlformats.org/drawingml/2006/main">
            <a:srgbClr val="5AD6E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13B3133-4A87-4463-AC3C-C82573916853}"/>
              </a:ext>
            </a:extLst>
          </p:cNvPr>
          <p:cNvSpPr>
            <a:spLocks xmlns:a="http://schemas.openxmlformats.org/drawingml/2006/main" noGrp="1"/>
          </p:cNvSpPr>
          <p:nvPr/>
        </p:nvSpPr>
        <p:spPr>
          <a:xfrm xmlns:a="http://schemas.openxmlformats.org/drawingml/2006/main">
            <a:off x="685800" y="13906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B4C1D1"/>
                </a:solidFill>
                <a:latin typeface="Avenir"/>
                <a:ea typeface="Avenir"/>
                <a:cs typeface="Avenir"/>
              </a:defRPr>
            </a:defPPr>
            <a:lvl1pPr algn="l">
              <a:defRPr sz="1725" b="0">
                <a:solidFill>
                  <a:srgbClr val="B4C1D1"/>
                </a:solidFill>
                <a:latin typeface="Avenir"/>
                <a:ea typeface="Avenir"/>
                <a:cs typeface="Avenir"/>
              </a:defRPr>
            </a:lvl1pPr>
            <a:lvl2pPr algn="l">
              <a:defRPr sz="1725" b="0">
                <a:solidFill>
                  <a:srgbClr val="B4C1D1"/>
                </a:solidFill>
                <a:latin typeface="Avenir"/>
                <a:ea typeface="Avenir"/>
                <a:cs typeface="Avenir"/>
              </a:defRPr>
            </a:lvl2pPr>
            <a:lvl3pPr algn="l">
              <a:defRPr sz="1725" b="0">
                <a:solidFill>
                  <a:srgbClr val="B4C1D1"/>
                </a:solidFill>
                <a:latin typeface="Avenir"/>
                <a:ea typeface="Avenir"/>
                <a:cs typeface="Avenir"/>
              </a:defRPr>
            </a:lvl3pPr>
            <a:lvl4pPr algn="l">
              <a:defRPr sz="1725" b="0">
                <a:solidFill>
                  <a:srgbClr val="B4C1D1"/>
                </a:solidFill>
                <a:latin typeface="Avenir"/>
                <a:ea typeface="Avenir"/>
                <a:cs typeface="Avenir"/>
              </a:defRPr>
            </a:lvl4pPr>
            <a:lvl5pPr algn="l">
              <a:defRPr sz="1725" b="0">
                <a:solidFill>
                  <a:srgbClr val="B4C1D1"/>
                </a:solidFill>
                <a:latin typeface="Avenir"/>
                <a:ea typeface="Avenir"/>
                <a:cs typeface="Avenir"/>
              </a:defRPr>
            </a:lvl5pPr>
            <a:lvl6pPr algn="l">
              <a:defRPr sz="1725" b="0">
                <a:solidFill>
                  <a:srgbClr val="B4C1D1"/>
                </a:solidFill>
                <a:latin typeface="Avenir"/>
                <a:ea typeface="Avenir"/>
                <a:cs typeface="Avenir"/>
              </a:defRPr>
            </a:lvl6pPr>
            <a:lvl7pPr algn="l">
              <a:defRPr sz="1725" b="0">
                <a:solidFill>
                  <a:srgbClr val="B4C1D1"/>
                </a:solidFill>
                <a:latin typeface="Avenir"/>
                <a:ea typeface="Avenir"/>
                <a:cs typeface="Avenir"/>
              </a:defRPr>
            </a:lvl7pPr>
            <a:lvl8pPr algn="l">
              <a:defRPr sz="1725" b="0">
                <a:solidFill>
                  <a:srgbClr val="B4C1D1"/>
                </a:solidFill>
                <a:latin typeface="Avenir"/>
                <a:ea typeface="Avenir"/>
                <a:cs typeface="Avenir"/>
              </a:defRPr>
            </a:lvl8pPr>
            <a:lvl9pPr algn="l">
              <a:defRPr sz="1725" b="0">
                <a:solidFill>
                  <a:srgbClr val="B4C1D1"/>
                </a:solidFill>
                <a:latin typeface="Avenir"/>
                <a:ea typeface="Avenir"/>
                <a:cs typeface="Avenir"/>
              </a:defRPr>
            </a:lvl9pPr>
          </a:lstStyle>
          <a:p xmlns:a="http://schemas.openxmlformats.org/drawingml/2006/main">
            <a:pPr algn="l">
              <a:lnSpc>
                <a:spcPct val="105000"/>
              </a:lnSpc>
              <a:buNone/>
              <a:defRPr sz="1725" b="0">
                <a:solidFill>
                  <a:srgbClr val="B4C1D1"/>
                </a:solidFill>
                <a:latin typeface="Avenir"/>
                <a:ea typeface="Avenir"/>
                <a:cs typeface="Avenir"/>
              </a:defRPr>
            </a:pPr>
            <a:r>
              <a:rPr sz="1725" b="0">
                <a:solidFill>
                  <a:srgbClr val="B4C1D1"/>
                </a:solidFill>
                <a:latin typeface="Avenir"/>
                <a:ea typeface="Avenir"/>
                <a:cs typeface="Avenir"/>
              </a:rPr>
              <a:t>A clear scope makes the implementation easier to demonstrate and verify.</a:t>
            </a:r>
          </a:p>
        </p:txBody>
      </p:sp>
      <p:sp>
        <p:nvSpPr>
          <p:cNvPr id="4" name="">
            <a:extLst xmlns:a="http://schemas.openxmlformats.org/drawingml/2006/main">
              <a:ext uri="{FF2B5EF4-FFF2-40B4-BE49-F238E27FC236}">
                <a16:creationId xmlns:a16="http://schemas.microsoft.com/office/drawing/2014/main" id="{0899E319-D96C-4399-A3A0-63A52836DE7C}"/>
              </a:ext>
            </a:extLst>
          </p:cNvPr>
          <p:cNvSpPr>
            <a:spLocks xmlns:a="http://schemas.openxmlformats.org/drawingml/2006/main" noGrp="1"/>
          </p:cNvSpPr>
          <p:nvPr/>
        </p:nvSpPr>
        <p:spPr>
          <a:xfrm xmlns:a="http://schemas.openxmlformats.org/drawingml/2006/main">
            <a:off x="762000" y="219075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9BE3BD"/>
                </a:solidFill>
                <a:latin typeface="Avenir"/>
                <a:ea typeface="Avenir"/>
                <a:cs typeface="Avenir"/>
              </a:defRPr>
            </a:defPPr>
            <a:lvl1pPr algn="l">
              <a:defRPr sz="1500" b="1">
                <a:solidFill>
                  <a:srgbClr val="9BE3BD"/>
                </a:solidFill>
                <a:latin typeface="Avenir"/>
                <a:ea typeface="Avenir"/>
                <a:cs typeface="Avenir"/>
              </a:defRPr>
            </a:lvl1pPr>
            <a:lvl2pPr algn="l">
              <a:defRPr sz="1500" b="1">
                <a:solidFill>
                  <a:srgbClr val="9BE3BD"/>
                </a:solidFill>
                <a:latin typeface="Avenir"/>
                <a:ea typeface="Avenir"/>
                <a:cs typeface="Avenir"/>
              </a:defRPr>
            </a:lvl2pPr>
            <a:lvl3pPr algn="l">
              <a:defRPr sz="1500" b="1">
                <a:solidFill>
                  <a:srgbClr val="9BE3BD"/>
                </a:solidFill>
                <a:latin typeface="Avenir"/>
                <a:ea typeface="Avenir"/>
                <a:cs typeface="Avenir"/>
              </a:defRPr>
            </a:lvl3pPr>
            <a:lvl4pPr algn="l">
              <a:defRPr sz="1500" b="1">
                <a:solidFill>
                  <a:srgbClr val="9BE3BD"/>
                </a:solidFill>
                <a:latin typeface="Avenir"/>
                <a:ea typeface="Avenir"/>
                <a:cs typeface="Avenir"/>
              </a:defRPr>
            </a:lvl4pPr>
            <a:lvl5pPr algn="l">
              <a:defRPr sz="1500" b="1">
                <a:solidFill>
                  <a:srgbClr val="9BE3BD"/>
                </a:solidFill>
                <a:latin typeface="Avenir"/>
                <a:ea typeface="Avenir"/>
                <a:cs typeface="Avenir"/>
              </a:defRPr>
            </a:lvl5pPr>
            <a:lvl6pPr algn="l">
              <a:defRPr sz="1500" b="1">
                <a:solidFill>
                  <a:srgbClr val="9BE3BD"/>
                </a:solidFill>
                <a:latin typeface="Avenir"/>
                <a:ea typeface="Avenir"/>
                <a:cs typeface="Avenir"/>
              </a:defRPr>
            </a:lvl6pPr>
            <a:lvl7pPr algn="l">
              <a:defRPr sz="1500" b="1">
                <a:solidFill>
                  <a:srgbClr val="9BE3BD"/>
                </a:solidFill>
                <a:latin typeface="Avenir"/>
                <a:ea typeface="Avenir"/>
                <a:cs typeface="Avenir"/>
              </a:defRPr>
            </a:lvl7pPr>
            <a:lvl8pPr algn="l">
              <a:defRPr sz="1500" b="1">
                <a:solidFill>
                  <a:srgbClr val="9BE3BD"/>
                </a:solidFill>
                <a:latin typeface="Avenir"/>
                <a:ea typeface="Avenir"/>
                <a:cs typeface="Avenir"/>
              </a:defRPr>
            </a:lvl8pPr>
            <a:lvl9pPr algn="l">
              <a:defRPr sz="1500" b="1">
                <a:solidFill>
                  <a:srgbClr val="9BE3BD"/>
                </a:solidFill>
                <a:latin typeface="Avenir"/>
                <a:ea typeface="Avenir"/>
                <a:cs typeface="Avenir"/>
              </a:defRPr>
            </a:lvl9pPr>
          </a:lstStyle>
          <a:p xmlns:a="http://schemas.openxmlformats.org/drawingml/2006/main">
            <a:pPr algn="l">
              <a:lnSpc>
                <a:spcPct val="105000"/>
              </a:lnSpc>
              <a:buNone/>
              <a:defRPr sz="1500" b="1">
                <a:solidFill>
                  <a:srgbClr val="9BE3BD"/>
                </a:solidFill>
                <a:latin typeface="Avenir"/>
                <a:ea typeface="Avenir"/>
                <a:cs typeface="Avenir"/>
              </a:defRPr>
            </a:pPr>
            <a:r>
              <a:rPr sz="1500" b="1">
                <a:solidFill>
                  <a:srgbClr val="9BE3BD"/>
                </a:solidFill>
                <a:latin typeface="Avenir"/>
                <a:ea typeface="Avenir"/>
                <a:cs typeface="Avenir"/>
              </a:rPr>
              <a:t>Implemented now</a:t>
            </a:r>
          </a:p>
        </p:txBody>
      </p:sp>
      <p:sp>
        <p:nvSpPr>
          <p:cNvPr id="5" name="">
            <a:extLst xmlns:a="http://schemas.openxmlformats.org/drawingml/2006/main">
              <a:ext uri="{FF2B5EF4-FFF2-40B4-BE49-F238E27FC236}">
                <a16:creationId xmlns:a16="http://schemas.microsoft.com/office/drawing/2014/main" id="{980E7FE6-4DE4-4701-9737-C9B3F528185D}"/>
              </a:ext>
            </a:extLst>
          </p:cNvPr>
          <p:cNvSpPr>
            <a:spLocks xmlns:a="http://schemas.openxmlformats.org/drawingml/2006/main" noGrp="1"/>
          </p:cNvSpPr>
          <p:nvPr/>
        </p:nvSpPr>
        <p:spPr>
          <a:xfrm xmlns:a="http://schemas.openxmlformats.org/drawingml/2006/main">
            <a:off x="762000" y="2705100"/>
            <a:ext cx="4905375"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F4F7FB"/>
                </a:solidFill>
                <a:latin typeface="Avenir"/>
                <a:ea typeface="Avenir"/>
                <a:cs typeface="Avenir"/>
              </a:defRPr>
            </a:defPPr>
            <a:lvl1pPr algn="l">
              <a:defRPr sz="1725" b="0">
                <a:solidFill>
                  <a:srgbClr val="F4F7FB"/>
                </a:solidFill>
                <a:latin typeface="Avenir"/>
                <a:ea typeface="Avenir"/>
                <a:cs typeface="Avenir"/>
              </a:defRPr>
            </a:lvl1pPr>
            <a:lvl2pPr algn="l">
              <a:defRPr sz="1725" b="0">
                <a:solidFill>
                  <a:srgbClr val="F4F7FB"/>
                </a:solidFill>
                <a:latin typeface="Avenir"/>
                <a:ea typeface="Avenir"/>
                <a:cs typeface="Avenir"/>
              </a:defRPr>
            </a:lvl2pPr>
            <a:lvl3pPr algn="l">
              <a:defRPr sz="1725" b="0">
                <a:solidFill>
                  <a:srgbClr val="F4F7FB"/>
                </a:solidFill>
                <a:latin typeface="Avenir"/>
                <a:ea typeface="Avenir"/>
                <a:cs typeface="Avenir"/>
              </a:defRPr>
            </a:lvl3pPr>
            <a:lvl4pPr algn="l">
              <a:defRPr sz="1725" b="0">
                <a:solidFill>
                  <a:srgbClr val="F4F7FB"/>
                </a:solidFill>
                <a:latin typeface="Avenir"/>
                <a:ea typeface="Avenir"/>
                <a:cs typeface="Avenir"/>
              </a:defRPr>
            </a:lvl4pPr>
            <a:lvl5pPr algn="l">
              <a:defRPr sz="1725" b="0">
                <a:solidFill>
                  <a:srgbClr val="F4F7FB"/>
                </a:solidFill>
                <a:latin typeface="Avenir"/>
                <a:ea typeface="Avenir"/>
                <a:cs typeface="Avenir"/>
              </a:defRPr>
            </a:lvl5pPr>
            <a:lvl6pPr algn="l">
              <a:defRPr sz="1725" b="0">
                <a:solidFill>
                  <a:srgbClr val="F4F7FB"/>
                </a:solidFill>
                <a:latin typeface="Avenir"/>
                <a:ea typeface="Avenir"/>
                <a:cs typeface="Avenir"/>
              </a:defRPr>
            </a:lvl6pPr>
            <a:lvl7pPr algn="l">
              <a:defRPr sz="1725" b="0">
                <a:solidFill>
                  <a:srgbClr val="F4F7FB"/>
                </a:solidFill>
                <a:latin typeface="Avenir"/>
                <a:ea typeface="Avenir"/>
                <a:cs typeface="Avenir"/>
              </a:defRPr>
            </a:lvl7pPr>
            <a:lvl8pPr algn="l">
              <a:defRPr sz="1725" b="0">
                <a:solidFill>
                  <a:srgbClr val="F4F7FB"/>
                </a:solidFill>
                <a:latin typeface="Avenir"/>
                <a:ea typeface="Avenir"/>
                <a:cs typeface="Avenir"/>
              </a:defRPr>
            </a:lvl8pPr>
            <a:lvl9pPr algn="l">
              <a:defRPr sz="1725" b="0">
                <a:solidFill>
                  <a:srgbClr val="F4F7FB"/>
                </a:solidFill>
                <a:latin typeface="Avenir"/>
                <a:ea typeface="Avenir"/>
                <a:cs typeface="Avenir"/>
              </a:defRPr>
            </a:lvl9pPr>
          </a:lstStyle>
          <a:p xmlns:a="http://schemas.openxmlformats.org/drawingml/2006/main">
            <a:pPr algn="l">
              <a:lnSpc>
                <a:spcPct val="116000"/>
              </a:lnSpc>
              <a:buNone/>
              <a:defRPr sz="1725" b="0">
                <a:solidFill>
                  <a:srgbClr val="F4F7FB"/>
                </a:solidFill>
                <a:latin typeface="Avenir"/>
                <a:ea typeface="Avenir"/>
                <a:cs typeface="Avenir"/>
              </a:defRPr>
            </a:pPr>
            <a:r>
              <a:rPr sz="1725" b="0">
                <a:solidFill>
                  <a:srgbClr val="F4F7FB"/>
                </a:solidFill>
                <a:latin typeface="Avenir"/>
                <a:ea typeface="Avenir"/>
                <a:cs typeface="Avenir"/>
              </a:rPr>
              <a:t>Integer-focused Python frontend</a:t>
            </a:r>
          </a:p>
          <a:p xmlns:a="http://schemas.openxmlformats.org/drawingml/2006/main">
            <a:pPr algn="l">
              <a:lnSpc>
                <a:spcPct val="116000"/>
              </a:lnSpc>
              <a:buNone/>
              <a:defRPr sz="1725" b="0">
                <a:solidFill>
                  <a:srgbClr val="F4F7FB"/>
                </a:solidFill>
                <a:latin typeface="Avenir"/>
                <a:ea typeface="Avenir"/>
                <a:cs typeface="Avenir"/>
              </a:defRPr>
            </a:pPr>
            <a:r>
              <a:rPr sz="1725" b="0">
                <a:solidFill>
                  <a:srgbClr val="F4F7FB"/>
                </a:solidFill>
                <a:latin typeface="Avenir"/>
                <a:ea typeface="Avenir"/>
                <a:cs typeface="Avenir"/>
              </a:rPr>
              <a:t>Three-address IR and CFG display</a:t>
            </a:r>
          </a:p>
          <a:p xmlns:a="http://schemas.openxmlformats.org/drawingml/2006/main">
            <a:pPr algn="l">
              <a:lnSpc>
                <a:spcPct val="116000"/>
              </a:lnSpc>
              <a:buNone/>
              <a:defRPr sz="1725" b="0">
                <a:solidFill>
                  <a:srgbClr val="F4F7FB"/>
                </a:solidFill>
                <a:latin typeface="Avenir"/>
                <a:ea typeface="Avenir"/>
                <a:cs typeface="Avenir"/>
              </a:defRPr>
            </a:pPr>
            <a:r>
              <a:rPr sz="1725" b="0">
                <a:solidFill>
                  <a:srgbClr val="F4F7FB"/>
                </a:solidFill>
                <a:latin typeface="Avenir"/>
                <a:ea typeface="Avenir"/>
                <a:cs typeface="Avenir"/>
              </a:rPr>
              <a:t>CFG constant propagation</a:t>
            </a:r>
          </a:p>
          <a:p xmlns:a="http://schemas.openxmlformats.org/drawingml/2006/main">
            <a:pPr algn="l">
              <a:lnSpc>
                <a:spcPct val="116000"/>
              </a:lnSpc>
              <a:buNone/>
              <a:defRPr sz="1725" b="0">
                <a:solidFill>
                  <a:srgbClr val="F4F7FB"/>
                </a:solidFill>
                <a:latin typeface="Avenir"/>
                <a:ea typeface="Avenir"/>
                <a:cs typeface="Avenir"/>
              </a:defRPr>
            </a:pPr>
            <a:r>
              <a:rPr sz="1725" b="0">
                <a:solidFill>
                  <a:srgbClr val="F4F7FB"/>
                </a:solidFill>
                <a:latin typeface="Avenir"/>
                <a:ea typeface="Avenir"/>
                <a:cs typeface="Avenir"/>
              </a:rPr>
              <a:t>Custom bytecode and stack VM</a:t>
            </a:r>
          </a:p>
          <a:p xmlns:a="http://schemas.openxmlformats.org/drawingml/2006/main">
            <a:pPr algn="l">
              <a:lnSpc>
                <a:spcPct val="116000"/>
              </a:lnSpc>
              <a:buNone/>
              <a:defRPr sz="1725" b="0">
                <a:solidFill>
                  <a:srgbClr val="F4F7FB"/>
                </a:solidFill>
                <a:latin typeface="Avenir"/>
                <a:ea typeface="Avenir"/>
                <a:cs typeface="Avenir"/>
              </a:defRPr>
            </a:pPr>
            <a:r>
              <a:rPr sz="1725" b="0">
                <a:solidFill>
                  <a:srgbClr val="F4F7FB"/>
                </a:solidFill>
                <a:latin typeface="Avenir"/>
                <a:ea typeface="Avenir"/>
                <a:cs typeface="Avenir"/>
              </a:rPr>
              <a:t>Pure-worker process parallel sum</a:t>
            </a:r>
          </a:p>
          <a:p xmlns:a="http://schemas.openxmlformats.org/drawingml/2006/main">
            <a:pPr algn="l">
              <a:lnSpc>
                <a:spcPct val="116000"/>
              </a:lnSpc>
              <a:buNone/>
              <a:defRPr sz="1725" b="0">
                <a:solidFill>
                  <a:srgbClr val="F4F7FB"/>
                </a:solidFill>
                <a:latin typeface="Avenir"/>
                <a:ea typeface="Avenir"/>
                <a:cs typeface="Avenir"/>
              </a:defRPr>
            </a:pPr>
            <a:r>
              <a:rPr sz="1725" b="0">
                <a:solidFill>
                  <a:srgbClr val="F4F7FB"/>
                </a:solidFill>
                <a:latin typeface="Avenir"/>
                <a:ea typeface="Avenir"/>
                <a:cs typeface="Avenir"/>
              </a:rPr>
              <a:t>Output and instruction comparisons</a:t>
            </a:r>
          </a:p>
        </p:txBody>
      </p:sp>
      <p:sp>
        <p:nvSpPr>
          <p:cNvPr id="6" name="">
            <a:extLst xmlns:a="http://schemas.openxmlformats.org/drawingml/2006/main">
              <a:ext uri="{FF2B5EF4-FFF2-40B4-BE49-F238E27FC236}">
                <a16:creationId xmlns:a16="http://schemas.microsoft.com/office/drawing/2014/main" id="{3C51522E-930F-44DF-95CF-35DF4AECA685}"/>
              </a:ext>
            </a:extLst>
          </p:cNvPr>
          <p:cNvSpPr>
            <a:spLocks xmlns:a="http://schemas.openxmlformats.org/drawingml/2006/main" noGrp="1"/>
          </p:cNvSpPr>
          <p:nvPr/>
        </p:nvSpPr>
        <p:spPr>
          <a:xfrm xmlns:a="http://schemas.openxmlformats.org/drawingml/2006/main">
            <a:off x="6019800" y="2152650"/>
            <a:ext cx="19050" cy="3429000"/>
          </a:xfrm>
          <a:prstGeom xmlns:a="http://schemas.openxmlformats.org/drawingml/2006/main" prst="rect">
            <a:avLst/>
          </a:prstGeom>
          <a:solidFill xmlns:a="http://schemas.openxmlformats.org/drawingml/2006/main">
            <a:srgbClr val="47607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B2E5BEA-DDE5-4A5A-99B8-98D007047141}"/>
              </a:ext>
            </a:extLst>
          </p:cNvPr>
          <p:cNvSpPr>
            <a:spLocks xmlns:a="http://schemas.openxmlformats.org/drawingml/2006/main" noGrp="1"/>
          </p:cNvSpPr>
          <p:nvPr/>
        </p:nvSpPr>
        <p:spPr>
          <a:xfrm xmlns:a="http://schemas.openxmlformats.org/drawingml/2006/main">
            <a:off x="6572250" y="219075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C86A"/>
                </a:solidFill>
                <a:latin typeface="Avenir"/>
                <a:ea typeface="Avenir"/>
                <a:cs typeface="Avenir"/>
              </a:defRPr>
            </a:defPPr>
            <a:lvl1pPr algn="l">
              <a:defRPr sz="1500" b="1">
                <a:solidFill>
                  <a:srgbClr val="FFC86A"/>
                </a:solidFill>
                <a:latin typeface="Avenir"/>
                <a:ea typeface="Avenir"/>
                <a:cs typeface="Avenir"/>
              </a:defRPr>
            </a:lvl1pPr>
            <a:lvl2pPr algn="l">
              <a:defRPr sz="1500" b="1">
                <a:solidFill>
                  <a:srgbClr val="FFC86A"/>
                </a:solidFill>
                <a:latin typeface="Avenir"/>
                <a:ea typeface="Avenir"/>
                <a:cs typeface="Avenir"/>
              </a:defRPr>
            </a:lvl2pPr>
            <a:lvl3pPr algn="l">
              <a:defRPr sz="1500" b="1">
                <a:solidFill>
                  <a:srgbClr val="FFC86A"/>
                </a:solidFill>
                <a:latin typeface="Avenir"/>
                <a:ea typeface="Avenir"/>
                <a:cs typeface="Avenir"/>
              </a:defRPr>
            </a:lvl3pPr>
            <a:lvl4pPr algn="l">
              <a:defRPr sz="1500" b="1">
                <a:solidFill>
                  <a:srgbClr val="FFC86A"/>
                </a:solidFill>
                <a:latin typeface="Avenir"/>
                <a:ea typeface="Avenir"/>
                <a:cs typeface="Avenir"/>
              </a:defRPr>
            </a:lvl4pPr>
            <a:lvl5pPr algn="l">
              <a:defRPr sz="1500" b="1">
                <a:solidFill>
                  <a:srgbClr val="FFC86A"/>
                </a:solidFill>
                <a:latin typeface="Avenir"/>
                <a:ea typeface="Avenir"/>
                <a:cs typeface="Avenir"/>
              </a:defRPr>
            </a:lvl5pPr>
            <a:lvl6pPr algn="l">
              <a:defRPr sz="1500" b="1">
                <a:solidFill>
                  <a:srgbClr val="FFC86A"/>
                </a:solidFill>
                <a:latin typeface="Avenir"/>
                <a:ea typeface="Avenir"/>
                <a:cs typeface="Avenir"/>
              </a:defRPr>
            </a:lvl6pPr>
            <a:lvl7pPr algn="l">
              <a:defRPr sz="1500" b="1">
                <a:solidFill>
                  <a:srgbClr val="FFC86A"/>
                </a:solidFill>
                <a:latin typeface="Avenir"/>
                <a:ea typeface="Avenir"/>
                <a:cs typeface="Avenir"/>
              </a:defRPr>
            </a:lvl7pPr>
            <a:lvl8pPr algn="l">
              <a:defRPr sz="1500" b="1">
                <a:solidFill>
                  <a:srgbClr val="FFC86A"/>
                </a:solidFill>
                <a:latin typeface="Avenir"/>
                <a:ea typeface="Avenir"/>
                <a:cs typeface="Avenir"/>
              </a:defRPr>
            </a:lvl8pPr>
            <a:lvl9pPr algn="l">
              <a:defRPr sz="1500" b="1">
                <a:solidFill>
                  <a:srgbClr val="FFC86A"/>
                </a:solidFill>
                <a:latin typeface="Avenir"/>
                <a:ea typeface="Avenir"/>
                <a:cs typeface="Avenir"/>
              </a:defRPr>
            </a:lvl9pPr>
          </a:lstStyle>
          <a:p xmlns:a="http://schemas.openxmlformats.org/drawingml/2006/main">
            <a:pPr algn="l">
              <a:lnSpc>
                <a:spcPct val="105000"/>
              </a:lnSpc>
              <a:buNone/>
              <a:defRPr sz="1500" b="1">
                <a:solidFill>
                  <a:srgbClr val="FFC86A"/>
                </a:solidFill>
                <a:latin typeface="Avenir"/>
                <a:ea typeface="Avenir"/>
                <a:cs typeface="Avenir"/>
              </a:defRPr>
            </a:pPr>
            <a:r>
              <a:rPr sz="1500" b="1">
                <a:solidFill>
                  <a:srgbClr val="FFC86A"/>
                </a:solidFill>
                <a:latin typeface="Avenir"/>
                <a:ea typeface="Avenir"/>
                <a:cs typeface="Avenir"/>
              </a:rPr>
              <a:t>Future work</a:t>
            </a:r>
          </a:p>
        </p:txBody>
      </p:sp>
      <p:sp>
        <p:nvSpPr>
          <p:cNvPr id="8" name="">
            <a:extLst xmlns:a="http://schemas.openxmlformats.org/drawingml/2006/main">
              <a:ext uri="{FF2B5EF4-FFF2-40B4-BE49-F238E27FC236}">
                <a16:creationId xmlns:a16="http://schemas.microsoft.com/office/drawing/2014/main" id="{F51093DE-79AD-41B2-BC7B-DB0A81ADD1D1}"/>
              </a:ext>
            </a:extLst>
          </p:cNvPr>
          <p:cNvSpPr>
            <a:spLocks xmlns:a="http://schemas.openxmlformats.org/drawingml/2006/main" noGrp="1"/>
          </p:cNvSpPr>
          <p:nvPr/>
        </p:nvSpPr>
        <p:spPr>
          <a:xfrm xmlns:a="http://schemas.openxmlformats.org/drawingml/2006/main">
            <a:off x="6572250" y="2705100"/>
            <a:ext cx="4762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F4F7FB"/>
                </a:solidFill>
                <a:latin typeface="Avenir"/>
                <a:ea typeface="Avenir"/>
                <a:cs typeface="Avenir"/>
              </a:defRPr>
            </a:defPPr>
            <a:lvl1pPr algn="l">
              <a:defRPr sz="1725" b="0">
                <a:solidFill>
                  <a:srgbClr val="F4F7FB"/>
                </a:solidFill>
                <a:latin typeface="Avenir"/>
                <a:ea typeface="Avenir"/>
                <a:cs typeface="Avenir"/>
              </a:defRPr>
            </a:lvl1pPr>
            <a:lvl2pPr algn="l">
              <a:defRPr sz="1725" b="0">
                <a:solidFill>
                  <a:srgbClr val="F4F7FB"/>
                </a:solidFill>
                <a:latin typeface="Avenir"/>
                <a:ea typeface="Avenir"/>
                <a:cs typeface="Avenir"/>
              </a:defRPr>
            </a:lvl2pPr>
            <a:lvl3pPr algn="l">
              <a:defRPr sz="1725" b="0">
                <a:solidFill>
                  <a:srgbClr val="F4F7FB"/>
                </a:solidFill>
                <a:latin typeface="Avenir"/>
                <a:ea typeface="Avenir"/>
                <a:cs typeface="Avenir"/>
              </a:defRPr>
            </a:lvl3pPr>
            <a:lvl4pPr algn="l">
              <a:defRPr sz="1725" b="0">
                <a:solidFill>
                  <a:srgbClr val="F4F7FB"/>
                </a:solidFill>
                <a:latin typeface="Avenir"/>
                <a:ea typeface="Avenir"/>
                <a:cs typeface="Avenir"/>
              </a:defRPr>
            </a:lvl4pPr>
            <a:lvl5pPr algn="l">
              <a:defRPr sz="1725" b="0">
                <a:solidFill>
                  <a:srgbClr val="F4F7FB"/>
                </a:solidFill>
                <a:latin typeface="Avenir"/>
                <a:ea typeface="Avenir"/>
                <a:cs typeface="Avenir"/>
              </a:defRPr>
            </a:lvl5pPr>
            <a:lvl6pPr algn="l">
              <a:defRPr sz="1725" b="0">
                <a:solidFill>
                  <a:srgbClr val="F4F7FB"/>
                </a:solidFill>
                <a:latin typeface="Avenir"/>
                <a:ea typeface="Avenir"/>
                <a:cs typeface="Avenir"/>
              </a:defRPr>
            </a:lvl6pPr>
            <a:lvl7pPr algn="l">
              <a:defRPr sz="1725" b="0">
                <a:solidFill>
                  <a:srgbClr val="F4F7FB"/>
                </a:solidFill>
                <a:latin typeface="Avenir"/>
                <a:ea typeface="Avenir"/>
                <a:cs typeface="Avenir"/>
              </a:defRPr>
            </a:lvl7pPr>
            <a:lvl8pPr algn="l">
              <a:defRPr sz="1725" b="0">
                <a:solidFill>
                  <a:srgbClr val="F4F7FB"/>
                </a:solidFill>
                <a:latin typeface="Avenir"/>
                <a:ea typeface="Avenir"/>
                <a:cs typeface="Avenir"/>
              </a:defRPr>
            </a:lvl8pPr>
            <a:lvl9pPr algn="l">
              <a:defRPr sz="1725" b="0">
                <a:solidFill>
                  <a:srgbClr val="F4F7FB"/>
                </a:solidFill>
                <a:latin typeface="Avenir"/>
                <a:ea typeface="Avenir"/>
                <a:cs typeface="Avenir"/>
              </a:defRPr>
            </a:lvl9pPr>
          </a:lstStyle>
          <a:p xmlns:a="http://schemas.openxmlformats.org/drawingml/2006/main">
            <a:pPr algn="l">
              <a:lnSpc>
                <a:spcPct val="116000"/>
              </a:lnSpc>
              <a:buNone/>
              <a:defRPr sz="1725" b="0">
                <a:solidFill>
                  <a:srgbClr val="F4F7FB"/>
                </a:solidFill>
                <a:latin typeface="Avenir"/>
                <a:ea typeface="Avenir"/>
                <a:cs typeface="Avenir"/>
              </a:defRPr>
            </a:pPr>
            <a:r>
              <a:rPr sz="1725" b="0">
                <a:solidFill>
                  <a:srgbClr val="F4F7FB"/>
                </a:solidFill>
                <a:latin typeface="Avenir"/>
                <a:ea typeface="Avenir"/>
                <a:cs typeface="Avenir"/>
              </a:rPr>
              <a:t>Broader Python types and containers</a:t>
            </a:r>
          </a:p>
          <a:p xmlns:a="http://schemas.openxmlformats.org/drawingml/2006/main">
            <a:pPr algn="l">
              <a:lnSpc>
                <a:spcPct val="116000"/>
              </a:lnSpc>
              <a:buNone/>
              <a:defRPr sz="1725" b="0">
                <a:solidFill>
                  <a:srgbClr val="F4F7FB"/>
                </a:solidFill>
                <a:latin typeface="Avenir"/>
                <a:ea typeface="Avenir"/>
                <a:cs typeface="Avenir"/>
              </a:defRPr>
            </a:pPr>
            <a:r>
              <a:rPr sz="1725" b="0">
                <a:solidFill>
                  <a:srgbClr val="F4F7FB"/>
                </a:solidFill>
                <a:latin typeface="Avenir"/>
                <a:ea typeface="Avenir"/>
                <a:cs typeface="Avenir"/>
              </a:rPr>
              <a:t>More CFG passes, such as liveness</a:t>
            </a:r>
          </a:p>
          <a:p xmlns:a="http://schemas.openxmlformats.org/drawingml/2006/main">
            <a:pPr algn="l">
              <a:lnSpc>
                <a:spcPct val="116000"/>
              </a:lnSpc>
              <a:buNone/>
              <a:defRPr sz="1725" b="0">
                <a:solidFill>
                  <a:srgbClr val="F4F7FB"/>
                </a:solidFill>
                <a:latin typeface="Avenir"/>
                <a:ea typeface="Avenir"/>
                <a:cs typeface="Avenir"/>
              </a:defRPr>
            </a:pPr>
            <a:r>
              <a:rPr sz="1725" b="0">
                <a:solidFill>
                  <a:srgbClr val="F4F7FB"/>
                </a:solidFill>
                <a:latin typeface="Avenir"/>
                <a:ea typeface="Avenir"/>
                <a:cs typeface="Avenir"/>
              </a:rPr>
              <a:t>Additional safe parallel reductions</a:t>
            </a:r>
          </a:p>
          <a:p xmlns:a="http://schemas.openxmlformats.org/drawingml/2006/main">
            <a:pPr algn="l">
              <a:lnSpc>
                <a:spcPct val="116000"/>
              </a:lnSpc>
              <a:buNone/>
              <a:defRPr sz="1725" b="0">
                <a:solidFill>
                  <a:srgbClr val="F4F7FB"/>
                </a:solidFill>
                <a:latin typeface="Avenir"/>
                <a:ea typeface="Avenir"/>
                <a:cs typeface="Avenir"/>
              </a:defRPr>
            </a:pPr>
            <a:r>
              <a:rPr sz="1725" b="0">
                <a:solidFill>
                  <a:srgbClr val="F4F7FB"/>
                </a:solidFill>
                <a:latin typeface="Avenir"/>
                <a:ea typeface="Avenir"/>
                <a:cs typeface="Avenir"/>
              </a:rPr>
              <a:t>Larger, repeated performance studies</a:t>
            </a:r>
          </a:p>
          <a:p xmlns:a="http://schemas.openxmlformats.org/drawingml/2006/main">
            <a:pPr algn="l">
              <a:lnSpc>
                <a:spcPct val="116000"/>
              </a:lnSpc>
              <a:buNone/>
              <a:defRPr sz="1725" b="0">
                <a:solidFill>
                  <a:srgbClr val="F4F7FB"/>
                </a:solidFill>
                <a:latin typeface="Avenir"/>
                <a:ea typeface="Avenir"/>
                <a:cs typeface="Avenir"/>
              </a:defRPr>
            </a:pPr>
            <a:r>
              <a:rPr sz="1725" b="0">
                <a:solidFill>
                  <a:srgbClr val="F4F7FB"/>
                </a:solidFill>
                <a:latin typeface="Avenir"/>
                <a:ea typeface="Avenir"/>
                <a:cs typeface="Avenir"/>
              </a:rPr>
              <a:t>Versioned bytecode compatibility</a:t>
            </a:r>
          </a:p>
        </p:txBody>
      </p:sp>
      <p:sp>
        <p:nvSpPr>
          <p:cNvPr id="9" name="">
            <a:extLst xmlns:a="http://schemas.openxmlformats.org/drawingml/2006/main">
              <a:ext uri="{FF2B5EF4-FFF2-40B4-BE49-F238E27FC236}">
                <a16:creationId xmlns:a16="http://schemas.microsoft.com/office/drawing/2014/main" id="{B2BB0EB7-32F8-4A6C-B608-589670C90DF6}"/>
              </a:ext>
            </a:extLst>
          </p:cNvPr>
          <p:cNvSpPr>
            <a:spLocks xmlns:a="http://schemas.openxmlformats.org/drawingml/2006/main" noGrp="1"/>
          </p:cNvSpPr>
          <p:nvPr/>
        </p:nvSpPr>
        <p:spPr>
          <a:xfrm xmlns:a="http://schemas.openxmlformats.org/drawingml/2006/main">
            <a:off x="762000" y="5886450"/>
            <a:ext cx="590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5AD6E6"/>
                </a:solidFill>
                <a:latin typeface="Avenir"/>
                <a:ea typeface="Avenir"/>
                <a:cs typeface="Avenir"/>
              </a:defRPr>
            </a:defPPr>
            <a:lvl1pPr algn="l">
              <a:defRPr sz="1575" b="0">
                <a:solidFill>
                  <a:srgbClr val="5AD6E6"/>
                </a:solidFill>
                <a:latin typeface="Avenir"/>
                <a:ea typeface="Avenir"/>
                <a:cs typeface="Avenir"/>
              </a:defRPr>
            </a:lvl1pPr>
            <a:lvl2pPr algn="l">
              <a:defRPr sz="1575" b="0">
                <a:solidFill>
                  <a:srgbClr val="5AD6E6"/>
                </a:solidFill>
                <a:latin typeface="Avenir"/>
                <a:ea typeface="Avenir"/>
                <a:cs typeface="Avenir"/>
              </a:defRPr>
            </a:lvl2pPr>
            <a:lvl3pPr algn="l">
              <a:defRPr sz="1575" b="0">
                <a:solidFill>
                  <a:srgbClr val="5AD6E6"/>
                </a:solidFill>
                <a:latin typeface="Avenir"/>
                <a:ea typeface="Avenir"/>
                <a:cs typeface="Avenir"/>
              </a:defRPr>
            </a:lvl3pPr>
            <a:lvl4pPr algn="l">
              <a:defRPr sz="1575" b="0">
                <a:solidFill>
                  <a:srgbClr val="5AD6E6"/>
                </a:solidFill>
                <a:latin typeface="Avenir"/>
                <a:ea typeface="Avenir"/>
                <a:cs typeface="Avenir"/>
              </a:defRPr>
            </a:lvl4pPr>
            <a:lvl5pPr algn="l">
              <a:defRPr sz="1575" b="0">
                <a:solidFill>
                  <a:srgbClr val="5AD6E6"/>
                </a:solidFill>
                <a:latin typeface="Avenir"/>
                <a:ea typeface="Avenir"/>
                <a:cs typeface="Avenir"/>
              </a:defRPr>
            </a:lvl5pPr>
            <a:lvl6pPr algn="l">
              <a:defRPr sz="1575" b="0">
                <a:solidFill>
                  <a:srgbClr val="5AD6E6"/>
                </a:solidFill>
                <a:latin typeface="Avenir"/>
                <a:ea typeface="Avenir"/>
                <a:cs typeface="Avenir"/>
              </a:defRPr>
            </a:lvl6pPr>
            <a:lvl7pPr algn="l">
              <a:defRPr sz="1575" b="0">
                <a:solidFill>
                  <a:srgbClr val="5AD6E6"/>
                </a:solidFill>
                <a:latin typeface="Avenir"/>
                <a:ea typeface="Avenir"/>
                <a:cs typeface="Avenir"/>
              </a:defRPr>
            </a:lvl7pPr>
            <a:lvl8pPr algn="l">
              <a:defRPr sz="1575" b="0">
                <a:solidFill>
                  <a:srgbClr val="5AD6E6"/>
                </a:solidFill>
                <a:latin typeface="Avenir"/>
                <a:ea typeface="Avenir"/>
                <a:cs typeface="Avenir"/>
              </a:defRPr>
            </a:lvl8pPr>
            <a:lvl9pPr algn="l">
              <a:defRPr sz="1575" b="0">
                <a:solidFill>
                  <a:srgbClr val="5AD6E6"/>
                </a:solidFill>
                <a:latin typeface="Avenir"/>
                <a:ea typeface="Avenir"/>
                <a:cs typeface="Avenir"/>
              </a:defRPr>
            </a:lvl9pPr>
          </a:lstStyle>
          <a:p xmlns:a="http://schemas.openxmlformats.org/drawingml/2006/main">
            <a:pPr algn="l">
              <a:lnSpc>
                <a:spcPct val="105000"/>
              </a:lnSpc>
              <a:buNone/>
              <a:defRPr sz="1575" b="0">
                <a:solidFill>
                  <a:srgbClr val="5AD6E6"/>
                </a:solidFill>
                <a:latin typeface="Avenir"/>
                <a:ea typeface="Avenir"/>
                <a:cs typeface="Avenir"/>
              </a:defRPr>
            </a:pPr>
            <a:r>
              <a:rPr sz="1575" b="0">
                <a:solidFill>
                  <a:srgbClr val="5AD6E6"/>
                </a:solidFill>
                <a:latin typeface="Avenir"/>
                <a:ea typeface="Avenir"/>
                <a:cs typeface="Avenir"/>
              </a:rPr>
              <a:t>Current test suite: 35 passing tests</a:t>
            </a:r>
          </a:p>
        </p:txBody>
      </p:sp>
      <p:sp>
        <p:nvSpPr>
          <p:cNvPr id="10" name="">
            <a:extLst xmlns:a="http://schemas.openxmlformats.org/drawingml/2006/main">
              <a:ext uri="{FF2B5EF4-FFF2-40B4-BE49-F238E27FC236}">
                <a16:creationId xmlns:a16="http://schemas.microsoft.com/office/drawing/2014/main" id="{BAE2121A-469F-42BE-8AAC-C3ADABE785D8}"/>
              </a:ext>
            </a:extLst>
          </p:cNvPr>
          <p:cNvSpPr>
            <a:spLocks xmlns:a="http://schemas.openxmlformats.org/drawingml/2006/main" noGrp="1"/>
          </p:cNvSpPr>
          <p:nvPr/>
        </p:nvSpPr>
        <p:spPr>
          <a:xfrm xmlns:a="http://schemas.openxmlformats.org/drawingml/2006/main">
            <a:off x="8915400" y="5810250"/>
            <a:ext cx="247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2325" b="1">
                <a:solidFill>
                  <a:srgbClr val="F4F7FB"/>
                </a:solidFill>
                <a:latin typeface="Avenir"/>
                <a:ea typeface="Avenir"/>
                <a:cs typeface="Avenir"/>
              </a:defRPr>
            </a:defPPr>
            <a:lvl1pPr algn="r">
              <a:defRPr sz="2325" b="1">
                <a:solidFill>
                  <a:srgbClr val="F4F7FB"/>
                </a:solidFill>
                <a:latin typeface="Avenir"/>
                <a:ea typeface="Avenir"/>
                <a:cs typeface="Avenir"/>
              </a:defRPr>
            </a:lvl1pPr>
            <a:lvl2pPr algn="r">
              <a:defRPr sz="2325" b="1">
                <a:solidFill>
                  <a:srgbClr val="F4F7FB"/>
                </a:solidFill>
                <a:latin typeface="Avenir"/>
                <a:ea typeface="Avenir"/>
                <a:cs typeface="Avenir"/>
              </a:defRPr>
            </a:lvl2pPr>
            <a:lvl3pPr algn="r">
              <a:defRPr sz="2325" b="1">
                <a:solidFill>
                  <a:srgbClr val="F4F7FB"/>
                </a:solidFill>
                <a:latin typeface="Avenir"/>
                <a:ea typeface="Avenir"/>
                <a:cs typeface="Avenir"/>
              </a:defRPr>
            </a:lvl3pPr>
            <a:lvl4pPr algn="r">
              <a:defRPr sz="2325" b="1">
                <a:solidFill>
                  <a:srgbClr val="F4F7FB"/>
                </a:solidFill>
                <a:latin typeface="Avenir"/>
                <a:ea typeface="Avenir"/>
                <a:cs typeface="Avenir"/>
              </a:defRPr>
            </a:lvl4pPr>
            <a:lvl5pPr algn="r">
              <a:defRPr sz="2325" b="1">
                <a:solidFill>
                  <a:srgbClr val="F4F7FB"/>
                </a:solidFill>
                <a:latin typeface="Avenir"/>
                <a:ea typeface="Avenir"/>
                <a:cs typeface="Avenir"/>
              </a:defRPr>
            </a:lvl5pPr>
            <a:lvl6pPr algn="r">
              <a:defRPr sz="2325" b="1">
                <a:solidFill>
                  <a:srgbClr val="F4F7FB"/>
                </a:solidFill>
                <a:latin typeface="Avenir"/>
                <a:ea typeface="Avenir"/>
                <a:cs typeface="Avenir"/>
              </a:defRPr>
            </a:lvl6pPr>
            <a:lvl7pPr algn="r">
              <a:defRPr sz="2325" b="1">
                <a:solidFill>
                  <a:srgbClr val="F4F7FB"/>
                </a:solidFill>
                <a:latin typeface="Avenir"/>
                <a:ea typeface="Avenir"/>
                <a:cs typeface="Avenir"/>
              </a:defRPr>
            </a:lvl7pPr>
            <a:lvl8pPr algn="r">
              <a:defRPr sz="2325" b="1">
                <a:solidFill>
                  <a:srgbClr val="F4F7FB"/>
                </a:solidFill>
                <a:latin typeface="Avenir"/>
                <a:ea typeface="Avenir"/>
                <a:cs typeface="Avenir"/>
              </a:defRPr>
            </a:lvl8pPr>
            <a:lvl9pPr algn="r">
              <a:defRPr sz="2325" b="1">
                <a:solidFill>
                  <a:srgbClr val="F4F7FB"/>
                </a:solidFill>
                <a:latin typeface="Avenir"/>
                <a:ea typeface="Avenir"/>
                <a:cs typeface="Avenir"/>
              </a:defRPr>
            </a:lvl9pPr>
          </a:lstStyle>
          <a:p xmlns:a="http://schemas.openxmlformats.org/drawingml/2006/main">
            <a:pPr algn="r">
              <a:lnSpc>
                <a:spcPct val="105000"/>
              </a:lnSpc>
              <a:buNone/>
              <a:defRPr sz="2325" b="1">
                <a:solidFill>
                  <a:srgbClr val="F4F7FB"/>
                </a:solidFill>
                <a:latin typeface="Avenir"/>
                <a:ea typeface="Avenir"/>
                <a:cs typeface="Avenir"/>
              </a:defRPr>
            </a:pPr>
            <a:r>
              <a:rPr sz="2325" b="1">
                <a:solidFill>
                  <a:srgbClr val="F4F7FB"/>
                </a:solidFill>
                <a:latin typeface="Avenir"/>
                <a:ea typeface="Avenir"/>
                <a:cs typeface="Avenir"/>
              </a:rPr>
              <a:t>Questions</a:t>
            </a:r>
          </a:p>
        </p:txBody>
      </p:sp>
    </p:spTree>
    <p:extLst>
      <p:ext uri="{BB962C8B-B14F-4D97-AF65-F5344CB8AC3E}">
        <p14:creationId xmlns:p14="http://schemas.microsoft.com/office/powerpoint/2010/main" val="8792827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2026-10-22T08:51:14.9560000Z</dcterms:created>
  <dcterms:modified xsi:type="dcterms:W3CDTF">2026-10-22T08:51:14.9560000Z</dcterms:modified>
</coreProperties>
</file>